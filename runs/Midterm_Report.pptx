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a6414d1e-395c-b8f8-aad3-9d9359c8f3c6}">
          <p14:sldIdLst>
            <p14:sldId id="256"/>
          </p14:sldIdLst>
        </p14:section>
        <p14:section name="Problem" id="{d8ed5bb9-b4ca-7779-5d3b-9d5975e2b8c7}">
          <p14:sldIdLst>
            <p14:sldId id="257"/>
          </p14:sldIdLst>
        </p14:section>
        <p14:section name="Method" id="{a1c0ae4e-773f-3b15-c87c-b92eda904807}">
          <p14:sldIdLst>
            <p14:sldId id="258"/>
            <p14:sldId id="259"/>
          </p14:sldIdLst>
        </p14:section>
        <p14:section name="Result" id="{ed7ee25d-6c39-0c6f-dd4e-ac4636415713}">
          <p14:sldIdLst>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Mid-term report for the Visual Navigation Challenge. Fill in the team name, Arya’s full name and both NetIDs before submitting.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camera-only navigation to a goal given by four photos, using a prior set of exploration photos, scored on distance, heading and SPL. Our solution builds on SPTM’s topological memory of photos, with AnyLoc (DINOv2 + VLAD) for place recognition and SuperPoint + SuperGlue for geometric checks and measured angles.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Offline, before connecting (which costs no steps): a topological graph of the exploration photos (SPTM style), shortcuts between drives verified geometrically, a metric map from a vanishing-point compass, SuperGlue rotations and loop closures, and the goal node chosen by matching the four goal photos. Online, each decision: localise with AnyLoc, plan with Dijkstra, move by the measured angle to the next waypoint photo (or the learned L network), and finish with a last-metre controller that matches the goal photos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ideas on top of the pipeline, each added after a measured failure. The picture is a local maze with the true trajectory, which can only be drawn locally: the server never reveals the robot’s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Mid-term run (session ab4350aee046): version 4 with the 64-candidate goal choice and the confirmed check-in. It reached the goal with a near-perfect check-in (2.2 cm, 0.7 degrees) but used 9,095 steps against a shortest route of about 880, so no SPL points. Undo (36%) and waypoint search (22%) are most of the waste, and those are the next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robot’s own map, not the server’s: the challenge hides the true layout and position. It shows the corridors the three exploration drives covered and the route the robot believed it took from the start to the goal photo where it checked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874520"/>
            <a:ext cx="105156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822960" y="1325880"/>
            <a:ext cx="10515600" cy="365760"/>
          </a:xfrm>
          <a:prstGeom prst="rect">
            <a:avLst/>
          </a:prstGeom>
          <a:noFill/>
          <a:ln/>
        </p:spPr>
        <p:txBody>
          <a:bodyPr wrap="square" lIns="0" tIns="0" rIns="0" bIns="0" rtlCol="0" anchor="ctr"/>
          <a:lstStyle/>
          <a:p>
            <a:pPr indent="0" marL="0">
              <a:buNone/>
            </a:pPr>
            <a:r>
              <a:rPr lang="en-US" sz="1400" spc="200" kern="0" dirty="0">
                <a:solidFill>
                  <a:schemeClr val="accent5"/>
                </a:solidFill>
              </a:rPr>
              <a:t>VISUAL NAVIGATION CHALLENGE  ·  MID-TERM REPORT  ·  FALL 2026</a:t>
            </a:r>
            <a:endParaRPr lang="en-US" sz="1400" dirty="0"/>
          </a:p>
        </p:txBody>
      </p:sp>
      <p:sp>
        <p:nvSpPr>
          <p:cNvPr id="3" name="Text 0"/>
          <p:cNvSpPr/>
          <p:nvPr>
            <p:ph idx="100" type="title" hasCustomPrompt="1"/>
          </p:nvPr>
        </p:nvSpPr>
        <p:spPr>
          <a:xfrm>
            <a:off x="822960" y="1874520"/>
            <a:ext cx="10515600" cy="1097280"/>
          </a:xfrm>
          <a:prstGeom prst="rect">
            <a:avLst/>
          </a:prstGeom>
          <a:noFill/>
          <a:ln/>
        </p:spPr>
        <p:txBody>
          <a:bodyPr wrap="square" lIns="0" tIns="0" rIns="0" bIns="0" rtlCol="0" anchor="ctr"/>
          <a:lstStyle/>
          <a:p>
            <a:pPr algn="l" indent="0" marL="0">
              <a:buNone/>
            </a:pPr>
            <a:r>
              <a:rPr lang="en-US" sz="4400" b="1" dirty="0">
                <a:solidFill>
                  <a:schemeClr val="bg1"/>
                </a:solidFill>
              </a:rPr>
              <a:t>Robot Perception Course Project</a:t>
            </a:r>
            <a:endParaRPr lang="en-US" sz="4400" dirty="0"/>
          </a:p>
        </p:txBody>
      </p:sp>
      <p:sp>
        <p:nvSpPr>
          <p:cNvPr id="4" name="team"/>
          <p:cNvSpPr txBox="1"/>
          <p:nvPr/>
        </p:nvSpPr>
        <p:spPr>
          <a:xfrm>
            <a:off x="822960" y="3063240"/>
            <a:ext cx="10515600" cy="640080"/>
          </a:xfrm>
          <a:prstGeom prst="rect">
            <a:avLst/>
          </a:prstGeom>
          <a:noFill/>
          <a:ln/>
        </p:spPr>
        <p:txBody>
          <a:bodyPr wrap="square" lIns="0" tIns="0" rIns="0" bIns="0" rtlCol="0" anchor="ctr"/>
          <a:lstStyle/>
          <a:p>
            <a:pPr indent="0" marL="0">
              <a:buNone/>
            </a:pPr>
            <a:r>
              <a:rPr lang="en-US" sz="3000" dirty="0">
                <a:solidFill>
                  <a:schemeClr val="accent4"/>
                </a:solidFill>
                <a:latin typeface="Cambria" pitchFamily="34" charset="0"/>
                <a:ea typeface="Cambria" pitchFamily="34" charset="-122"/>
                <a:cs typeface="Cambria" pitchFamily="34" charset="-120"/>
              </a:rPr>
              <a:t>[Team Name]</a:t>
            </a:r>
            <a:endParaRPr lang="en-US" sz="3000" dirty="0"/>
          </a:p>
        </p:txBody>
      </p:sp>
      <p:sp>
        <p:nvSpPr>
          <p:cNvPr id="5" name="members"/>
          <p:cNvSpPr txBox="1"/>
          <p:nvPr/>
        </p:nvSpPr>
        <p:spPr>
          <a:xfrm>
            <a:off x="822960" y="3931920"/>
            <a:ext cx="10515600" cy="914400"/>
          </a:xfrm>
          <a:prstGeom prst="rect">
            <a:avLst/>
          </a:prstGeom>
          <a:noFill/>
          <a:ln/>
        </p:spPr>
        <p:txBody>
          <a:bodyPr wrap="square" lIns="0" tIns="0" rIns="0" bIns="0" rtlCol="0" anchor="ctr"/>
          <a:lstStyle/>
          <a:p>
            <a:pPr indent="0" marL="0">
              <a:spcAft>
                <a:spcPts val="600"/>
              </a:spcAft>
              <a:buNone/>
            </a:pPr>
            <a:r>
              <a:rPr lang="en-US" sz="2000" dirty="0">
                <a:solidFill>
                  <a:schemeClr val="accent5"/>
                </a:solidFill>
              </a:rPr>
              <a:t>Kartik Parameshwaran ([NetID1])</a:t>
            </a:r>
            <a:endParaRPr lang="en-US" sz="2000" dirty="0"/>
          </a:p>
          <a:p>
            <a:pPr indent="0" marL="0">
              <a:spcAft>
                <a:spcPts val="600"/>
              </a:spcAft>
              <a:buNone/>
            </a:pPr>
            <a:r>
              <a:rPr lang="en-US" sz="2000" dirty="0">
                <a:solidFill>
                  <a:schemeClr val="accent5"/>
                </a:solidFill>
              </a:rPr>
              <a:t>[Arya’s full name] ([NetID2])</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Description of the problem and references</a:t>
            </a:r>
            <a:endParaRPr lang="en-US" sz="3200" dirty="0"/>
          </a:p>
        </p:txBody>
      </p:sp>
      <p:sp>
        <p:nvSpPr>
          <p:cNvPr id="3" name="problem text"/>
          <p:cNvSpPr txBox="1"/>
          <p:nvPr/>
        </p:nvSpPr>
        <p:spPr>
          <a:xfrm>
            <a:off x="548640" y="1325880"/>
            <a:ext cx="6400800" cy="4937760"/>
          </a:xfrm>
          <a:prstGeom prst="rect">
            <a:avLst/>
          </a:prstGeom>
          <a:noFill/>
          <a:ln/>
        </p:spPr>
        <p:txBody>
          <a:bodyPr wrap="square" lIns="0" tIns="0" rIns="0" bIns="0" rtlCol="0" anchor="t"/>
          <a:lstStyle/>
          <a:p>
            <a:pPr indent="0" marL="0">
              <a:spcAft>
                <a:spcPts val="1400"/>
              </a:spcAft>
              <a:buNone/>
            </a:pPr>
            <a:r>
              <a:rPr lang="en-US" sz="1800" dirty="0">
                <a:solidFill>
                  <a:schemeClr val="tx2"/>
                </a:solidFill>
              </a:rPr>
              <a:t>A robot starts in an unknown maze and must reach a goal it knows only from </a:t>
            </a:r>
            <a:pPr indent="0" marL="0">
              <a:spcAft>
                <a:spcPts val="1400"/>
              </a:spcAft>
              <a:buNone/>
            </a:pPr>
            <a:r>
              <a:rPr lang="en-US" sz="1800" b="1" dirty="0">
                <a:solidFill>
                  <a:schemeClr val="tx2"/>
                </a:solidFill>
              </a:rPr>
              <a:t>four photos</a:t>
            </a:r>
            <a:pPr indent="0" marL="0">
              <a:spcAft>
                <a:spcPts val="1400"/>
              </a:spcAft>
              <a:buNone/>
            </a:pPr>
            <a:r>
              <a:rPr lang="en-US" sz="1800" dirty="0">
                <a:solidFill>
                  <a:schemeClr val="tx2"/>
                </a:solidFill>
              </a:rPr>
              <a:t> taken there (front, left, back, right). It sees only its own </a:t>
            </a:r>
            <a:pPr indent="0" marL="0">
              <a:spcAft>
                <a:spcPts val="1400"/>
              </a:spcAft>
              <a:buNone/>
            </a:pPr>
            <a:r>
              <a:rPr lang="en-US" sz="1800" b="1" dirty="0">
                <a:solidFill>
                  <a:schemeClr val="tx2"/>
                </a:solidFill>
              </a:rPr>
              <a:t>320 × 240 camera frame</a:t>
            </a:r>
            <a:pPr indent="0" marL="0">
              <a:spcAft>
                <a:spcPts val="1400"/>
              </a:spcAft>
              <a:buNone/>
            </a:pPr>
            <a:r>
              <a:rPr lang="en-US" sz="1800" dirty="0">
                <a:solidFill>
                  <a:schemeClr val="tx2"/>
                </a:solidFill>
              </a:rPr>
              <a:t>: no position, no map, no collision signal.</a:t>
            </a:r>
            <a:endParaRPr lang="en-US" sz="1800" dirty="0"/>
          </a:p>
          <a:p>
            <a:pPr indent="0" marL="0">
              <a:spcAft>
                <a:spcPts val="1400"/>
              </a:spcAft>
              <a:buNone/>
            </a:pPr>
            <a:r>
              <a:rPr lang="en-US" sz="1800" dirty="0">
                <a:solidFill>
                  <a:schemeClr val="tx2"/>
                </a:solidFill>
              </a:rPr>
              <a:t>Before the run it may study the frames of </a:t>
            </a:r>
            <a:pPr indent="0" marL="0">
              <a:spcAft>
                <a:spcPts val="1400"/>
              </a:spcAft>
              <a:buNone/>
            </a:pPr>
            <a:r>
              <a:rPr lang="en-US" sz="1800" b="1" dirty="0">
                <a:solidFill>
                  <a:schemeClr val="tx2"/>
                </a:solidFill>
              </a:rPr>
              <a:t>three earlier exploration drives</a:t>
            </a:r>
            <a:pPr indent="0" marL="0">
              <a:spcAft>
                <a:spcPts val="1400"/>
              </a:spcAft>
              <a:buNone/>
            </a:pPr>
            <a:r>
              <a:rPr lang="en-US" sz="1800" dirty="0">
                <a:solidFill>
                  <a:schemeClr val="tx2"/>
                </a:solidFill>
              </a:rPr>
              <a:t> through the same maze, each labelled with the move made after it.</a:t>
            </a:r>
            <a:endParaRPr lang="en-US" sz="1800" dirty="0"/>
          </a:p>
          <a:p>
            <a:pPr indent="0" marL="0">
              <a:spcAft>
                <a:spcPts val="1400"/>
              </a:spcAft>
              <a:buNone/>
            </a:pPr>
            <a:r>
              <a:rPr lang="en-US" sz="1800" dirty="0">
                <a:solidFill>
                  <a:schemeClr val="tx2"/>
                </a:solidFill>
              </a:rPr>
              <a:t>A run scores only if the robot </a:t>
            </a:r>
            <a:pPr indent="0" marL="0">
              <a:spcAft>
                <a:spcPts val="1400"/>
              </a:spcAft>
              <a:buNone/>
            </a:pPr>
            <a:r>
              <a:rPr lang="en-US" sz="1800" b="1" dirty="0">
                <a:solidFill>
                  <a:schemeClr val="tx2"/>
                </a:solidFill>
              </a:rPr>
              <a:t>checks in within 0.2 m and 20°</a:t>
            </a:r>
            <a:pPr indent="0" marL="0">
              <a:spcAft>
                <a:spcPts val="1400"/>
              </a:spcAft>
              <a:buNone/>
            </a:pPr>
            <a:r>
              <a:rPr lang="en-US" sz="1800" dirty="0">
                <a:solidFill>
                  <a:schemeClr val="tx2"/>
                </a:solidFill>
              </a:rPr>
              <a:t> of the goal pose; points come from distance, heading and path efficiency (SPL).</a:t>
            </a:r>
            <a:endParaRPr lang="en-US" sz="1800" dirty="0"/>
          </a:p>
          <a:p>
            <a:pPr indent="0" marL="0">
              <a:spcAft>
                <a:spcPts val="1400"/>
              </a:spcAft>
              <a:buNone/>
            </a:pPr>
            <a:r>
              <a:rPr lang="en-US" sz="1800" b="1" dirty="0">
                <a:solidFill>
                  <a:schemeClr val="accent1"/>
                </a:solidFill>
              </a:rPr>
              <a:t>So: work out where you are and where the goal is from pixels alone, then get there in as few steps as possible.</a:t>
            </a:r>
            <a:endParaRPr lang="en-US" sz="1800" dirty="0"/>
          </a:p>
        </p:txBody>
      </p:sp>
      <p:sp>
        <p:nvSpPr>
          <p:cNvPr id="4" name="references card"/>
          <p:cNvSpPr/>
          <p:nvPr/>
        </p:nvSpPr>
        <p:spPr>
          <a:xfrm>
            <a:off x="7315200" y="1325880"/>
            <a:ext cx="4343400" cy="4983480"/>
          </a:xfrm>
          <a:prstGeom prst="roundRect">
            <a:avLst>
              <a:gd name="adj" fmla="val 2526"/>
            </a:avLst>
          </a:prstGeom>
          <a:solidFill>
            <a:schemeClr val="bg2"/>
          </a:solidFill>
          <a:ln w="12700">
            <a:solidFill>
              <a:schemeClr val="bg2"/>
            </a:solidFill>
            <a:prstDash val="solid"/>
          </a:ln>
        </p:spPr>
      </p:sp>
      <p:sp>
        <p:nvSpPr>
          <p:cNvPr id="5" name="references title"/>
          <p:cNvSpPr txBox="1"/>
          <p:nvPr/>
        </p:nvSpPr>
        <p:spPr>
          <a:xfrm>
            <a:off x="7589520" y="1508760"/>
            <a:ext cx="3840480" cy="411480"/>
          </a:xfrm>
          <a:prstGeom prst="rect">
            <a:avLst/>
          </a:prstGeom>
          <a:noFill/>
          <a:ln/>
        </p:spPr>
        <p:txBody>
          <a:bodyPr wrap="square" lIns="0" tIns="0" rIns="0" bIns="0" rtlCol="0" anchor="ctr"/>
          <a:lstStyle/>
          <a:p>
            <a:pPr indent="0" marL="0">
              <a:buNone/>
            </a:pPr>
            <a:r>
              <a:rPr lang="en-US" sz="1800" b="1" dirty="0">
                <a:solidFill>
                  <a:schemeClr val="tx1"/>
                </a:solidFill>
              </a:rPr>
              <a:t>References</a:t>
            </a:r>
            <a:endParaRPr lang="en-US" sz="1800" dirty="0"/>
          </a:p>
        </p:txBody>
      </p:sp>
      <p:sp>
        <p:nvSpPr>
          <p:cNvPr id="6" name="references list"/>
          <p:cNvSpPr txBox="1"/>
          <p:nvPr/>
        </p:nvSpPr>
        <p:spPr>
          <a:xfrm>
            <a:off x="7589520" y="2011680"/>
            <a:ext cx="3840480" cy="411480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400" dirty="0">
                <a:solidFill>
                  <a:schemeClr val="tx2"/>
                </a:solidFill>
              </a:rPr>
              <a:t>Savinov et al., SPTM: Semi-Parametric Topological Memory for Navigation, ICLR 2018</a:t>
            </a:r>
            <a:endParaRPr lang="en-US" sz="1400" dirty="0"/>
          </a:p>
          <a:p>
            <a:pPr marL="342900" indent="-342900">
              <a:spcAft>
                <a:spcPts val="600"/>
              </a:spcAft>
              <a:buSzPct val="100000"/>
              <a:buFont typeface="+mj-lt"/>
              <a:buAutoNum type="arabicPeriod" startAt="1"/>
            </a:pPr>
            <a:r>
              <a:rPr lang="en-US" sz="1400" dirty="0">
                <a:solidFill>
                  <a:schemeClr val="tx2"/>
                </a:solidFill>
              </a:rPr>
              <a:t>Keetha et al., AnyLoc: Universal Visual Place Recognition, RA-L 2023</a:t>
            </a:r>
            <a:endParaRPr lang="en-US" sz="1400" dirty="0"/>
          </a:p>
          <a:p>
            <a:pPr marL="342900" indent="-342900">
              <a:spcAft>
                <a:spcPts val="600"/>
              </a:spcAft>
              <a:buSzPct val="100000"/>
              <a:buFont typeface="+mj-lt"/>
              <a:buAutoNum type="arabicPeriod" startAt="1"/>
            </a:pPr>
            <a:r>
              <a:rPr lang="en-US" sz="1400" dirty="0">
                <a:solidFill>
                  <a:schemeClr val="tx2"/>
                </a:solidFill>
              </a:rPr>
              <a:t>Oquab et al., DINOv2 visual features, 2023</a:t>
            </a:r>
            <a:endParaRPr lang="en-US" sz="1400" dirty="0"/>
          </a:p>
          <a:p>
            <a:pPr marL="342900" indent="-342900">
              <a:spcAft>
                <a:spcPts val="600"/>
              </a:spcAft>
              <a:buSzPct val="100000"/>
              <a:buFont typeface="+mj-lt"/>
              <a:buAutoNum type="arabicPeriod" startAt="1"/>
            </a:pPr>
            <a:r>
              <a:rPr lang="en-US" sz="1400" dirty="0">
                <a:solidFill>
                  <a:schemeClr val="tx2"/>
                </a:solidFill>
              </a:rPr>
              <a:t>Arandjelović et al., NetVLAD, CVPR 2016</a:t>
            </a:r>
            <a:endParaRPr lang="en-US" sz="1400" dirty="0"/>
          </a:p>
          <a:p>
            <a:pPr marL="342900" indent="-342900">
              <a:spcAft>
                <a:spcPts val="600"/>
              </a:spcAft>
              <a:buSzPct val="100000"/>
              <a:buFont typeface="+mj-lt"/>
              <a:buAutoNum type="arabicPeriod" startAt="1"/>
            </a:pPr>
            <a:r>
              <a:rPr lang="en-US" sz="1400" dirty="0">
                <a:solidFill>
                  <a:schemeClr val="tx2"/>
                </a:solidFill>
              </a:rPr>
              <a:t>DeTone et al., SuperPoint, CVPR Workshops 2018</a:t>
            </a:r>
            <a:endParaRPr lang="en-US" sz="1400" dirty="0"/>
          </a:p>
          <a:p>
            <a:pPr marL="342900" indent="-342900">
              <a:spcAft>
                <a:spcPts val="600"/>
              </a:spcAft>
              <a:buSzPct val="100000"/>
              <a:buFont typeface="+mj-lt"/>
              <a:buAutoNum type="arabicPeriod" startAt="1"/>
            </a:pPr>
            <a:r>
              <a:rPr lang="en-US" sz="1400" dirty="0">
                <a:solidFill>
                  <a:schemeClr val="tx2"/>
                </a:solidFill>
              </a:rPr>
              <a:t>Sarlin et al., SuperGlue, CVPR 2020</a:t>
            </a:r>
            <a:endParaRPr lang="en-US" sz="1400" dirty="0"/>
          </a:p>
          <a:p>
            <a:pPr marL="342900" indent="-342900">
              <a:spcAft>
                <a:spcPts val="600"/>
              </a:spcAft>
              <a:buSzPct val="100000"/>
              <a:buFont typeface="+mj-lt"/>
              <a:buAutoNum type="arabicPeriod" startAt="1"/>
            </a:pPr>
            <a:r>
              <a:rPr lang="en-US" sz="1400" dirty="0">
                <a:solidFill>
                  <a:schemeClr val="tx2"/>
                </a:solidFill>
              </a:rPr>
              <a:t>Nistér, five-point relative pose (essential matrix), TPAMI 2004</a:t>
            </a:r>
            <a:endParaRPr lang="en-US" sz="1400" dirty="0"/>
          </a:p>
          <a:p>
            <a:pPr marL="342900" indent="-342900">
              <a:spcAft>
                <a:spcPts val="600"/>
              </a:spcAft>
              <a:buSzPct val="100000"/>
              <a:buFont typeface="+mj-lt"/>
              <a:buAutoNum type="arabicPeriod" startAt="1"/>
            </a:pPr>
            <a:r>
              <a:rPr lang="en-US" sz="1400" dirty="0">
                <a:solidFill>
                  <a:schemeClr val="tx2"/>
                </a:solidFill>
              </a:rPr>
              <a:t>Tools: PyTorch, OpenCV (RANSAC, LSD lines), NetworkX (Dijkstra), the course’s vis-nav SDK and simulator</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Method (1/2): the pipeline</a:t>
            </a:r>
            <a:endParaRPr lang="en-US" sz="3200" dirty="0"/>
          </a:p>
        </p:txBody>
      </p:sp>
      <p:sp>
        <p:nvSpPr>
          <p:cNvPr id="3" name="lane 1 label"/>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Before connecting: free, no steps and no session clock</a:t>
            </a:r>
            <a:endParaRPr lang="en-US" sz="1600" dirty="0"/>
          </a:p>
        </p:txBody>
      </p:sp>
      <p:sp>
        <p:nvSpPr>
          <p:cNvPr id="4" name="lane 1 card 1"/>
          <p:cNvSpPr/>
          <p:nvPr/>
        </p:nvSpPr>
        <p:spPr>
          <a:xfrm>
            <a:off x="548640" y="1691640"/>
            <a:ext cx="3493008" cy="1463040"/>
          </a:xfrm>
          <a:prstGeom prst="roundRect">
            <a:avLst>
              <a:gd name="adj" fmla="val 7500"/>
            </a:avLst>
          </a:prstGeom>
          <a:solidFill>
            <a:schemeClr val="bg2"/>
          </a:solidFill>
          <a:ln w="12700">
            <a:solidFill>
              <a:schemeClr val="bg2"/>
            </a:solidFill>
            <a:prstDash val="solid"/>
          </a:ln>
        </p:spPr>
      </p:sp>
      <p:sp>
        <p:nvSpPr>
          <p:cNvPr id="5" name="lane 1 text 1"/>
          <p:cNvSpPr txBox="1"/>
          <p:nvPr/>
        </p:nvSpPr>
        <p:spPr>
          <a:xfrm>
            <a:off x="749808" y="1828800"/>
            <a:ext cx="3108960" cy="123444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rPr>
              <a:t>Photo graph</a:t>
            </a:r>
            <a:endParaRPr lang="en-US" sz="1700" dirty="0"/>
          </a:p>
          <a:p>
            <a:pPr indent="0" marL="0">
              <a:spcAft>
                <a:spcPts val="600"/>
              </a:spcAft>
              <a:buNone/>
            </a:pPr>
            <a:r>
              <a:rPr lang="en-US" sz="1400" dirty="0">
                <a:solidFill>
                  <a:schemeClr val="tx2"/>
                </a:solidFill>
              </a:rPr>
              <a:t>One node per exploration photo; edges join consecutive photos, plus shortcuts AnyLoc proposes and SuperGlue confirms.</a:t>
            </a:r>
            <a:endParaRPr lang="en-US" sz="1700" dirty="0"/>
          </a:p>
        </p:txBody>
      </p:sp>
      <p:sp>
        <p:nvSpPr>
          <p:cNvPr id="6" name="lane 1 arrow 1"/>
          <p:cNvSpPr/>
          <p:nvPr/>
        </p:nvSpPr>
        <p:spPr>
          <a:xfrm>
            <a:off x="4032504" y="2313432"/>
            <a:ext cx="292608" cy="219456"/>
          </a:xfrm>
          <a:prstGeom prst="rightArrow">
            <a:avLst/>
          </a:prstGeom>
          <a:solidFill>
            <a:schemeClr val="accent3"/>
          </a:solidFill>
          <a:ln w="12700">
            <a:solidFill>
              <a:schemeClr val="accent3"/>
            </a:solidFill>
            <a:prstDash val="solid"/>
          </a:ln>
        </p:spPr>
      </p:sp>
      <p:sp>
        <p:nvSpPr>
          <p:cNvPr id="7" name="lane 1 card 2"/>
          <p:cNvSpPr/>
          <p:nvPr/>
        </p:nvSpPr>
        <p:spPr>
          <a:xfrm>
            <a:off x="4334256" y="1691640"/>
            <a:ext cx="3493008" cy="1463040"/>
          </a:xfrm>
          <a:prstGeom prst="roundRect">
            <a:avLst>
              <a:gd name="adj" fmla="val 7500"/>
            </a:avLst>
          </a:prstGeom>
          <a:solidFill>
            <a:schemeClr val="bg2"/>
          </a:solidFill>
          <a:ln w="12700">
            <a:solidFill>
              <a:schemeClr val="bg2"/>
            </a:solidFill>
            <a:prstDash val="solid"/>
          </a:ln>
        </p:spPr>
      </p:sp>
      <p:sp>
        <p:nvSpPr>
          <p:cNvPr id="8" name="lane 1 text 2"/>
          <p:cNvSpPr txBox="1"/>
          <p:nvPr/>
        </p:nvSpPr>
        <p:spPr>
          <a:xfrm>
            <a:off x="4535424" y="1828800"/>
            <a:ext cx="3108960" cy="123444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rPr>
              <a:t>Metric map</a:t>
            </a:r>
            <a:endParaRPr lang="en-US" sz="1700" dirty="0"/>
          </a:p>
          <a:p>
            <a:pPr indent="0" marL="0">
              <a:spcAft>
                <a:spcPts val="600"/>
              </a:spcAft>
              <a:buNone/>
            </a:pPr>
            <a:r>
              <a:rPr lang="en-US" sz="1400" dirty="0">
                <a:solidFill>
                  <a:schemeClr val="tx2"/>
                </a:solidFill>
              </a:rPr>
              <a:t>A vanishing-point compass, SuperGlue rotations and loop closures place every photo; edges cost ticks.</a:t>
            </a:r>
            <a:endParaRPr lang="en-US" sz="1700" dirty="0"/>
          </a:p>
        </p:txBody>
      </p:sp>
      <p:sp>
        <p:nvSpPr>
          <p:cNvPr id="9" name="lane 1 arrow 2"/>
          <p:cNvSpPr/>
          <p:nvPr/>
        </p:nvSpPr>
        <p:spPr>
          <a:xfrm>
            <a:off x="7818120" y="2313432"/>
            <a:ext cx="292608" cy="219456"/>
          </a:xfrm>
          <a:prstGeom prst="rightArrow">
            <a:avLst/>
          </a:prstGeom>
          <a:solidFill>
            <a:schemeClr val="accent3"/>
          </a:solidFill>
          <a:ln w="12700">
            <a:solidFill>
              <a:schemeClr val="accent3"/>
            </a:solidFill>
            <a:prstDash val="solid"/>
          </a:ln>
        </p:spPr>
      </p:sp>
      <p:sp>
        <p:nvSpPr>
          <p:cNvPr id="10" name="lane 1 card 3"/>
          <p:cNvSpPr/>
          <p:nvPr/>
        </p:nvSpPr>
        <p:spPr>
          <a:xfrm>
            <a:off x="8119872" y="1691640"/>
            <a:ext cx="3493008" cy="1463040"/>
          </a:xfrm>
          <a:prstGeom prst="roundRect">
            <a:avLst>
              <a:gd name="adj" fmla="val 7500"/>
            </a:avLst>
          </a:prstGeom>
          <a:solidFill>
            <a:schemeClr val="bg2"/>
          </a:solidFill>
          <a:ln w="12700">
            <a:solidFill>
              <a:schemeClr val="bg2"/>
            </a:solidFill>
            <a:prstDash val="solid"/>
          </a:ln>
        </p:spPr>
      </p:sp>
      <p:sp>
        <p:nvSpPr>
          <p:cNvPr id="11" name="lane 1 text 3"/>
          <p:cNvSpPr txBox="1"/>
          <p:nvPr/>
        </p:nvSpPr>
        <p:spPr>
          <a:xfrm>
            <a:off x="8321040" y="1828800"/>
            <a:ext cx="3108960" cy="123444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rPr>
              <a:t>Goal photo</a:t>
            </a:r>
            <a:endParaRPr lang="en-US" sz="1700" dirty="0"/>
          </a:p>
          <a:p>
            <a:pPr indent="0" marL="0">
              <a:spcAft>
                <a:spcPts val="600"/>
              </a:spcAft>
              <a:buNone/>
            </a:pPr>
            <a:r>
              <a:rPr lang="en-US" sz="1400" dirty="0">
                <a:solidFill>
                  <a:schemeClr val="tx2"/>
                </a:solidFill>
              </a:rPr>
              <a:t>The 4 goal photos against AnyLoc’s top 64 candidates each; the strongest SuperGlue match is the goal node.</a:t>
            </a:r>
            <a:endParaRPr lang="en-US" sz="1700" dirty="0"/>
          </a:p>
        </p:txBody>
      </p:sp>
      <p:sp>
        <p:nvSpPr>
          <p:cNvPr id="12" name="lane 2 label"/>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600" b="1" dirty="0">
                <a:solidFill>
                  <a:schemeClr val="accent2"/>
                </a:solidFill>
              </a:rPr>
              <a:t>Every decision: one camera frame in, one move out</a:t>
            </a:r>
            <a:endParaRPr lang="en-US" sz="1600" dirty="0"/>
          </a:p>
        </p:txBody>
      </p:sp>
      <p:sp>
        <p:nvSpPr>
          <p:cNvPr id="13" name="lane 2 card 1"/>
          <p:cNvSpPr/>
          <p:nvPr/>
        </p:nvSpPr>
        <p:spPr>
          <a:xfrm>
            <a:off x="548640" y="3931920"/>
            <a:ext cx="2551176" cy="1828800"/>
          </a:xfrm>
          <a:prstGeom prst="roundRect">
            <a:avLst>
              <a:gd name="adj" fmla="val 6000"/>
            </a:avLst>
          </a:prstGeom>
          <a:solidFill>
            <a:schemeClr val="accent6"/>
          </a:solidFill>
          <a:ln w="12700">
            <a:solidFill>
              <a:schemeClr val="accent6"/>
            </a:solidFill>
            <a:prstDash val="solid"/>
          </a:ln>
        </p:spPr>
      </p:sp>
      <p:sp>
        <p:nvSpPr>
          <p:cNvPr id="14" name="lane 2 text 1"/>
          <p:cNvSpPr txBox="1"/>
          <p:nvPr/>
        </p:nvSpPr>
        <p:spPr>
          <a:xfrm>
            <a:off x="731520" y="4069080"/>
            <a:ext cx="2194560" cy="160020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rPr>
              <a:t>Localise</a:t>
            </a:r>
            <a:endParaRPr lang="en-US" sz="1700" dirty="0"/>
          </a:p>
          <a:p>
            <a:pPr indent="0" marL="0">
              <a:spcAft>
                <a:spcPts val="600"/>
              </a:spcAft>
              <a:buNone/>
            </a:pPr>
            <a:r>
              <a:rPr lang="en-US" sz="1400" dirty="0">
                <a:solidFill>
                  <a:schemeClr val="tx2"/>
                </a:solidFill>
              </a:rPr>
              <a:t>AnyLoc match near the last node; a far jump needs 3 frames and SuperGlue.</a:t>
            </a:r>
            <a:endParaRPr lang="en-US" sz="1700" dirty="0"/>
          </a:p>
        </p:txBody>
      </p:sp>
      <p:sp>
        <p:nvSpPr>
          <p:cNvPr id="15" name="lane 2 arrow 1"/>
          <p:cNvSpPr/>
          <p:nvPr/>
        </p:nvSpPr>
        <p:spPr>
          <a:xfrm>
            <a:off x="3095244" y="4736592"/>
            <a:ext cx="292608" cy="219456"/>
          </a:xfrm>
          <a:prstGeom prst="rightArrow">
            <a:avLst/>
          </a:prstGeom>
          <a:solidFill>
            <a:schemeClr val="accent3"/>
          </a:solidFill>
          <a:ln w="12700">
            <a:solidFill>
              <a:schemeClr val="accent3"/>
            </a:solidFill>
            <a:prstDash val="solid"/>
          </a:ln>
        </p:spPr>
      </p:sp>
      <p:sp>
        <p:nvSpPr>
          <p:cNvPr id="16" name="lane 2 card 2"/>
          <p:cNvSpPr/>
          <p:nvPr/>
        </p:nvSpPr>
        <p:spPr>
          <a:xfrm>
            <a:off x="3383280" y="3931920"/>
            <a:ext cx="2551176" cy="1828800"/>
          </a:xfrm>
          <a:prstGeom prst="roundRect">
            <a:avLst>
              <a:gd name="adj" fmla="val 6000"/>
            </a:avLst>
          </a:prstGeom>
          <a:solidFill>
            <a:schemeClr val="accent6"/>
          </a:solidFill>
          <a:ln w="12700">
            <a:solidFill>
              <a:schemeClr val="accent6"/>
            </a:solidFill>
            <a:prstDash val="solid"/>
          </a:ln>
        </p:spPr>
      </p:sp>
      <p:sp>
        <p:nvSpPr>
          <p:cNvPr id="17" name="lane 2 text 2"/>
          <p:cNvSpPr txBox="1"/>
          <p:nvPr/>
        </p:nvSpPr>
        <p:spPr>
          <a:xfrm>
            <a:off x="3566160" y="4069080"/>
            <a:ext cx="2194560" cy="160020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rPr>
              <a:t>Plan</a:t>
            </a:r>
            <a:endParaRPr lang="en-US" sz="1700" dirty="0"/>
          </a:p>
          <a:p>
            <a:pPr indent="0" marL="0">
              <a:spcAft>
                <a:spcPts val="600"/>
              </a:spcAft>
              <a:buNone/>
            </a:pPr>
            <a:r>
              <a:rPr lang="en-US" sz="1400" dirty="0">
                <a:solidFill>
                  <a:schemeClr val="tx2"/>
                </a:solidFill>
              </a:rPr>
              <a:t>Dijkstra to the goal node; a stalled stretch is re-planned.</a:t>
            </a:r>
            <a:endParaRPr lang="en-US" sz="1700" dirty="0"/>
          </a:p>
        </p:txBody>
      </p:sp>
      <p:sp>
        <p:nvSpPr>
          <p:cNvPr id="18" name="lane 2 arrow 2"/>
          <p:cNvSpPr/>
          <p:nvPr/>
        </p:nvSpPr>
        <p:spPr>
          <a:xfrm>
            <a:off x="5929884" y="4736592"/>
            <a:ext cx="292608" cy="219456"/>
          </a:xfrm>
          <a:prstGeom prst="rightArrow">
            <a:avLst/>
          </a:prstGeom>
          <a:solidFill>
            <a:schemeClr val="accent3"/>
          </a:solidFill>
          <a:ln w="12700">
            <a:solidFill>
              <a:schemeClr val="accent3"/>
            </a:solidFill>
            <a:prstDash val="solid"/>
          </a:ln>
        </p:spPr>
      </p:sp>
      <p:sp>
        <p:nvSpPr>
          <p:cNvPr id="19" name="lane 2 card 3"/>
          <p:cNvSpPr/>
          <p:nvPr/>
        </p:nvSpPr>
        <p:spPr>
          <a:xfrm>
            <a:off x="6217920" y="3931920"/>
            <a:ext cx="2551176" cy="1828800"/>
          </a:xfrm>
          <a:prstGeom prst="roundRect">
            <a:avLst>
              <a:gd name="adj" fmla="val 6000"/>
            </a:avLst>
          </a:prstGeom>
          <a:solidFill>
            <a:schemeClr val="accent6"/>
          </a:solidFill>
          <a:ln w="12700">
            <a:solidFill>
              <a:schemeClr val="accent6"/>
            </a:solidFill>
            <a:prstDash val="solid"/>
          </a:ln>
        </p:spPr>
      </p:sp>
      <p:sp>
        <p:nvSpPr>
          <p:cNvPr id="20" name="lane 2 text 3"/>
          <p:cNvSpPr txBox="1"/>
          <p:nvPr/>
        </p:nvSpPr>
        <p:spPr>
          <a:xfrm>
            <a:off x="6400800" y="4069080"/>
            <a:ext cx="2194560" cy="160020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rPr>
              <a:t>Move</a:t>
            </a:r>
            <a:endParaRPr lang="en-US" sz="1700" dirty="0"/>
          </a:p>
          <a:p>
            <a:pPr indent="0" marL="0">
              <a:spcAft>
                <a:spcPts val="600"/>
              </a:spcAft>
              <a:buNone/>
            </a:pPr>
            <a:r>
              <a:rPr lang="en-US" sz="1400" dirty="0">
                <a:solidFill>
                  <a:schemeClr val="tx2"/>
                </a:solidFill>
              </a:rPr>
              <a:t>Turn by the essential-matrix yaw to the next waypoint photo, else the L network; undo moves to back up.</a:t>
            </a:r>
            <a:endParaRPr lang="en-US" sz="1700" dirty="0"/>
          </a:p>
        </p:txBody>
      </p:sp>
      <p:sp>
        <p:nvSpPr>
          <p:cNvPr id="21" name="lane 2 arrow 3"/>
          <p:cNvSpPr/>
          <p:nvPr/>
        </p:nvSpPr>
        <p:spPr>
          <a:xfrm>
            <a:off x="8764524" y="4736592"/>
            <a:ext cx="292608" cy="219456"/>
          </a:xfrm>
          <a:prstGeom prst="rightArrow">
            <a:avLst/>
          </a:prstGeom>
          <a:solidFill>
            <a:schemeClr val="accent3"/>
          </a:solidFill>
          <a:ln w="12700">
            <a:solidFill>
              <a:schemeClr val="accent3"/>
            </a:solidFill>
            <a:prstDash val="solid"/>
          </a:ln>
        </p:spPr>
      </p:sp>
      <p:sp>
        <p:nvSpPr>
          <p:cNvPr id="22" name="lane 2 card 4"/>
          <p:cNvSpPr/>
          <p:nvPr/>
        </p:nvSpPr>
        <p:spPr>
          <a:xfrm>
            <a:off x="9052560" y="3931920"/>
            <a:ext cx="2551176" cy="1828800"/>
          </a:xfrm>
          <a:prstGeom prst="roundRect">
            <a:avLst>
              <a:gd name="adj" fmla="val 6000"/>
            </a:avLst>
          </a:prstGeom>
          <a:solidFill>
            <a:schemeClr val="accent6"/>
          </a:solidFill>
          <a:ln w="12700">
            <a:solidFill>
              <a:schemeClr val="accent6"/>
            </a:solidFill>
            <a:prstDash val="solid"/>
          </a:ln>
        </p:spPr>
      </p:sp>
      <p:sp>
        <p:nvSpPr>
          <p:cNvPr id="23" name="lane 2 text 4"/>
          <p:cNvSpPr txBox="1"/>
          <p:nvPr/>
        </p:nvSpPr>
        <p:spPr>
          <a:xfrm>
            <a:off x="9235440" y="4069080"/>
            <a:ext cx="2194560" cy="160020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rPr>
              <a:t>Last metre</a:t>
            </a:r>
            <a:endParaRPr lang="en-US" sz="1700" dirty="0"/>
          </a:p>
          <a:p>
            <a:pPr indent="0" marL="0">
              <a:spcAft>
                <a:spcPts val="600"/>
              </a:spcAft>
              <a:buNone/>
            </a:pPr>
            <a:r>
              <a:rPr lang="en-US" sz="1400" dirty="0">
                <a:solidFill>
                  <a:schemeClr val="tx2"/>
                </a:solidFill>
              </a:rPr>
              <a:t>Match the goal photos, line up and creep; check in only on 35+ inliers, 3 readings in a row.</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Method (2/2): what keeps it on track</a:t>
            </a:r>
            <a:endParaRPr lang="en-US" sz="3200" dirty="0"/>
          </a:p>
        </p:txBody>
      </p:sp>
      <p:pic>
        <p:nvPicPr>
          <p:cNvPr id="3" name="maze 28 top view" descr="Top view of local maze 28: the robot’s true path from the start to the goal, coloured from blue to red, and a zoom on the last metre around the goal">    </p:cNvPr>
          <p:cNvPicPr>
            <a:picLocks noChangeAspect="1"/>
          </p:cNvPicPr>
          <p:nvPr/>
        </p:nvPicPr>
        <p:blipFill>
          <a:blip r:embed="rId1"/>
          <a:stretch>
            <a:fillRect/>
          </a:stretch>
        </p:blipFill>
        <p:spPr>
          <a:xfrm>
            <a:off x="548640" y="1325880"/>
            <a:ext cx="6309360" cy="3345873"/>
          </a:xfrm>
          <a:prstGeom prst="rect">
            <a:avLst/>
          </a:prstGeom>
        </p:spPr>
      </p:pic>
      <p:sp>
        <p:nvSpPr>
          <p:cNvPr id="4" name="maze 28 caption"/>
          <p:cNvSpPr txBox="1"/>
          <p:nvPr/>
        </p:nvSpPr>
        <p:spPr>
          <a:xfrm>
            <a:off x="548640" y="4781481"/>
            <a:ext cx="6309360" cy="640080"/>
          </a:xfrm>
          <a:prstGeom prst="rect">
            <a:avLst/>
          </a:prstGeom>
          <a:noFill/>
          <a:ln/>
        </p:spPr>
        <p:txBody>
          <a:bodyPr wrap="square" lIns="0" tIns="0" rIns="0" bIns="0" rtlCol="0" anchor="t"/>
          <a:lstStyle/>
          <a:p>
            <a:pPr indent="0" marL="0">
              <a:buNone/>
            </a:pPr>
            <a:r>
              <a:rPr lang="en-US" sz="1200" i="1" dirty="0">
                <a:solidFill>
                  <a:schemeClr val="tx2"/>
                </a:solidFill>
              </a:rPr>
              <a:t>Local maze 28, replayed against the simulator’s true poses: start (blue) to goal (red), 6/10 in 2,152 steps, check-in 0.01 m. Right: the last metre.</a:t>
            </a:r>
            <a:endParaRPr lang="en-US" sz="1200" dirty="0"/>
          </a:p>
        </p:txBody>
      </p:sp>
      <p:sp>
        <p:nvSpPr>
          <p:cNvPr id="5" name="key ideas"/>
          <p:cNvSpPr txBox="1"/>
          <p:nvPr/>
        </p:nvSpPr>
        <p:spPr>
          <a:xfrm>
            <a:off x="7178040" y="1325880"/>
            <a:ext cx="4480560" cy="4983480"/>
          </a:xfrm>
          <a:prstGeom prst="rect">
            <a:avLst/>
          </a:prstGeom>
          <a:noFill/>
          <a:ln/>
        </p:spPr>
        <p:txBody>
          <a:bodyPr wrap="square" lIns="0" tIns="0" rIns="0" bIns="0" rtlCol="0" anchor="t"/>
          <a:lstStyle/>
          <a:p>
            <a:pPr indent="0" marL="0">
              <a:spcAft>
                <a:spcPts val="1400"/>
              </a:spcAft>
              <a:buNone/>
            </a:pPr>
            <a:r>
              <a:rPr lang="en-US" sz="1600" b="1" dirty="0">
                <a:solidFill>
                  <a:schemeClr val="tx1"/>
                </a:solidFill>
              </a:rPr>
              <a:t>Think when confused. </a:t>
            </a:r>
            <a:pPr indent="0" marL="0">
              <a:spcAft>
                <a:spcPts val="1400"/>
              </a:spcAft>
              <a:buNone/>
            </a:pPr>
            <a:r>
              <a:rPr lang="en-US" sz="1600" dirty="0">
                <a:solidFill>
                  <a:schemeClr val="tx2"/>
                </a:solidFill>
              </a:rPr>
              <a:t>Three decisions on the same photo: SuperGlue checks the next 5 route photos. It costs time, not steps.</a:t>
            </a:r>
            <a:endParaRPr lang="en-US" sz="1600" dirty="0"/>
          </a:p>
          <a:p>
            <a:pPr indent="0" marL="0">
              <a:spcAft>
                <a:spcPts val="1400"/>
              </a:spcAft>
              <a:buNone/>
            </a:pPr>
            <a:r>
              <a:rPr lang="en-US" sz="1600" b="1" dirty="0">
                <a:solidFill>
                  <a:schemeClr val="tx1"/>
                </a:solidFill>
              </a:rPr>
              <a:t>Measured steering. </a:t>
            </a:r>
            <a:pPr indent="0" marL="0">
              <a:spcAft>
                <a:spcPts val="1400"/>
              </a:spcAft>
              <a:buNone/>
            </a:pPr>
            <a:r>
              <a:rPr lang="en-US" sz="1600" dirty="0">
                <a:solidFill>
                  <a:schemeClr val="tx2"/>
                </a:solidFill>
              </a:rPr>
              <a:t>Yaw from the essential matrix between the live view and the waypoint photo; it keeps control down to 30 inliers.</a:t>
            </a:r>
            <a:endParaRPr lang="en-US" sz="1600" dirty="0"/>
          </a:p>
          <a:p>
            <a:pPr indent="0" marL="0">
              <a:spcAft>
                <a:spcPts val="1400"/>
              </a:spcAft>
              <a:buNone/>
            </a:pPr>
            <a:r>
              <a:rPr lang="en-US" sz="1600" b="1" dirty="0">
                <a:solidFill>
                  <a:schemeClr val="tx1"/>
                </a:solidFill>
              </a:rPr>
              <a:t>No repeated detours. </a:t>
            </a:r>
            <a:pPr indent="0" marL="0">
              <a:spcAft>
                <a:spcPts val="1400"/>
              </a:spcAft>
              <a:buNone/>
            </a:pPr>
            <a:r>
              <a:rPr lang="en-US" sz="1600" dirty="0">
                <a:solidFill>
                  <a:schemeClr val="tx2"/>
                </a:solidFill>
              </a:rPr>
              <a:t>A stretch that stalls gets costlier once, then the route is re-planned.</a:t>
            </a:r>
            <a:endParaRPr lang="en-US" sz="1600" dirty="0"/>
          </a:p>
          <a:p>
            <a:pPr indent="0" marL="0">
              <a:spcAft>
                <a:spcPts val="1400"/>
              </a:spcAft>
              <a:buNone/>
            </a:pPr>
            <a:r>
              <a:rPr lang="en-US" sz="1600" b="1" dirty="0">
                <a:solidFill>
                  <a:schemeClr val="tx1"/>
                </a:solidFill>
              </a:rPr>
              <a:t>Robust goal choice. </a:t>
            </a:r>
            <a:pPr indent="0" marL="0">
              <a:spcAft>
                <a:spcPts val="1400"/>
              </a:spcAft>
              <a:buNone/>
            </a:pPr>
            <a:r>
              <a:rPr lang="en-US" sz="1600" dirty="0">
                <a:solidFill>
                  <a:schemeClr val="tx2"/>
                </a:solidFill>
              </a:rPr>
              <a:t>Top-64 candidates: a wrong goal in 1 of 13 test mazes, down from 4 of 13.</a:t>
            </a:r>
            <a:endParaRPr lang="en-US" sz="1600" dirty="0"/>
          </a:p>
          <a:p>
            <a:pPr indent="0" marL="0">
              <a:spcAft>
                <a:spcPts val="1400"/>
              </a:spcAft>
              <a:buNone/>
            </a:pPr>
            <a:r>
              <a:rPr lang="en-US" sz="1600" b="1" dirty="0">
                <a:solidFill>
                  <a:schemeClr val="tx1"/>
                </a:solidFill>
              </a:rPr>
              <a:t>Safe check-in. </a:t>
            </a:r>
            <a:pPr indent="0" marL="0">
              <a:spcAft>
                <a:spcPts val="1400"/>
              </a:spcAft>
              <a:buNone/>
            </a:pPr>
            <a:r>
              <a:rPr lang="en-US" sz="1600" dirty="0">
                <a:solidFill>
                  <a:schemeClr val="tx2"/>
                </a:solidFill>
              </a:rPr>
              <a:t>Correct check-ins had 43–122 inliers, wrong ones 21–25, so 35 is the bar.</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Mid-term challenge result</a:t>
            </a:r>
            <a:endParaRPr lang="en-US" sz="3200" dirty="0"/>
          </a:p>
        </p:txBody>
      </p:sp>
      <p:sp>
        <p:nvSpPr>
          <p:cNvPr id="3" name="stat card 1"/>
          <p:cNvSpPr/>
          <p:nvPr/>
        </p:nvSpPr>
        <p:spPr>
          <a:xfrm>
            <a:off x="548640" y="1234440"/>
            <a:ext cx="3611880" cy="1463040"/>
          </a:xfrm>
          <a:prstGeom prst="roundRect">
            <a:avLst>
              <a:gd name="adj" fmla="val 7500"/>
            </a:avLst>
          </a:prstGeom>
          <a:solidFill>
            <a:schemeClr val="bg2"/>
          </a:solidFill>
          <a:ln w="12700">
            <a:solidFill>
              <a:schemeClr val="bg2"/>
            </a:solidFill>
            <a:prstDash val="solid"/>
          </a:ln>
        </p:spPr>
      </p:sp>
      <p:sp>
        <p:nvSpPr>
          <p:cNvPr id="4" name="stat 1"/>
          <p:cNvSpPr txBox="1"/>
          <p:nvPr/>
        </p:nvSpPr>
        <p:spPr>
          <a:xfrm>
            <a:off x="777240" y="1325880"/>
            <a:ext cx="3200400" cy="1280160"/>
          </a:xfrm>
          <a:prstGeom prst="rect">
            <a:avLst/>
          </a:prstGeom>
          <a:noFill/>
          <a:ln/>
        </p:spPr>
        <p:txBody>
          <a:bodyPr wrap="square" lIns="0" tIns="0" rIns="0" bIns="0" rtlCol="0" anchor="ctr"/>
          <a:lstStyle/>
          <a:p>
            <a:pPr indent="0" marL="0">
              <a:spcAft>
                <a:spcPts val="200"/>
              </a:spcAft>
              <a:buNone/>
            </a:pPr>
            <a:r>
              <a:rPr lang="en-US" sz="4000" b="1" dirty="0">
                <a:solidFill>
                  <a:schemeClr val="tx1"/>
                </a:solidFill>
                <a:latin typeface="Cambria" pitchFamily="34" charset="0"/>
                <a:ea typeface="Cambria" pitchFamily="34" charset="-122"/>
                <a:cs typeface="Cambria" pitchFamily="34" charset="-120"/>
              </a:rPr>
              <a:t>6 / 10</a:t>
            </a:r>
            <a:endParaRPr lang="en-US" sz="4000" dirty="0"/>
          </a:p>
          <a:p>
            <a:pPr indent="0" marL="0">
              <a:spcAft>
                <a:spcPts val="200"/>
              </a:spcAft>
              <a:buNone/>
            </a:pPr>
            <a:r>
              <a:rPr lang="en-US" sz="1400" dirty="0">
                <a:solidFill>
                  <a:schemeClr val="tx2"/>
                </a:solidFill>
              </a:rPr>
              <a:t>Distance 3/3 · Heading 3/3 · SPL 0/4</a:t>
            </a:r>
            <a:endParaRPr lang="en-US" sz="4000" dirty="0"/>
          </a:p>
        </p:txBody>
      </p:sp>
      <p:sp>
        <p:nvSpPr>
          <p:cNvPr id="5" name="stat card 2"/>
          <p:cNvSpPr/>
          <p:nvPr/>
        </p:nvSpPr>
        <p:spPr>
          <a:xfrm>
            <a:off x="4274820" y="1234440"/>
            <a:ext cx="3611880" cy="1463040"/>
          </a:xfrm>
          <a:prstGeom prst="roundRect">
            <a:avLst>
              <a:gd name="adj" fmla="val 7500"/>
            </a:avLst>
          </a:prstGeom>
          <a:solidFill>
            <a:schemeClr val="bg2"/>
          </a:solidFill>
          <a:ln w="12700">
            <a:solidFill>
              <a:schemeClr val="bg2"/>
            </a:solidFill>
            <a:prstDash val="solid"/>
          </a:ln>
        </p:spPr>
      </p:sp>
      <p:sp>
        <p:nvSpPr>
          <p:cNvPr id="6" name="stat 2"/>
          <p:cNvSpPr txBox="1"/>
          <p:nvPr/>
        </p:nvSpPr>
        <p:spPr>
          <a:xfrm>
            <a:off x="4503420" y="1325880"/>
            <a:ext cx="3200400" cy="1280160"/>
          </a:xfrm>
          <a:prstGeom prst="rect">
            <a:avLst/>
          </a:prstGeom>
          <a:noFill/>
          <a:ln/>
        </p:spPr>
        <p:txBody>
          <a:bodyPr wrap="square" lIns="0" tIns="0" rIns="0" bIns="0" rtlCol="0" anchor="ctr"/>
          <a:lstStyle/>
          <a:p>
            <a:pPr indent="0" marL="0">
              <a:spcAft>
                <a:spcPts val="200"/>
              </a:spcAft>
              <a:buNone/>
            </a:pPr>
            <a:r>
              <a:rPr lang="en-US" sz="4000" b="1" dirty="0">
                <a:solidFill>
                  <a:schemeClr val="tx1"/>
                </a:solidFill>
                <a:latin typeface="Cambria" pitchFamily="34" charset="0"/>
                <a:ea typeface="Cambria" pitchFamily="34" charset="-122"/>
                <a:cs typeface="Cambria" pitchFamily="34" charset="-120"/>
              </a:rPr>
              <a:t>0.022 m</a:t>
            </a:r>
            <a:endParaRPr lang="en-US" sz="4000" dirty="0"/>
          </a:p>
          <a:p>
            <a:pPr indent="0" marL="0">
              <a:spcAft>
                <a:spcPts val="200"/>
              </a:spcAft>
              <a:buNone/>
            </a:pPr>
            <a:r>
              <a:rPr lang="en-US" sz="1400" dirty="0">
                <a:solidFill>
                  <a:schemeClr val="tx2"/>
                </a:solidFill>
              </a:rPr>
              <a:t>from the goal at check-in, 0.7° off heading</a:t>
            </a:r>
            <a:endParaRPr lang="en-US" sz="4000" dirty="0"/>
          </a:p>
        </p:txBody>
      </p:sp>
      <p:sp>
        <p:nvSpPr>
          <p:cNvPr id="7" name="stat card 3"/>
          <p:cNvSpPr/>
          <p:nvPr/>
        </p:nvSpPr>
        <p:spPr>
          <a:xfrm>
            <a:off x="8001000" y="1234440"/>
            <a:ext cx="3611880" cy="1463040"/>
          </a:xfrm>
          <a:prstGeom prst="roundRect">
            <a:avLst>
              <a:gd name="adj" fmla="val 7500"/>
            </a:avLst>
          </a:prstGeom>
          <a:solidFill>
            <a:schemeClr val="bg2"/>
          </a:solidFill>
          <a:ln w="12700">
            <a:solidFill>
              <a:schemeClr val="bg2"/>
            </a:solidFill>
            <a:prstDash val="solid"/>
          </a:ln>
        </p:spPr>
      </p:sp>
      <p:sp>
        <p:nvSpPr>
          <p:cNvPr id="8" name="stat 3"/>
          <p:cNvSpPr txBox="1"/>
          <p:nvPr/>
        </p:nvSpPr>
        <p:spPr>
          <a:xfrm>
            <a:off x="8229600" y="1325880"/>
            <a:ext cx="3200400" cy="1280160"/>
          </a:xfrm>
          <a:prstGeom prst="rect">
            <a:avLst/>
          </a:prstGeom>
          <a:noFill/>
          <a:ln/>
        </p:spPr>
        <p:txBody>
          <a:bodyPr wrap="square" lIns="0" tIns="0" rIns="0" bIns="0" rtlCol="0" anchor="ctr"/>
          <a:lstStyle/>
          <a:p>
            <a:pPr indent="0" marL="0">
              <a:spcAft>
                <a:spcPts val="200"/>
              </a:spcAft>
              <a:buNone/>
            </a:pPr>
            <a:r>
              <a:rPr lang="en-US" sz="4000" b="1" dirty="0">
                <a:solidFill>
                  <a:schemeClr val="accent2"/>
                </a:solidFill>
                <a:latin typeface="Cambria" pitchFamily="34" charset="0"/>
                <a:ea typeface="Cambria" pitchFamily="34" charset="-122"/>
                <a:cs typeface="Cambria" pitchFamily="34" charset="-120"/>
              </a:rPr>
              <a:t>9,095</a:t>
            </a:r>
            <a:endParaRPr lang="en-US" sz="4000" dirty="0"/>
          </a:p>
          <a:p>
            <a:pPr indent="0" marL="0">
              <a:spcAft>
                <a:spcPts val="200"/>
              </a:spcAft>
              <a:buNone/>
            </a:pPr>
            <a:r>
              <a:rPr lang="en-US" sz="1400" dirty="0">
                <a:solidFill>
                  <a:schemeClr val="tx2"/>
                </a:solidFill>
              </a:rPr>
              <a:t>steps (SPL 0.10) on a 13,472-photo maze</a:t>
            </a:r>
            <a:endParaRPr lang="en-US" sz="4000" dirty="0"/>
          </a:p>
        </p:txBody>
      </p:sp>
      <p:sp>
        <p:nvSpPr>
          <p:cNvPr id="9" name="dev table title"/>
          <p:cNvSpPr txBox="1"/>
          <p:nvPr/>
        </p:nvSpPr>
        <p:spPr>
          <a:xfrm>
            <a:off x="548640" y="2926080"/>
            <a:ext cx="5394960" cy="365760"/>
          </a:xfrm>
          <a:prstGeom prst="rect">
            <a:avLst/>
          </a:prstGeom>
          <a:noFill/>
          <a:ln/>
        </p:spPr>
        <p:txBody>
          <a:bodyPr wrap="square" lIns="0" tIns="0" rIns="0" bIns="0" rtlCol="0" anchor="ctr"/>
          <a:lstStyle/>
          <a:p>
            <a:pPr indent="0" marL="0">
              <a:buNone/>
            </a:pPr>
            <a:r>
              <a:rPr lang="en-US" sz="1600" b="1" dirty="0">
                <a:solidFill>
                  <a:schemeClr val="tx1"/>
                </a:solidFill>
              </a:rPr>
              <a:t>Development Challenge, same code family</a:t>
            </a:r>
            <a:endParaRPr lang="en-US" sz="1600" dirty="0"/>
          </a:p>
        </p:txBody>
      </p:sp>
      <p:graphicFrame>
        <p:nvGraphicFramePr>
          <p:cNvPr id="6" name="dev table"/>
          <p:cNvGraphicFramePr>
            <a:graphicFrameLocks noGrp="1"/>
          </p:cNvGraphicFramePr>
          <p:nvPr>
            <p:extLst>
              <p:ext uri="{D42A27DB-BD31-4B8C-83A1-F6EECF244321}">
                <p14:modId xmlns:p14="http://schemas.microsoft.com/office/powerpoint/2010/main" val="1579011935"/>
              </p:ext>
            </p:extLst>
          </p:nvPr>
        </p:nvGraphicFramePr>
        <p:xfrm>
          <a:off x="548640" y="3383280"/>
          <a:ext cx="5394960" cy="914400"/>
        </p:xfrm>
        <a:graphic>
          <a:graphicData uri="http://schemas.openxmlformats.org/drawingml/2006/table">
            <a:tbl>
              <a:tblPr/>
              <a:tblGrid>
                <a:gridCol w="1005840"/>
                <a:gridCol w="2103120"/>
                <a:gridCol w="1097280"/>
                <a:gridCol w="1188720"/>
              </a:tblGrid>
              <a:tr h="384048">
                <a:tc>
                  <a:txBody>
                    <a:bodyPr/>
                    <a:lstStyle/>
                    <a:p>
                      <a:pPr indent="0" marL="0">
                        <a:buNone/>
                      </a:pPr>
                      <a:r>
                        <a:rPr lang="en-US" sz="1400" b="1" dirty="0">
                          <a:solidFill>
                            <a:schemeClr val="tx1"/>
                          </a:solidFill>
                        </a:rPr>
                        <a:t>Version</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Entry file</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Steps</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Points</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2"/>
                          </a:solidFill>
                        </a:rPr>
                        <a:t>1</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400" dirty="0">
                          <a:solidFill>
                            <a:schemeClr val="tx2"/>
                          </a:solidFill>
                        </a:rPr>
                        <a:t>my_agent_3073</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3,073</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6/10</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indent="0" marL="0">
                        <a:buNone/>
                      </a:pPr>
                      <a:r>
                        <a:rPr lang="en-US" sz="1400" dirty="0">
                          <a:solidFill>
                            <a:schemeClr val="tx2"/>
                          </a:solidFill>
                        </a:rPr>
                        <a:t>2</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400" dirty="0">
                          <a:solidFill>
                            <a:schemeClr val="tx2"/>
                          </a:solidFill>
                        </a:rPr>
                        <a:t>my_agent_2767</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2,767</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6/10</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indent="0" marL="0">
                        <a:buNone/>
                      </a:pPr>
                      <a:r>
                        <a:rPr lang="en-US" sz="1400" dirty="0">
                          <a:solidFill>
                            <a:schemeClr val="tx2"/>
                          </a:solidFill>
                        </a:rPr>
                        <a:t>3</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400" dirty="0">
                          <a:solidFill>
                            <a:schemeClr val="tx2"/>
                          </a:solidFill>
                        </a:rPr>
                        <a:t>my_agent_1872</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1,872</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6/10</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indent="0" marL="0">
                        <a:buNone/>
                      </a:pPr>
                      <a:r>
                        <a:rPr lang="en-US" sz="1400" b="1" dirty="0">
                          <a:solidFill>
                            <a:schemeClr val="tx2"/>
                          </a:solidFill>
                        </a:rPr>
                        <a:t>4</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indent="0" marL="0">
                        <a:buNone/>
                      </a:pPr>
                      <a:r>
                        <a:rPr lang="en-US" sz="1400" b="1" dirty="0">
                          <a:solidFill>
                            <a:schemeClr val="tx2"/>
                          </a:solidFill>
                        </a:rPr>
                        <a:t>my_agent_1348</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b="1" dirty="0">
                          <a:solidFill>
                            <a:schemeClr val="tx2"/>
                          </a:solidFill>
                        </a:rPr>
                        <a:t>1,348</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b="1" dirty="0">
                          <a:solidFill>
                            <a:schemeClr val="tx2"/>
                          </a:solidFill>
                        </a:rPr>
                        <a:t>7/10</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11" name="steps table title"/>
          <p:cNvSpPr txBox="1"/>
          <p:nvPr/>
        </p:nvSpPr>
        <p:spPr>
          <a:xfrm>
            <a:off x="6263640" y="2926080"/>
            <a:ext cx="5394960" cy="365760"/>
          </a:xfrm>
          <a:prstGeom prst="rect">
            <a:avLst/>
          </a:prstGeom>
          <a:noFill/>
          <a:ln/>
        </p:spPr>
        <p:txBody>
          <a:bodyPr wrap="square" lIns="0" tIns="0" rIns="0" bIns="0" rtlCol="0" anchor="ctr"/>
          <a:lstStyle/>
          <a:p>
            <a:pPr indent="0" marL="0">
              <a:buNone/>
            </a:pPr>
            <a:r>
              <a:rPr lang="en-US" sz="1600" b="1" dirty="0">
                <a:solidFill>
                  <a:schemeClr val="tx1"/>
                </a:solidFill>
              </a:rPr>
              <a:t>Where the mid-term steps went</a:t>
            </a:r>
            <a:endParaRPr lang="en-US" sz="1600" dirty="0"/>
          </a:p>
        </p:txBody>
      </p:sp>
      <p:graphicFrame>
        <p:nvGraphicFramePr>
          <p:cNvPr id="11" name="steps table"/>
          <p:cNvGraphicFramePr>
            <a:graphicFrameLocks noGrp="1"/>
          </p:cNvGraphicFramePr>
          <p:nvPr>
            <p:extLst>
              <p:ext uri="{D42A27DB-BD31-4B8C-83A1-F6EECF244321}">
                <p14:modId xmlns:p14="http://schemas.microsoft.com/office/powerpoint/2010/main" val="1579011935"/>
              </p:ext>
            </p:extLst>
          </p:nvPr>
        </p:nvGraphicFramePr>
        <p:xfrm>
          <a:off x="6263640" y="3383280"/>
          <a:ext cx="5394960" cy="914400"/>
        </p:xfrm>
        <a:graphic>
          <a:graphicData uri="http://schemas.openxmlformats.org/drawingml/2006/table">
            <a:tbl>
              <a:tblPr/>
              <a:tblGrid>
                <a:gridCol w="3200400"/>
                <a:gridCol w="1097280"/>
                <a:gridCol w="1097280"/>
              </a:tblGrid>
              <a:tr h="384048">
                <a:tc>
                  <a:txBody>
                    <a:bodyPr/>
                    <a:lstStyle/>
                    <a:p>
                      <a:pPr indent="0" marL="0">
                        <a:buNone/>
                      </a:pPr>
                      <a:r>
                        <a:rPr lang="en-US" sz="1400" b="1" dirty="0">
                          <a:solidFill>
                            <a:schemeClr val="tx1"/>
                          </a:solidFill>
                        </a:rPr>
                        <a:t>Cause</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Steps</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Share</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2"/>
                          </a:solidFill>
                        </a:rPr>
                        <a:t>Undo (backing up a drive)</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3,252</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36%</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indent="0" marL="0">
                        <a:buNone/>
                      </a:pPr>
                      <a:r>
                        <a:rPr lang="en-US" sz="1400" dirty="0">
                          <a:solidFill>
                            <a:schemeClr val="tx2"/>
                          </a:solidFill>
                        </a:rPr>
                        <a:t>Driving forward</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2,196</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24%</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indent="0" marL="0">
                        <a:buNone/>
                      </a:pPr>
                      <a:r>
                        <a:rPr lang="en-US" sz="1400" dirty="0">
                          <a:solidFill>
                            <a:schemeClr val="tx2"/>
                          </a:solidFill>
                        </a:rPr>
                        <a:t>Waypoint search (spinning)</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1,992</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22%</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indent="0" marL="0">
                        <a:buNone/>
                      </a:pPr>
                      <a:r>
                        <a:rPr lang="en-US" sz="1400" dirty="0">
                          <a:solidFill>
                            <a:schemeClr val="tx2"/>
                          </a:solidFill>
                        </a:rPr>
                        <a:t>Steering turns</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1,345</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15%</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indent="0" marL="0">
                        <a:buNone/>
                      </a:pPr>
                      <a:r>
                        <a:rPr lang="en-US" sz="1400" dirty="0">
                          <a:solidFill>
                            <a:schemeClr val="tx2"/>
                          </a:solidFill>
                        </a:rPr>
                        <a:t>Bumps, recovery, last metre</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310</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r" indent="0" marL="0">
                        <a:buNone/>
                      </a:pPr>
                      <a:r>
                        <a:rPr lang="en-US" sz="1400" dirty="0">
                          <a:solidFill>
                            <a:schemeClr val="tx2"/>
                          </a:solidFill>
                        </a:rPr>
                        <a:t>3%</a:t>
                      </a:r>
                      <a:endParaRPr lang="en-US" sz="1400" dirty="0"/>
                    </a:p>
                  </a:txBody>
                  <a:tcPr marL="91440" marR="91440" marT="45720" marB="45720">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13" name="next steps"/>
          <p:cNvSpPr txBox="1"/>
          <p:nvPr/>
        </p:nvSpPr>
        <p:spPr>
          <a:xfrm>
            <a:off x="548640" y="5897880"/>
            <a:ext cx="10607040" cy="457200"/>
          </a:xfrm>
          <a:prstGeom prst="rect">
            <a:avLst/>
          </a:prstGeom>
          <a:noFill/>
          <a:ln/>
        </p:spPr>
        <p:txBody>
          <a:bodyPr wrap="square" lIns="0" tIns="0" rIns="0" bIns="0" rtlCol="0" anchor="t"/>
          <a:lstStyle/>
          <a:p>
            <a:pPr indent="0" marL="0">
              <a:buNone/>
            </a:pPr>
            <a:r>
              <a:rPr lang="en-US" sz="1400" b="1" dirty="0">
                <a:solidFill>
                  <a:schemeClr val="tx1"/>
                </a:solidFill>
              </a:rPr>
              <a:t>Next: </a:t>
            </a:r>
            <a:pPr indent="0" marL="0">
              <a:buNone/>
            </a:pPr>
            <a:r>
              <a:rPr lang="en-US" sz="1400" dirty="0">
                <a:solidFill>
                  <a:schemeClr val="tx2"/>
                </a:solidFill>
              </a:rPr>
              <a:t>plan backups along a drive instead of undoing them photo by photo, turn the short way when a waypoint is lost, and confirm far belief jumps for longer.</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The mid-term maze, as the robot mapped it</a:t>
            </a:r>
            <a:endParaRPr lang="en-US" sz="3200" dirty="0"/>
          </a:p>
        </p:txBody>
      </p:sp>
      <p:pic>
        <p:nvPicPr>
          <p:cNvPr id="3" name="mid-term top view" descr="Top view of the mid-term maze reconstructed from the robot’s own metric map: grey dots are the 13,472 exploration photos, a line from blue to red is the route the robot believed it drove, with the start and the goal marked">    </p:cNvPr>
          <p:cNvPicPr>
            <a:picLocks noChangeAspect="1"/>
          </p:cNvPicPr>
          <p:nvPr/>
        </p:nvPicPr>
        <p:blipFill>
          <a:blip r:embed="rId1"/>
          <a:stretch>
            <a:fillRect/>
          </a:stretch>
        </p:blipFill>
        <p:spPr>
          <a:xfrm>
            <a:off x="548640" y="1234440"/>
            <a:ext cx="4656566" cy="5029200"/>
          </a:xfrm>
          <a:prstGeom prst="rect">
            <a:avLst/>
          </a:prstGeom>
        </p:spPr>
      </p:pic>
      <p:sp>
        <p:nvSpPr>
          <p:cNvPr id="4" name="mid-term caption"/>
          <p:cNvSpPr txBox="1"/>
          <p:nvPr/>
        </p:nvSpPr>
        <p:spPr>
          <a:xfrm>
            <a:off x="5570966" y="1234440"/>
            <a:ext cx="6087634" cy="502920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Reconstructed, not ground truth. </a:t>
            </a:r>
            <a:pPr indent="0" marL="0">
              <a:spcAft>
                <a:spcPts val="1200"/>
              </a:spcAft>
              <a:buNone/>
            </a:pPr>
            <a:r>
              <a:rPr lang="en-US" sz="1500" dirty="0">
                <a:solidFill>
                  <a:schemeClr val="tx2"/>
                </a:solidFill>
              </a:rPr>
              <a:t>The server never reveals the maze or the robot’s position, so this is the robot’s own metric map of the 13,472 exploration photos (vanishing-point compass, SuperGlue rotations, loop closures).</a:t>
            </a:r>
            <a:endParaRPr lang="en-US" sz="1500" dirty="0"/>
          </a:p>
          <a:p>
            <a:pPr indent="0" marL="0">
              <a:spcAft>
                <a:spcPts val="1200"/>
              </a:spcAft>
              <a:buNone/>
            </a:pPr>
            <a:r>
              <a:rPr lang="en-US" sz="1500" b="1" dirty="0">
                <a:solidFill>
                  <a:schemeClr val="tx1"/>
                </a:solidFill>
              </a:rPr>
              <a:t>Dotted lines: </a:t>
            </a:r>
            <a:pPr indent="0" marL="0">
              <a:spcAft>
                <a:spcPts val="1200"/>
              </a:spcAft>
              <a:buNone/>
            </a:pPr>
            <a:r>
              <a:rPr lang="en-US" sz="1500" dirty="0">
                <a:solidFill>
                  <a:schemeClr val="tx2"/>
                </a:solidFill>
              </a:rPr>
              <a:t>the three exploration drives, one tone each, as the robot placed them.</a:t>
            </a:r>
            <a:endParaRPr lang="en-US" sz="1500" dirty="0"/>
          </a:p>
          <a:p>
            <a:pPr indent="0" marL="0">
              <a:spcAft>
                <a:spcPts val="1200"/>
              </a:spcAft>
              <a:buNone/>
            </a:pPr>
            <a:r>
              <a:rPr lang="en-US" sz="1500" b="1" dirty="0">
                <a:solidFill>
                  <a:schemeClr val="tx1"/>
                </a:solidFill>
              </a:rPr>
              <a:t>Coloured line: </a:t>
            </a:r>
            <a:pPr indent="0" marL="0">
              <a:spcAft>
                <a:spcPts val="1200"/>
              </a:spcAft>
              <a:buNone/>
            </a:pPr>
            <a:r>
              <a:rPr lang="en-US" sz="1500" dirty="0">
                <a:solidFill>
                  <a:schemeClr val="tx2"/>
                </a:solidFill>
              </a:rPr>
              <a:t>the route the robot believed it drove, blue at the start to red at the check-in (0.022 m from the goal).</a:t>
            </a:r>
            <a:endParaRPr lang="en-US" sz="1500" dirty="0"/>
          </a:p>
          <a:p>
            <a:pPr indent="0" marL="0">
              <a:spcAft>
                <a:spcPts val="1200"/>
              </a:spcAft>
              <a:buNone/>
            </a:pPr>
            <a:r>
              <a:rPr lang="en-US" sz="1500" b="1" dirty="0">
                <a:solidFill>
                  <a:schemeClr val="accent2"/>
                </a:solidFill>
              </a:rPr>
              <a:t>Not to scale. </a:t>
            </a:r>
            <a:pPr indent="0" marL="0">
              <a:spcAft>
                <a:spcPts val="1200"/>
              </a:spcAft>
              <a:buNone/>
            </a:pPr>
            <a:r>
              <a:rPr lang="en-US" sz="1500" dirty="0">
                <a:solidFill>
                  <a:schemeClr val="tx2"/>
                </a:solidFill>
              </a:rPr>
              <a:t>Over this many photos the headings drift: corridors come out curved, the drives do not line up, and the map spans about 28 m. It shows the order of the journey, not exact positions.</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Visual Navigation">
  <a:themeElements>
    <a:clrScheme name="Visual Navigation">
      <a:dk1>
        <a:srgbClr val="14213D"/>
      </a:dk1>
      <a:lt1>
        <a:srgbClr val="FFFFFF"/>
      </a:lt1>
      <a:dk2>
        <a:srgbClr val="3A4556"/>
      </a:dk2>
      <a:lt2>
        <a:srgbClr val="EEF2F6"/>
      </a:lt2>
      <a:accent1>
        <a:srgbClr val="2B6CB0"/>
      </a:accent1>
      <a:accent2>
        <a:srgbClr val="C05621"/>
      </a:accent2>
      <a:accent3>
        <a:srgbClr val="9AA5B4"/>
      </a:accent3>
      <a:accent4>
        <a:srgbClr val="F6C391"/>
      </a:accent4>
      <a:accent5>
        <a:srgbClr val="DCE6F2"/>
      </a:accent5>
      <a:accent6>
        <a:srgbClr val="FBEADF"/>
      </a:accent6>
      <a:hlink>
        <a:srgbClr val="2B6CB0"/>
      </a:hlink>
      <a:folHlink>
        <a:srgbClr val="5A7A99"/>
      </a:folHlink>
    </a:clrScheme>
    <a:fontScheme name="Visual Navig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 Perception Course Project - Mid-term Report</dc:title>
  <dc:subject>Visual Navigation Challenge, Fall 2026</dc:subject>
  <dc:creator>PptxGenJS</dc:creator>
  <cp:lastModifiedBy>PptxGenJS</cp:lastModifiedBy>
  <cp:revision>1</cp:revision>
  <dcterms:created xsi:type="dcterms:W3CDTF">2026-10-29T05:57:08Z</dcterms:created>
  <dcterms:modified xsi:type="dcterms:W3CDTF">2026-10-29T05:57:08Z</dcterms:modified>
</cp:coreProperties>
</file>