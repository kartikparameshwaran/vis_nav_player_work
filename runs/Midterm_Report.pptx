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e28ea805-af8e-8f04-8b55-27502e4815fd}">
          <p14:sldIdLst>
            <p14:sldId id="256"/>
          </p14:sldIdLst>
        </p14:section>
        <p14:section name="Problem" id="{6c848e42-1863-6999-57e5-7b06803d7a67}">
          <p14:sldIdLst>
            <p14:sldId id="257"/>
          </p14:sldIdLst>
        </p14:section>
        <p14:section name="Method" id="{600c5060-5902-296d-7b13-4329809da538}">
          <p14:sldIdLst>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Perception course project, Visual Navigation Challenge: mid-term report. The picture is the mid-term maze as the robot mapped it, with the route it believed it drove from the start to the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camera-only navigation to a goal given by four photos, using a prior set of exploration photos, scored on distance, heading and SPL. Our solution builds on SPTM’s topological memory of photos, with AnyLoc (DINOv2 + VLAD) for place recognition and SuperPoint + SuperGlue for geometric checks and measured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first move (none of this costs steps): a topological graph of the exploration photos (SPTM style), shortcuts between drives verified geometrically, a metric map from a vanishing-point compass, SuperGlue rotations and loop closures, and the goal node chosen by matching the four goal photos. Online, each decision: localise with AnyLoc, plan with Dijkstra, move by the measured angle to the next waypoint photo (or the learned L network), and finish with a last-metre controller that matches the goal photos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ideas on top of the pipeline, each added after a measured failure. The picture is a local test maze run with the exact mid-term code; only locally can the true path be drawn, since the server never reveals the robot’s position. The three photos show the idea end to end: the goal photo the robot is given, the exploration photo it picked as the goal node before moving, and its own camera when it checked in 2 cm from the goal. The knot at the top left is about 1,700 steps that got no closer to the goal: following the L network, undoing recorded moves and searching for a waypoint, the same kind of waste that cost the mid-term its SPL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783080"/>
            <a:ext cx="64008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spc="150" kern="0" dirty="0">
                <a:solidFill>
                  <a:schemeClr val="accent3"/>
                </a:solidFill>
              </a:rPr>
              <a:t>VISUAL NAVIGATION CHALLENGE  ·  MID-TERM REPORT</a:t>
            </a:r>
            <a:endParaRPr lang="en-US" sz="9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822960" y="1188720"/>
            <a:ext cx="6583680" cy="365760"/>
          </a:xfrm>
          <a:prstGeom prst="rect">
            <a:avLst/>
          </a:prstGeom>
          <a:noFill/>
          <a:ln/>
        </p:spPr>
        <p:txBody>
          <a:bodyPr wrap="square" lIns="0" tIns="0" rIns="0" bIns="0" rtlCol="0" anchor="ctr"/>
          <a:lstStyle/>
          <a:p>
            <a:pPr indent="0" marL="0">
              <a:buNone/>
            </a:pPr>
            <a:r>
              <a:rPr lang="en-US" sz="1300" spc="200" kern="0" dirty="0">
                <a:solidFill>
                  <a:schemeClr val="accent5"/>
                </a:solidFill>
              </a:rPr>
              <a:t>VISUAL NAVIGATION CHALLENGE  ·  MID-TERM REPORT  ·  FALL 2026</a:t>
            </a:r>
            <a:endParaRPr lang="en-US" sz="1300" dirty="0"/>
          </a:p>
        </p:txBody>
      </p:sp>
      <p:sp>
        <p:nvSpPr>
          <p:cNvPr id="3" name="Text 0"/>
          <p:cNvSpPr/>
          <p:nvPr>
            <p:ph idx="100" type="title" hasCustomPrompt="1"/>
          </p:nvPr>
        </p:nvSpPr>
        <p:spPr>
          <a:xfrm>
            <a:off x="822960" y="1783080"/>
            <a:ext cx="6400800" cy="1737360"/>
          </a:xfrm>
          <a:prstGeom prst="rect">
            <a:avLst/>
          </a:prstGeom>
          <a:noFill/>
          <a:ln/>
        </p:spPr>
        <p:txBody>
          <a:bodyPr wrap="square" lIns="0" tIns="0" rIns="0" bIns="0" rtlCol="0" anchor="t"/>
          <a:lstStyle/>
          <a:p>
            <a:pPr algn="l" indent="0" marL="0">
              <a:buNone/>
            </a:pPr>
            <a:r>
              <a:rPr lang="en-US" sz="4400" b="1" dirty="0">
                <a:solidFill>
                  <a:schemeClr val="bg1"/>
                </a:solidFill>
              </a:rPr>
              <a:t>Robot Perception</a:t>
            </a:r>
            <a:endParaRPr lang="en-US" sz="4400" dirty="0"/>
          </a:p>
          <a:p>
            <a:pPr algn="l" indent="0" marL="0">
              <a:buNone/>
            </a:pPr>
            <a:r>
              <a:rPr lang="en-US" sz="4400" b="1" dirty="0">
                <a:solidFill>
                  <a:schemeClr val="bg1"/>
                </a:solidFill>
              </a:rPr>
              <a:t>Course Project</a:t>
            </a:r>
            <a:endParaRPr lang="en-US" sz="4400" dirty="0"/>
          </a:p>
        </p:txBody>
      </p:sp>
      <p:sp>
        <p:nvSpPr>
          <p:cNvPr id="4" name="team"/>
          <p:cNvSpPr txBox="1"/>
          <p:nvPr/>
        </p:nvSpPr>
        <p:spPr>
          <a:xfrm>
            <a:off x="822960" y="3703320"/>
            <a:ext cx="6400800" cy="640080"/>
          </a:xfrm>
          <a:prstGeom prst="rect">
            <a:avLst/>
          </a:prstGeom>
          <a:noFill/>
          <a:ln/>
        </p:spPr>
        <p:txBody>
          <a:bodyPr wrap="square" lIns="0" tIns="0" rIns="0" bIns="0" rtlCol="0" anchor="ctr"/>
          <a:lstStyle/>
          <a:p>
            <a:pPr indent="0" marL="0">
              <a:buNone/>
            </a:pPr>
            <a:r>
              <a:rPr lang="en-US" sz="3000" dirty="0">
                <a:solidFill>
                  <a:schemeClr val="accent4"/>
                </a:solidFill>
                <a:latin typeface="Cambria" pitchFamily="34" charset="0"/>
                <a:ea typeface="Cambria" pitchFamily="34" charset="-122"/>
                <a:cs typeface="Cambria" pitchFamily="34" charset="-120"/>
              </a:rPr>
              <a:t>[Team Name]</a:t>
            </a:r>
            <a:endParaRPr lang="en-US" sz="3000" dirty="0"/>
          </a:p>
        </p:txBody>
      </p:sp>
      <p:sp>
        <p:nvSpPr>
          <p:cNvPr id="5" name="members"/>
          <p:cNvSpPr txBox="1"/>
          <p:nvPr/>
        </p:nvSpPr>
        <p:spPr>
          <a:xfrm>
            <a:off x="822960" y="4526280"/>
            <a:ext cx="6400800" cy="914400"/>
          </a:xfrm>
          <a:prstGeom prst="rect">
            <a:avLst/>
          </a:prstGeom>
          <a:noFill/>
          <a:ln/>
        </p:spPr>
        <p:txBody>
          <a:bodyPr wrap="square" lIns="0" tIns="0" rIns="0" bIns="0" rtlCol="0" anchor="ctr"/>
          <a:lstStyle/>
          <a:p>
            <a:pPr indent="0" marL="0">
              <a:spcAft>
                <a:spcPts val="600"/>
              </a:spcAft>
              <a:buNone/>
            </a:pPr>
            <a:r>
              <a:rPr lang="en-US" sz="2000" dirty="0">
                <a:solidFill>
                  <a:schemeClr val="accent5"/>
                </a:solidFill>
              </a:rPr>
              <a:t>Kartik Parameshwaran ([NetID1])</a:t>
            </a:r>
            <a:endParaRPr lang="en-US" sz="2000" dirty="0"/>
          </a:p>
          <a:p>
            <a:pPr indent="0" marL="0">
              <a:spcAft>
                <a:spcPts val="600"/>
              </a:spcAft>
              <a:buNone/>
            </a:pPr>
            <a:r>
              <a:rPr lang="en-US" sz="2000" dirty="0">
                <a:solidFill>
                  <a:schemeClr val="accent5"/>
                </a:solidFill>
              </a:rPr>
              <a:t>[Arya’s full name] ([NetID2])</a:t>
            </a:r>
            <a:endParaRPr lang="en-US" sz="2000" dirty="0"/>
          </a:p>
        </p:txBody>
      </p:sp>
      <p:sp>
        <p:nvSpPr>
          <p:cNvPr id="6" name="maze picture frame"/>
          <p:cNvSpPr/>
          <p:nvPr/>
        </p:nvSpPr>
        <p:spPr>
          <a:xfrm>
            <a:off x="7863840" y="960120"/>
            <a:ext cx="3794760" cy="4572080"/>
          </a:xfrm>
          <a:prstGeom prst="roundRect">
            <a:avLst>
              <a:gd name="adj" fmla="val 2892"/>
            </a:avLst>
          </a:prstGeom>
          <a:solidFill>
            <a:schemeClr val="tx2"/>
          </a:solidFill>
          <a:ln w="12700">
            <a:solidFill>
              <a:schemeClr val="tx2"/>
            </a:solidFill>
            <a:prstDash val="solid"/>
          </a:ln>
        </p:spPr>
      </p:sp>
      <p:pic>
        <p:nvPicPr>
          <p:cNvPr id="7" name="title mid-term map" descr="Top view of the mid-term maze reconstructed from the robot’s own metric map, with the route it believed it drove from the start to the check-in">    </p:cNvPr>
          <p:cNvPicPr>
            <a:picLocks noChangeAspect="1"/>
          </p:cNvPicPr>
          <p:nvPr/>
        </p:nvPicPr>
        <p:blipFill>
          <a:blip r:embed="rId1"/>
          <a:stretch>
            <a:fillRect/>
          </a:stretch>
        </p:blipFill>
        <p:spPr>
          <a:xfrm>
            <a:off x="8046720" y="1143000"/>
            <a:ext cx="3429000" cy="3703400"/>
          </a:xfrm>
          <a:prstGeom prst="rect">
            <a:avLst/>
          </a:prstGeom>
        </p:spPr>
      </p:pic>
      <p:sp>
        <p:nvSpPr>
          <p:cNvPr id="8" name="title maze caption"/>
          <p:cNvSpPr txBox="1"/>
          <p:nvPr/>
        </p:nvSpPr>
        <p:spPr>
          <a:xfrm>
            <a:off x="8046720" y="4892120"/>
            <a:ext cx="3429000" cy="548640"/>
          </a:xfrm>
          <a:prstGeom prst="rect">
            <a:avLst/>
          </a:prstGeom>
          <a:noFill/>
          <a:ln/>
        </p:spPr>
        <p:txBody>
          <a:bodyPr wrap="square" lIns="0" tIns="0" rIns="0" bIns="0" rtlCol="0" anchor="ctr"/>
          <a:lstStyle/>
          <a:p>
            <a:pPr indent="0" marL="0">
              <a:buNone/>
            </a:pPr>
            <a:r>
              <a:rPr lang="en-US" sz="1050" i="1" dirty="0">
                <a:solidFill>
                  <a:schemeClr val="accent5"/>
                </a:solidFill>
              </a:rPr>
              <a:t>The mid-term maze as the robot mapped it: its route from start to check-in (own map, not to scale)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PROBLEM</a:t>
            </a:r>
            <a:endParaRPr lang="en-US" sz="1100" dirty="0"/>
          </a:p>
        </p:txBody>
      </p:sp>
      <p:sp>
        <p:nvSpPr>
          <p:cNvPr id="3" name="Text 0"/>
          <p:cNvSpPr/>
          <p:nvPr>
            <p:ph idx="100" type="title" hasCustomPrompt="1"/>
          </p:nvPr>
        </p:nvSpPr>
        <p:spPr>
          <a:xfrm>
            <a:off x="548640" y="548640"/>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Description of the problem and references</a:t>
            </a:r>
            <a:endParaRPr lang="en-US" sz="3000" dirty="0"/>
          </a:p>
        </p:txBody>
      </p:sp>
      <p:sp>
        <p:nvSpPr>
          <p:cNvPr id="4" name="fact 1 circle"/>
          <p:cNvSpPr/>
          <p:nvPr/>
        </p:nvSpPr>
        <p:spPr>
          <a:xfrm>
            <a:off x="548640" y="1481328"/>
            <a:ext cx="329184" cy="329184"/>
          </a:xfrm>
          <a:prstGeom prst="ellipse">
            <a:avLst/>
          </a:prstGeom>
          <a:solidFill>
            <a:schemeClr val="accent1"/>
          </a:solidFill>
          <a:ln w="12700">
            <a:solidFill>
              <a:schemeClr val="accent1"/>
            </a:solidFill>
            <a:prstDash val="solid"/>
          </a:ln>
        </p:spPr>
      </p:sp>
      <p:sp>
        <p:nvSpPr>
          <p:cNvPr id="5" name="fact 1 number"/>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fact 1 text"/>
          <p:cNvSpPr txBox="1"/>
          <p:nvPr/>
        </p:nvSpPr>
        <p:spPr>
          <a:xfrm>
            <a:off x="1051560" y="1463040"/>
            <a:ext cx="5897880" cy="8686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The goal</a:t>
            </a:r>
            <a:endParaRPr lang="en-US" sz="1500" dirty="0"/>
          </a:p>
          <a:p>
            <a:pPr indent="0" marL="0">
              <a:spcAft>
                <a:spcPts val="200"/>
              </a:spcAft>
              <a:buNone/>
            </a:pPr>
            <a:r>
              <a:rPr lang="en-US" sz="1500" dirty="0">
                <a:solidFill>
                  <a:schemeClr val="tx2"/>
                </a:solidFill>
              </a:rPr>
              <a:t>A robot starts in an unknown maze and must reach a goal it knows only from </a:t>
            </a:r>
            <a:pPr indent="0" marL="0">
              <a:spcAft>
                <a:spcPts val="200"/>
              </a:spcAft>
              <a:buNone/>
            </a:pPr>
            <a:r>
              <a:rPr lang="en-US" sz="1500" b="1" dirty="0">
                <a:solidFill>
                  <a:schemeClr val="tx2"/>
                </a:solidFill>
              </a:rPr>
              <a:t>four photos</a:t>
            </a:r>
            <a:pPr indent="0" marL="0">
              <a:spcAft>
                <a:spcPts val="200"/>
              </a:spcAft>
              <a:buNone/>
            </a:pPr>
            <a:r>
              <a:rPr lang="en-US" sz="1500" dirty="0">
                <a:solidFill>
                  <a:schemeClr val="tx2"/>
                </a:solidFill>
              </a:rPr>
              <a:t> taken there (front, left, back, right).</a:t>
            </a:r>
            <a:endParaRPr lang="en-US" sz="1500" dirty="0"/>
          </a:p>
        </p:txBody>
      </p:sp>
      <p:sp>
        <p:nvSpPr>
          <p:cNvPr id="7" name="fact 2 circle"/>
          <p:cNvSpPr/>
          <p:nvPr/>
        </p:nvSpPr>
        <p:spPr>
          <a:xfrm>
            <a:off x="548640" y="2414016"/>
            <a:ext cx="329184" cy="329184"/>
          </a:xfrm>
          <a:prstGeom prst="ellipse">
            <a:avLst/>
          </a:prstGeom>
          <a:solidFill>
            <a:schemeClr val="accent1"/>
          </a:solidFill>
          <a:ln w="12700">
            <a:solidFill>
              <a:schemeClr val="accent1"/>
            </a:solidFill>
            <a:prstDash val="solid"/>
          </a:ln>
        </p:spPr>
      </p:sp>
      <p:sp>
        <p:nvSpPr>
          <p:cNvPr id="8" name="fact 2 number"/>
          <p:cNvSpPr txBox="1"/>
          <p:nvPr/>
        </p:nvSpPr>
        <p:spPr>
          <a:xfrm>
            <a:off x="548640" y="241401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fact 2 text"/>
          <p:cNvSpPr txBox="1"/>
          <p:nvPr/>
        </p:nvSpPr>
        <p:spPr>
          <a:xfrm>
            <a:off x="1051560" y="2395728"/>
            <a:ext cx="5897880" cy="8686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What it sees</a:t>
            </a:r>
            <a:endParaRPr lang="en-US" sz="1500" dirty="0"/>
          </a:p>
          <a:p>
            <a:pPr indent="0" marL="0">
              <a:spcAft>
                <a:spcPts val="200"/>
              </a:spcAft>
              <a:buNone/>
            </a:pPr>
            <a:r>
              <a:rPr lang="en-US" sz="1500" dirty="0">
                <a:solidFill>
                  <a:schemeClr val="tx2"/>
                </a:solidFill>
              </a:rPr>
              <a:t>Only its own </a:t>
            </a:r>
            <a:pPr indent="0" marL="0">
              <a:spcAft>
                <a:spcPts val="200"/>
              </a:spcAft>
              <a:buNone/>
            </a:pPr>
            <a:r>
              <a:rPr lang="en-US" sz="1500" b="1" dirty="0">
                <a:solidFill>
                  <a:schemeClr val="tx2"/>
                </a:solidFill>
              </a:rPr>
              <a:t>320 × 240 camera frame</a:t>
            </a:r>
            <a:pPr indent="0" marL="0">
              <a:spcAft>
                <a:spcPts val="200"/>
              </a:spcAft>
              <a:buNone/>
            </a:pPr>
            <a:r>
              <a:rPr lang="en-US" sz="1500" dirty="0">
                <a:solidFill>
                  <a:schemeClr val="tx2"/>
                </a:solidFill>
              </a:rPr>
              <a:t>: no position, no map, no collision signal.</a:t>
            </a:r>
            <a:endParaRPr lang="en-US" sz="1500" dirty="0"/>
          </a:p>
        </p:txBody>
      </p:sp>
      <p:sp>
        <p:nvSpPr>
          <p:cNvPr id="10" name="fact 3 circle"/>
          <p:cNvSpPr/>
          <p:nvPr/>
        </p:nvSpPr>
        <p:spPr>
          <a:xfrm>
            <a:off x="548640" y="3346704"/>
            <a:ext cx="329184" cy="329184"/>
          </a:xfrm>
          <a:prstGeom prst="ellipse">
            <a:avLst/>
          </a:prstGeom>
          <a:solidFill>
            <a:schemeClr val="accent1"/>
          </a:solidFill>
          <a:ln w="12700">
            <a:solidFill>
              <a:schemeClr val="accent1"/>
            </a:solidFill>
            <a:prstDash val="solid"/>
          </a:ln>
        </p:spPr>
      </p:sp>
      <p:sp>
        <p:nvSpPr>
          <p:cNvPr id="11" name="fact 3 number"/>
          <p:cNvSpPr txBox="1"/>
          <p:nvPr/>
        </p:nvSpPr>
        <p:spPr>
          <a:xfrm>
            <a:off x="548640" y="334670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fact 3 text"/>
          <p:cNvSpPr txBox="1"/>
          <p:nvPr/>
        </p:nvSpPr>
        <p:spPr>
          <a:xfrm>
            <a:off x="1051560" y="3328416"/>
            <a:ext cx="5897880" cy="8686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What it may study</a:t>
            </a:r>
            <a:endParaRPr lang="en-US" sz="1500" dirty="0"/>
          </a:p>
          <a:p>
            <a:pPr indent="0" marL="0">
              <a:spcAft>
                <a:spcPts val="200"/>
              </a:spcAft>
              <a:buNone/>
            </a:pPr>
            <a:r>
              <a:rPr lang="en-US" sz="1500" dirty="0">
                <a:solidFill>
                  <a:schemeClr val="tx2"/>
                </a:solidFill>
              </a:rPr>
              <a:t>Before the run, the frames of </a:t>
            </a:r>
            <a:pPr indent="0" marL="0">
              <a:spcAft>
                <a:spcPts val="200"/>
              </a:spcAft>
              <a:buNone/>
            </a:pPr>
            <a:r>
              <a:rPr lang="en-US" sz="1500" b="1" dirty="0">
                <a:solidFill>
                  <a:schemeClr val="tx2"/>
                </a:solidFill>
              </a:rPr>
              <a:t>three earlier exploration drives</a:t>
            </a:r>
            <a:pPr indent="0" marL="0">
              <a:spcAft>
                <a:spcPts val="200"/>
              </a:spcAft>
              <a:buNone/>
            </a:pPr>
            <a:r>
              <a:rPr lang="en-US" sz="1500" dirty="0">
                <a:solidFill>
                  <a:schemeClr val="tx2"/>
                </a:solidFill>
              </a:rPr>
              <a:t> through the same maze, each labelled with the move made after it.</a:t>
            </a:r>
            <a:endParaRPr lang="en-US" sz="1500" dirty="0"/>
          </a:p>
        </p:txBody>
      </p:sp>
      <p:sp>
        <p:nvSpPr>
          <p:cNvPr id="13" name="fact 4 circle"/>
          <p:cNvSpPr/>
          <p:nvPr/>
        </p:nvSpPr>
        <p:spPr>
          <a:xfrm>
            <a:off x="548640" y="4279392"/>
            <a:ext cx="329184" cy="329184"/>
          </a:xfrm>
          <a:prstGeom prst="ellipse">
            <a:avLst/>
          </a:prstGeom>
          <a:solidFill>
            <a:schemeClr val="accent1"/>
          </a:solidFill>
          <a:ln w="12700">
            <a:solidFill>
              <a:schemeClr val="accent1"/>
            </a:solidFill>
            <a:prstDash val="solid"/>
          </a:ln>
        </p:spPr>
      </p:sp>
      <p:sp>
        <p:nvSpPr>
          <p:cNvPr id="14" name="fact 4 number"/>
          <p:cNvSpPr txBox="1"/>
          <p:nvPr/>
        </p:nvSpPr>
        <p:spPr>
          <a:xfrm>
            <a:off x="548640" y="42793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fact 4 text"/>
          <p:cNvSpPr txBox="1"/>
          <p:nvPr/>
        </p:nvSpPr>
        <p:spPr>
          <a:xfrm>
            <a:off x="1051560" y="4261104"/>
            <a:ext cx="5897880" cy="8686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How it scores</a:t>
            </a:r>
            <a:endParaRPr lang="en-US" sz="1500" dirty="0"/>
          </a:p>
          <a:p>
            <a:pPr indent="0" marL="0">
              <a:spcAft>
                <a:spcPts val="200"/>
              </a:spcAft>
              <a:buNone/>
            </a:pPr>
            <a:r>
              <a:rPr lang="en-US" sz="1500" dirty="0">
                <a:solidFill>
                  <a:schemeClr val="tx2"/>
                </a:solidFill>
              </a:rPr>
              <a:t>Only by </a:t>
            </a:r>
            <a:pPr indent="0" marL="0">
              <a:spcAft>
                <a:spcPts val="200"/>
              </a:spcAft>
              <a:buNone/>
            </a:pPr>
            <a:r>
              <a:rPr lang="en-US" sz="1500" b="1" dirty="0">
                <a:solidFill>
                  <a:schemeClr val="tx2"/>
                </a:solidFill>
              </a:rPr>
              <a:t>checking in within 0.2 m and 20°</a:t>
            </a:r>
            <a:pPr indent="0" marL="0">
              <a:spcAft>
                <a:spcPts val="200"/>
              </a:spcAft>
              <a:buNone/>
            </a:pPr>
            <a:r>
              <a:rPr lang="en-US" sz="1500" dirty="0">
                <a:solidFill>
                  <a:schemeClr val="tx2"/>
                </a:solidFill>
              </a:rPr>
              <a:t> of the goal pose; points come from distance, heading and path efficiency (SPL).</a:t>
            </a:r>
            <a:endParaRPr lang="en-US" sz="1500" dirty="0"/>
          </a:p>
        </p:txBody>
      </p:sp>
      <p:sp>
        <p:nvSpPr>
          <p:cNvPr id="16" name="conclusion callout"/>
          <p:cNvSpPr/>
          <p:nvPr/>
        </p:nvSpPr>
        <p:spPr>
          <a:xfrm>
            <a:off x="548640" y="5303520"/>
            <a:ext cx="6400800" cy="960120"/>
          </a:xfrm>
          <a:prstGeom prst="roundRect">
            <a:avLst>
              <a:gd name="adj" fmla="val 11429"/>
            </a:avLst>
          </a:prstGeom>
          <a:solidFill>
            <a:schemeClr val="accent5"/>
          </a:solidFill>
          <a:ln w="12700">
            <a:solidFill>
              <a:schemeClr val="accent5"/>
            </a:solidFill>
            <a:prstDash val="solid"/>
          </a:ln>
        </p:spPr>
      </p:sp>
      <p:sp>
        <p:nvSpPr>
          <p:cNvPr id="17" name="conclusion"/>
          <p:cNvSpPr txBox="1"/>
          <p:nvPr/>
        </p:nvSpPr>
        <p:spPr>
          <a:xfrm>
            <a:off x="777240" y="5303520"/>
            <a:ext cx="5989320" cy="960120"/>
          </a:xfrm>
          <a:prstGeom prst="rect">
            <a:avLst/>
          </a:prstGeom>
          <a:noFill/>
          <a:ln/>
        </p:spPr>
        <p:txBody>
          <a:bodyPr wrap="square" lIns="0" tIns="0" rIns="0" bIns="0" rtlCol="0" anchor="ctr"/>
          <a:lstStyle/>
          <a:p>
            <a:pPr indent="0" marL="0">
              <a:buNone/>
            </a:pPr>
            <a:r>
              <a:rPr lang="en-US" sz="1600" b="1" dirty="0">
                <a:solidFill>
                  <a:schemeClr val="accent1"/>
                </a:solidFill>
              </a:rPr>
              <a:t>So: work out where you are and where the goal is from pixels alone, then get there in as few steps as possible.</a:t>
            </a:r>
            <a:endParaRPr lang="en-US" sz="1600" dirty="0"/>
          </a:p>
        </p:txBody>
      </p:sp>
      <p:sp>
        <p:nvSpPr>
          <p:cNvPr id="18" name="references card"/>
          <p:cNvSpPr/>
          <p:nvPr/>
        </p:nvSpPr>
        <p:spPr>
          <a:xfrm>
            <a:off x="7315200" y="1463040"/>
            <a:ext cx="4343400" cy="4800600"/>
          </a:xfrm>
          <a:prstGeom prst="roundRect">
            <a:avLst>
              <a:gd name="adj" fmla="val 2526"/>
            </a:avLst>
          </a:prstGeom>
          <a:solidFill>
            <a:schemeClr val="bg2"/>
          </a:solidFill>
          <a:ln w="12700">
            <a:solidFill>
              <a:schemeClr val="bg2"/>
            </a:solidFill>
            <a:prstDash val="solid"/>
          </a:ln>
        </p:spPr>
      </p:sp>
      <p:sp>
        <p:nvSpPr>
          <p:cNvPr id="19" name="references title"/>
          <p:cNvSpPr txBox="1"/>
          <p:nvPr/>
        </p:nvSpPr>
        <p:spPr>
          <a:xfrm>
            <a:off x="7589520" y="1645920"/>
            <a:ext cx="3840480" cy="411480"/>
          </a:xfrm>
          <a:prstGeom prst="rect">
            <a:avLst/>
          </a:prstGeom>
          <a:noFill/>
          <a:ln/>
        </p:spPr>
        <p:txBody>
          <a:bodyPr wrap="square" lIns="0" tIns="0" rIns="0" bIns="0" rtlCol="0" anchor="ctr"/>
          <a:lstStyle/>
          <a:p>
            <a:pPr indent="0" marL="0">
              <a:buNone/>
            </a:pPr>
            <a:r>
              <a:rPr lang="en-US" sz="1700" b="1" dirty="0">
                <a:solidFill>
                  <a:schemeClr val="tx1"/>
                </a:solidFill>
              </a:rPr>
              <a:t>References</a:t>
            </a:r>
            <a:endParaRPr lang="en-US" sz="1700" dirty="0"/>
          </a:p>
        </p:txBody>
      </p:sp>
      <p:sp>
        <p:nvSpPr>
          <p:cNvPr id="20" name="references list"/>
          <p:cNvSpPr txBox="1"/>
          <p:nvPr/>
        </p:nvSpPr>
        <p:spPr>
          <a:xfrm>
            <a:off x="7589520" y="2103120"/>
            <a:ext cx="3886200" cy="40690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chemeClr val="tx2"/>
                </a:solidFill>
              </a:rPr>
              <a:t>Savinov et al., SPTM: Semi-Parametric Topological Memory for Navigation, ICLR 2018</a:t>
            </a:r>
            <a:endParaRPr lang="en-US" sz="1200" dirty="0"/>
          </a:p>
          <a:p>
            <a:pPr marL="342900" indent="-342900">
              <a:spcAft>
                <a:spcPts val="500"/>
              </a:spcAft>
              <a:buSzPct val="100000"/>
              <a:buFont typeface="+mj-lt"/>
              <a:buAutoNum type="arabicPeriod" startAt="1"/>
            </a:pPr>
            <a:r>
              <a:rPr lang="en-US" sz="1200" dirty="0">
                <a:solidFill>
                  <a:schemeClr val="tx2"/>
                </a:solidFill>
              </a:rPr>
              <a:t>Keetha et al., AnyLoc: Towards Universal Visual Place Recognition, IEEE RA-L 2023</a:t>
            </a:r>
            <a:endParaRPr lang="en-US" sz="1200" dirty="0"/>
          </a:p>
          <a:p>
            <a:pPr marL="342900" indent="-342900">
              <a:spcAft>
                <a:spcPts val="500"/>
              </a:spcAft>
              <a:buSzPct val="100000"/>
              <a:buFont typeface="+mj-lt"/>
              <a:buAutoNum type="arabicPeriod" startAt="1"/>
            </a:pPr>
            <a:r>
              <a:rPr lang="en-US" sz="1200" dirty="0">
                <a:solidFill>
                  <a:schemeClr val="tx2"/>
                </a:solidFill>
              </a:rPr>
              <a:t>Oquab et al., DINOv2: Learning Robust Visual Features without Supervision, TMLR 2024</a:t>
            </a:r>
            <a:endParaRPr lang="en-US" sz="1200" dirty="0"/>
          </a:p>
          <a:p>
            <a:pPr marL="342900" indent="-342900">
              <a:spcAft>
                <a:spcPts val="500"/>
              </a:spcAft>
              <a:buSzPct val="100000"/>
              <a:buFont typeface="+mj-lt"/>
              <a:buAutoNum type="arabicPeriod" startAt="1"/>
            </a:pPr>
            <a:r>
              <a:rPr lang="en-US" sz="1200" dirty="0">
                <a:solidFill>
                  <a:schemeClr val="tx2"/>
                </a:solidFill>
              </a:rPr>
              <a:t>Arandjelović et al., NetVLAD: CNN Architecture for Weakly Supervised Place Recognition, CVPR 2016</a:t>
            </a:r>
            <a:endParaRPr lang="en-US" sz="1200" dirty="0"/>
          </a:p>
          <a:p>
            <a:pPr marL="342900" indent="-342900">
              <a:spcAft>
                <a:spcPts val="500"/>
              </a:spcAft>
              <a:buSzPct val="100000"/>
              <a:buFont typeface="+mj-lt"/>
              <a:buAutoNum type="arabicPeriod" startAt="1"/>
            </a:pPr>
            <a:r>
              <a:rPr lang="en-US" sz="1200" dirty="0">
                <a:solidFill>
                  <a:schemeClr val="tx2"/>
                </a:solidFill>
              </a:rPr>
              <a:t>DeTone et al., SuperPoint: Self-Supervised Interest Point Detection and Description, CVPR Workshops 2018</a:t>
            </a:r>
            <a:endParaRPr lang="en-US" sz="1200" dirty="0"/>
          </a:p>
          <a:p>
            <a:pPr marL="342900" indent="-342900">
              <a:spcAft>
                <a:spcPts val="500"/>
              </a:spcAft>
              <a:buSzPct val="100000"/>
              <a:buFont typeface="+mj-lt"/>
              <a:buAutoNum type="arabicPeriod" startAt="1"/>
            </a:pPr>
            <a:r>
              <a:rPr lang="en-US" sz="1200" dirty="0">
                <a:solidFill>
                  <a:schemeClr val="tx2"/>
                </a:solidFill>
              </a:rPr>
              <a:t>Sarlin et al., SuperGlue: Learning Feature Matching with Graph Neural Networks, CVPR 2020</a:t>
            </a:r>
            <a:endParaRPr lang="en-US" sz="1200" dirty="0"/>
          </a:p>
          <a:p>
            <a:pPr marL="342900" indent="-342900">
              <a:spcAft>
                <a:spcPts val="500"/>
              </a:spcAft>
              <a:buSzPct val="100000"/>
              <a:buFont typeface="+mj-lt"/>
              <a:buAutoNum type="arabicPeriod" startAt="1"/>
            </a:pPr>
            <a:r>
              <a:rPr lang="en-US" sz="1200" dirty="0">
                <a:solidFill>
                  <a:schemeClr val="tx2"/>
                </a:solidFill>
              </a:rPr>
              <a:t>Nistér, An Efficient Solution to the Five-Point Relative Pose Problem, IEEE TPAMI 2004</a:t>
            </a:r>
            <a:endParaRPr lang="en-US" sz="1200" dirty="0"/>
          </a:p>
          <a:p>
            <a:pPr marL="342900" indent="-342900">
              <a:spcAft>
                <a:spcPts val="500"/>
              </a:spcAft>
              <a:buSzPct val="100000"/>
              <a:buFont typeface="+mj-lt"/>
              <a:buAutoNum type="arabicPeriod" startAt="1"/>
            </a:pPr>
            <a:r>
              <a:rPr lang="en-US" sz="1200" dirty="0">
                <a:solidFill>
                  <a:schemeClr val="tx2"/>
                </a:solidFill>
              </a:rPr>
              <a:t>Tools: PyTorch, OpenCV (RANSAC, LSD lines), NetworkX (Dijkstra), the course’s vis-nav SDK and simulator</a:t>
            </a:r>
            <a:endParaRPr lang="en-US" sz="12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METHOD  ·  1 OF 2</a:t>
            </a:r>
            <a:endParaRPr lang="en-US" sz="1100" dirty="0"/>
          </a:p>
        </p:txBody>
      </p:sp>
      <p:sp>
        <p:nvSpPr>
          <p:cNvPr id="3" name="Text 0"/>
          <p:cNvSpPr/>
          <p:nvPr>
            <p:ph idx="100" type="title" hasCustomPrompt="1"/>
          </p:nvPr>
        </p:nvSpPr>
        <p:spPr>
          <a:xfrm>
            <a:off x="548640" y="548640"/>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Method (1/2): the pipeline</a:t>
            </a:r>
            <a:endParaRPr lang="en-US" sz="3000" dirty="0"/>
          </a:p>
        </p:txBody>
      </p:sp>
      <p:sp>
        <p:nvSpPr>
          <p:cNvPr id="4" name="lane 1 label pill"/>
          <p:cNvSpPr/>
          <p:nvPr/>
        </p:nvSpPr>
        <p:spPr>
          <a:xfrm>
            <a:off x="548640" y="1417320"/>
            <a:ext cx="5120640" cy="347472"/>
          </a:xfrm>
          <a:prstGeom prst="roundRect">
            <a:avLst>
              <a:gd name="adj" fmla="val 50000"/>
            </a:avLst>
          </a:prstGeom>
          <a:solidFill>
            <a:schemeClr val="accent5"/>
          </a:solidFill>
          <a:ln w="12700">
            <a:solidFill>
              <a:schemeClr val="accent5"/>
            </a:solidFill>
            <a:prstDash val="solid"/>
          </a:ln>
        </p:spPr>
      </p:sp>
      <p:sp>
        <p:nvSpPr>
          <p:cNvPr id="5" name="lane 1 label"/>
          <p:cNvSpPr txBox="1"/>
          <p:nvPr/>
        </p:nvSpPr>
        <p:spPr>
          <a:xfrm>
            <a:off x="731520" y="1417320"/>
            <a:ext cx="4754880" cy="347472"/>
          </a:xfrm>
          <a:prstGeom prst="rect">
            <a:avLst/>
          </a:prstGeom>
          <a:noFill/>
          <a:ln/>
        </p:spPr>
        <p:txBody>
          <a:bodyPr wrap="square" lIns="0" tIns="0" rIns="0" bIns="0" rtlCol="0" anchor="ctr"/>
          <a:lstStyle/>
          <a:p>
            <a:pPr indent="0" marL="0">
              <a:buNone/>
            </a:pPr>
            <a:r>
              <a:rPr lang="en-US" sz="1300" b="1" dirty="0">
                <a:solidFill>
                  <a:schemeClr val="accent1"/>
                </a:solidFill>
              </a:rPr>
              <a:t>Before the first move: no steps spent</a:t>
            </a:r>
            <a:endParaRPr lang="en-US" sz="1300" dirty="0"/>
          </a:p>
        </p:txBody>
      </p:sp>
      <p:sp>
        <p:nvSpPr>
          <p:cNvPr id="6" name="lane 1 card 1"/>
          <p:cNvSpPr/>
          <p:nvPr/>
        </p:nvSpPr>
        <p:spPr>
          <a:xfrm>
            <a:off x="548640" y="1920240"/>
            <a:ext cx="3493008" cy="1645920"/>
          </a:xfrm>
          <a:prstGeom prst="roundRect">
            <a:avLst>
              <a:gd name="adj" fmla="val 6667"/>
            </a:avLst>
          </a:prstGeom>
          <a:solidFill>
            <a:schemeClr val="bg2"/>
          </a:solidFill>
          <a:ln w="12700">
            <a:solidFill>
              <a:schemeClr val="bg2"/>
            </a:solidFill>
            <a:prstDash val="solid"/>
          </a:ln>
        </p:spPr>
      </p:sp>
      <p:sp>
        <p:nvSpPr>
          <p:cNvPr id="7" name="lane 1 step 1 circle"/>
          <p:cNvSpPr/>
          <p:nvPr/>
        </p:nvSpPr>
        <p:spPr>
          <a:xfrm>
            <a:off x="749808" y="2075688"/>
            <a:ext cx="329184" cy="329184"/>
          </a:xfrm>
          <a:prstGeom prst="ellipse">
            <a:avLst/>
          </a:prstGeom>
          <a:solidFill>
            <a:schemeClr val="accent1"/>
          </a:solidFill>
          <a:ln w="12700">
            <a:solidFill>
              <a:schemeClr val="accent1"/>
            </a:solidFill>
            <a:prstDash val="solid"/>
          </a:ln>
        </p:spPr>
      </p:sp>
      <p:sp>
        <p:nvSpPr>
          <p:cNvPr id="8" name="lane 1 step 1 number"/>
          <p:cNvSpPr txBox="1"/>
          <p:nvPr/>
        </p:nvSpPr>
        <p:spPr>
          <a:xfrm>
            <a:off x="749808" y="20756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lane 1 title 1"/>
          <p:cNvSpPr txBox="1"/>
          <p:nvPr/>
        </p:nvSpPr>
        <p:spPr>
          <a:xfrm>
            <a:off x="1188720" y="2075688"/>
            <a:ext cx="2651760" cy="329184"/>
          </a:xfrm>
          <a:prstGeom prst="rect">
            <a:avLst/>
          </a:prstGeom>
          <a:noFill/>
          <a:ln/>
        </p:spPr>
        <p:txBody>
          <a:bodyPr wrap="square" lIns="0" tIns="0" rIns="0" bIns="0" rtlCol="0" anchor="ctr"/>
          <a:lstStyle/>
          <a:p>
            <a:pPr indent="0" marL="0">
              <a:buNone/>
            </a:pPr>
            <a:r>
              <a:rPr lang="en-US" sz="1700" b="1" dirty="0">
                <a:solidFill>
                  <a:schemeClr val="tx1"/>
                </a:solidFill>
              </a:rPr>
              <a:t>Photo graph</a:t>
            </a:r>
            <a:endParaRPr lang="en-US" sz="1700" dirty="0"/>
          </a:p>
        </p:txBody>
      </p:sp>
      <p:sp>
        <p:nvSpPr>
          <p:cNvPr id="10" name="lane 1 text 1"/>
          <p:cNvSpPr txBox="1"/>
          <p:nvPr/>
        </p:nvSpPr>
        <p:spPr>
          <a:xfrm>
            <a:off x="749808" y="2542032"/>
            <a:ext cx="3108960" cy="960120"/>
          </a:xfrm>
          <a:prstGeom prst="rect">
            <a:avLst/>
          </a:prstGeom>
          <a:noFill/>
          <a:ln/>
        </p:spPr>
        <p:txBody>
          <a:bodyPr wrap="square" lIns="0" tIns="0" rIns="0" bIns="0" rtlCol="0" anchor="t"/>
          <a:lstStyle/>
          <a:p>
            <a:pPr indent="0" marL="0">
              <a:buNone/>
            </a:pPr>
            <a:r>
              <a:rPr lang="en-US" sz="1400" dirty="0">
                <a:solidFill>
                  <a:schemeClr val="tx2"/>
                </a:solidFill>
              </a:rPr>
              <a:t>One node per exploration photo; edges join consecutive photos, plus shortcuts AnyLoc proposes and SuperGlue confirms.</a:t>
            </a:r>
            <a:endParaRPr lang="en-US" sz="1400" dirty="0"/>
          </a:p>
        </p:txBody>
      </p:sp>
      <p:sp>
        <p:nvSpPr>
          <p:cNvPr id="11" name="lane 1 arrow 1"/>
          <p:cNvSpPr/>
          <p:nvPr/>
        </p:nvSpPr>
        <p:spPr>
          <a:xfrm>
            <a:off x="4032504" y="2633472"/>
            <a:ext cx="292608" cy="219456"/>
          </a:xfrm>
          <a:prstGeom prst="rightArrow">
            <a:avLst/>
          </a:prstGeom>
          <a:solidFill>
            <a:schemeClr val="accent3"/>
          </a:solidFill>
          <a:ln w="12700">
            <a:solidFill>
              <a:schemeClr val="accent3"/>
            </a:solidFill>
            <a:prstDash val="solid"/>
          </a:ln>
        </p:spPr>
      </p:sp>
      <p:sp>
        <p:nvSpPr>
          <p:cNvPr id="12" name="lane 1 card 2"/>
          <p:cNvSpPr/>
          <p:nvPr/>
        </p:nvSpPr>
        <p:spPr>
          <a:xfrm>
            <a:off x="4334256" y="1920240"/>
            <a:ext cx="3493008" cy="1645920"/>
          </a:xfrm>
          <a:prstGeom prst="roundRect">
            <a:avLst>
              <a:gd name="adj" fmla="val 6667"/>
            </a:avLst>
          </a:prstGeom>
          <a:solidFill>
            <a:schemeClr val="bg2"/>
          </a:solidFill>
          <a:ln w="12700">
            <a:solidFill>
              <a:schemeClr val="bg2"/>
            </a:solidFill>
            <a:prstDash val="solid"/>
          </a:ln>
        </p:spPr>
      </p:sp>
      <p:sp>
        <p:nvSpPr>
          <p:cNvPr id="13" name="lane 1 step 2 circle"/>
          <p:cNvSpPr/>
          <p:nvPr/>
        </p:nvSpPr>
        <p:spPr>
          <a:xfrm>
            <a:off x="4535424" y="2075688"/>
            <a:ext cx="329184" cy="329184"/>
          </a:xfrm>
          <a:prstGeom prst="ellipse">
            <a:avLst/>
          </a:prstGeom>
          <a:solidFill>
            <a:schemeClr val="accent1"/>
          </a:solidFill>
          <a:ln w="12700">
            <a:solidFill>
              <a:schemeClr val="accent1"/>
            </a:solidFill>
            <a:prstDash val="solid"/>
          </a:ln>
        </p:spPr>
      </p:sp>
      <p:sp>
        <p:nvSpPr>
          <p:cNvPr id="14" name="lane 1 step 2 number"/>
          <p:cNvSpPr txBox="1"/>
          <p:nvPr/>
        </p:nvSpPr>
        <p:spPr>
          <a:xfrm>
            <a:off x="4535424" y="20756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lane 1 title 2"/>
          <p:cNvSpPr txBox="1"/>
          <p:nvPr/>
        </p:nvSpPr>
        <p:spPr>
          <a:xfrm>
            <a:off x="4974336" y="2075688"/>
            <a:ext cx="2651760" cy="329184"/>
          </a:xfrm>
          <a:prstGeom prst="rect">
            <a:avLst/>
          </a:prstGeom>
          <a:noFill/>
          <a:ln/>
        </p:spPr>
        <p:txBody>
          <a:bodyPr wrap="square" lIns="0" tIns="0" rIns="0" bIns="0" rtlCol="0" anchor="ctr"/>
          <a:lstStyle/>
          <a:p>
            <a:pPr indent="0" marL="0">
              <a:buNone/>
            </a:pPr>
            <a:r>
              <a:rPr lang="en-US" sz="1700" b="1" dirty="0">
                <a:solidFill>
                  <a:schemeClr val="tx1"/>
                </a:solidFill>
              </a:rPr>
              <a:t>Metric map</a:t>
            </a:r>
            <a:endParaRPr lang="en-US" sz="1700" dirty="0"/>
          </a:p>
        </p:txBody>
      </p:sp>
      <p:sp>
        <p:nvSpPr>
          <p:cNvPr id="16" name="lane 1 text 2"/>
          <p:cNvSpPr txBox="1"/>
          <p:nvPr/>
        </p:nvSpPr>
        <p:spPr>
          <a:xfrm>
            <a:off x="4535424" y="2542032"/>
            <a:ext cx="3108960" cy="960120"/>
          </a:xfrm>
          <a:prstGeom prst="rect">
            <a:avLst/>
          </a:prstGeom>
          <a:noFill/>
          <a:ln/>
        </p:spPr>
        <p:txBody>
          <a:bodyPr wrap="square" lIns="0" tIns="0" rIns="0" bIns="0" rtlCol="0" anchor="t"/>
          <a:lstStyle/>
          <a:p>
            <a:pPr indent="0" marL="0">
              <a:buNone/>
            </a:pPr>
            <a:r>
              <a:rPr lang="en-US" sz="1400" dirty="0">
                <a:solidFill>
                  <a:schemeClr val="tx2"/>
                </a:solidFill>
              </a:rPr>
              <a:t>A vanishing-point compass, SuperGlue rotations and loop closures place every photo; edges cost steps.</a:t>
            </a:r>
            <a:endParaRPr lang="en-US" sz="1400" dirty="0"/>
          </a:p>
        </p:txBody>
      </p:sp>
      <p:sp>
        <p:nvSpPr>
          <p:cNvPr id="17" name="lane 1 arrow 2"/>
          <p:cNvSpPr/>
          <p:nvPr/>
        </p:nvSpPr>
        <p:spPr>
          <a:xfrm>
            <a:off x="7818120" y="2633472"/>
            <a:ext cx="292608" cy="219456"/>
          </a:xfrm>
          <a:prstGeom prst="rightArrow">
            <a:avLst/>
          </a:prstGeom>
          <a:solidFill>
            <a:schemeClr val="accent3"/>
          </a:solidFill>
          <a:ln w="12700">
            <a:solidFill>
              <a:schemeClr val="accent3"/>
            </a:solidFill>
            <a:prstDash val="solid"/>
          </a:ln>
        </p:spPr>
      </p:sp>
      <p:sp>
        <p:nvSpPr>
          <p:cNvPr id="18" name="lane 1 card 3"/>
          <p:cNvSpPr/>
          <p:nvPr/>
        </p:nvSpPr>
        <p:spPr>
          <a:xfrm>
            <a:off x="8119872" y="1920240"/>
            <a:ext cx="3493008" cy="1645920"/>
          </a:xfrm>
          <a:prstGeom prst="roundRect">
            <a:avLst>
              <a:gd name="adj" fmla="val 6667"/>
            </a:avLst>
          </a:prstGeom>
          <a:solidFill>
            <a:schemeClr val="bg2"/>
          </a:solidFill>
          <a:ln w="12700">
            <a:solidFill>
              <a:schemeClr val="bg2"/>
            </a:solidFill>
            <a:prstDash val="solid"/>
          </a:ln>
        </p:spPr>
      </p:sp>
      <p:sp>
        <p:nvSpPr>
          <p:cNvPr id="19" name="lane 1 step 3 circle"/>
          <p:cNvSpPr/>
          <p:nvPr/>
        </p:nvSpPr>
        <p:spPr>
          <a:xfrm>
            <a:off x="8321040" y="2075688"/>
            <a:ext cx="329184" cy="329184"/>
          </a:xfrm>
          <a:prstGeom prst="ellipse">
            <a:avLst/>
          </a:prstGeom>
          <a:solidFill>
            <a:schemeClr val="accent1"/>
          </a:solidFill>
          <a:ln w="12700">
            <a:solidFill>
              <a:schemeClr val="accent1"/>
            </a:solidFill>
            <a:prstDash val="solid"/>
          </a:ln>
        </p:spPr>
      </p:sp>
      <p:sp>
        <p:nvSpPr>
          <p:cNvPr id="20" name="lane 1 step 3 number"/>
          <p:cNvSpPr txBox="1"/>
          <p:nvPr/>
        </p:nvSpPr>
        <p:spPr>
          <a:xfrm>
            <a:off x="8321040" y="20756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lane 1 title 3"/>
          <p:cNvSpPr txBox="1"/>
          <p:nvPr/>
        </p:nvSpPr>
        <p:spPr>
          <a:xfrm>
            <a:off x="8759952" y="2075688"/>
            <a:ext cx="2651760" cy="329184"/>
          </a:xfrm>
          <a:prstGeom prst="rect">
            <a:avLst/>
          </a:prstGeom>
          <a:noFill/>
          <a:ln/>
        </p:spPr>
        <p:txBody>
          <a:bodyPr wrap="square" lIns="0" tIns="0" rIns="0" bIns="0" rtlCol="0" anchor="ctr"/>
          <a:lstStyle/>
          <a:p>
            <a:pPr indent="0" marL="0">
              <a:buNone/>
            </a:pPr>
            <a:r>
              <a:rPr lang="en-US" sz="1700" b="1" dirty="0">
                <a:solidFill>
                  <a:schemeClr val="tx1"/>
                </a:solidFill>
              </a:rPr>
              <a:t>Goal photo</a:t>
            </a:r>
            <a:endParaRPr lang="en-US" sz="1700" dirty="0"/>
          </a:p>
        </p:txBody>
      </p:sp>
      <p:sp>
        <p:nvSpPr>
          <p:cNvPr id="22" name="lane 1 text 3"/>
          <p:cNvSpPr txBox="1"/>
          <p:nvPr/>
        </p:nvSpPr>
        <p:spPr>
          <a:xfrm>
            <a:off x="8321040" y="2542032"/>
            <a:ext cx="3108960" cy="960120"/>
          </a:xfrm>
          <a:prstGeom prst="rect">
            <a:avLst/>
          </a:prstGeom>
          <a:noFill/>
          <a:ln/>
        </p:spPr>
        <p:txBody>
          <a:bodyPr wrap="square" lIns="0" tIns="0" rIns="0" bIns="0" rtlCol="0" anchor="t"/>
          <a:lstStyle/>
          <a:p>
            <a:pPr indent="0" marL="0">
              <a:buNone/>
            </a:pPr>
            <a:r>
              <a:rPr lang="en-US" sz="1400" dirty="0">
                <a:solidFill>
                  <a:schemeClr val="tx2"/>
                </a:solidFill>
              </a:rPr>
              <a:t>The 4 goal photos against AnyLoc’s top 64 candidates each; the strongest SuperGlue match is the goal node.</a:t>
            </a:r>
            <a:endParaRPr lang="en-US" sz="1400" dirty="0"/>
          </a:p>
        </p:txBody>
      </p:sp>
      <p:sp>
        <p:nvSpPr>
          <p:cNvPr id="23" name="lane 2 label pill"/>
          <p:cNvSpPr/>
          <p:nvPr/>
        </p:nvSpPr>
        <p:spPr>
          <a:xfrm>
            <a:off x="548640" y="3840480"/>
            <a:ext cx="5120640" cy="347472"/>
          </a:xfrm>
          <a:prstGeom prst="roundRect">
            <a:avLst>
              <a:gd name="adj" fmla="val 50000"/>
            </a:avLst>
          </a:prstGeom>
          <a:solidFill>
            <a:schemeClr val="accent6"/>
          </a:solidFill>
          <a:ln w="12700">
            <a:solidFill>
              <a:schemeClr val="accent6"/>
            </a:solidFill>
            <a:prstDash val="solid"/>
          </a:ln>
        </p:spPr>
      </p:sp>
      <p:sp>
        <p:nvSpPr>
          <p:cNvPr id="24" name="lane 2 label"/>
          <p:cNvSpPr txBox="1"/>
          <p:nvPr/>
        </p:nvSpPr>
        <p:spPr>
          <a:xfrm>
            <a:off x="731520" y="3840480"/>
            <a:ext cx="4754880" cy="347472"/>
          </a:xfrm>
          <a:prstGeom prst="rect">
            <a:avLst/>
          </a:prstGeom>
          <a:noFill/>
          <a:ln/>
        </p:spPr>
        <p:txBody>
          <a:bodyPr wrap="square" lIns="0" tIns="0" rIns="0" bIns="0" rtlCol="0" anchor="ctr"/>
          <a:lstStyle/>
          <a:p>
            <a:pPr indent="0" marL="0">
              <a:buNone/>
            </a:pPr>
            <a:r>
              <a:rPr lang="en-US" sz="1300" b="1" dirty="0">
                <a:solidFill>
                  <a:schemeClr val="accent2"/>
                </a:solidFill>
              </a:rPr>
              <a:t>Every decision: one camera frame in, one move out</a:t>
            </a:r>
            <a:endParaRPr lang="en-US" sz="1300" dirty="0"/>
          </a:p>
        </p:txBody>
      </p:sp>
      <p:sp>
        <p:nvSpPr>
          <p:cNvPr id="25" name="lane 2 card 1"/>
          <p:cNvSpPr/>
          <p:nvPr/>
        </p:nvSpPr>
        <p:spPr>
          <a:xfrm>
            <a:off x="548640" y="4343400"/>
            <a:ext cx="2551176" cy="1920240"/>
          </a:xfrm>
          <a:prstGeom prst="roundRect">
            <a:avLst>
              <a:gd name="adj" fmla="val 5714"/>
            </a:avLst>
          </a:prstGeom>
          <a:solidFill>
            <a:schemeClr val="accent6"/>
          </a:solidFill>
          <a:ln w="12700">
            <a:solidFill>
              <a:schemeClr val="accent6"/>
            </a:solidFill>
            <a:prstDash val="solid"/>
          </a:ln>
        </p:spPr>
      </p:sp>
      <p:sp>
        <p:nvSpPr>
          <p:cNvPr id="26" name="lane 2 step 1 circle"/>
          <p:cNvSpPr/>
          <p:nvPr/>
        </p:nvSpPr>
        <p:spPr>
          <a:xfrm>
            <a:off x="731520" y="4498848"/>
            <a:ext cx="329184" cy="329184"/>
          </a:xfrm>
          <a:prstGeom prst="ellipse">
            <a:avLst/>
          </a:prstGeom>
          <a:solidFill>
            <a:schemeClr val="accent2"/>
          </a:solidFill>
          <a:ln w="12700">
            <a:solidFill>
              <a:schemeClr val="accent2"/>
            </a:solidFill>
            <a:prstDash val="solid"/>
          </a:ln>
        </p:spPr>
      </p:sp>
      <p:sp>
        <p:nvSpPr>
          <p:cNvPr id="27" name="lane 2 step 1 number"/>
          <p:cNvSpPr txBox="1"/>
          <p:nvPr/>
        </p:nvSpPr>
        <p:spPr>
          <a:xfrm>
            <a:off x="731520" y="4498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8" name="lane 2 title 1"/>
          <p:cNvSpPr txBox="1"/>
          <p:nvPr/>
        </p:nvSpPr>
        <p:spPr>
          <a:xfrm>
            <a:off x="1170432" y="4498848"/>
            <a:ext cx="1828800" cy="329184"/>
          </a:xfrm>
          <a:prstGeom prst="rect">
            <a:avLst/>
          </a:prstGeom>
          <a:noFill/>
          <a:ln/>
        </p:spPr>
        <p:txBody>
          <a:bodyPr wrap="square" lIns="0" tIns="0" rIns="0" bIns="0" rtlCol="0" anchor="ctr"/>
          <a:lstStyle/>
          <a:p>
            <a:pPr indent="0" marL="0">
              <a:buNone/>
            </a:pPr>
            <a:r>
              <a:rPr lang="en-US" sz="1700" b="1" dirty="0">
                <a:solidFill>
                  <a:schemeClr val="tx1"/>
                </a:solidFill>
              </a:rPr>
              <a:t>Localise</a:t>
            </a:r>
            <a:endParaRPr lang="en-US" sz="1700" dirty="0"/>
          </a:p>
        </p:txBody>
      </p:sp>
      <p:sp>
        <p:nvSpPr>
          <p:cNvPr id="29" name="lane 2 text 1"/>
          <p:cNvSpPr txBox="1"/>
          <p:nvPr/>
        </p:nvSpPr>
        <p:spPr>
          <a:xfrm>
            <a:off x="731520" y="4965192"/>
            <a:ext cx="2212848" cy="1234440"/>
          </a:xfrm>
          <a:prstGeom prst="rect">
            <a:avLst/>
          </a:prstGeom>
          <a:noFill/>
          <a:ln/>
        </p:spPr>
        <p:txBody>
          <a:bodyPr wrap="square" lIns="0" tIns="0" rIns="0" bIns="0" rtlCol="0" anchor="t"/>
          <a:lstStyle/>
          <a:p>
            <a:pPr indent="0" marL="0">
              <a:buNone/>
            </a:pPr>
            <a:r>
              <a:rPr lang="en-US" sz="1400" dirty="0">
                <a:solidFill>
                  <a:schemeClr val="tx2"/>
                </a:solidFill>
              </a:rPr>
              <a:t>AnyLoc match near the last node; a far jump needs 3 frames and SuperGlue.</a:t>
            </a:r>
            <a:endParaRPr lang="en-US" sz="1400" dirty="0"/>
          </a:p>
        </p:txBody>
      </p:sp>
      <p:sp>
        <p:nvSpPr>
          <p:cNvPr id="30" name="lane 2 arrow 1"/>
          <p:cNvSpPr/>
          <p:nvPr/>
        </p:nvSpPr>
        <p:spPr>
          <a:xfrm>
            <a:off x="3095244" y="5193792"/>
            <a:ext cx="292608" cy="219456"/>
          </a:xfrm>
          <a:prstGeom prst="rightArrow">
            <a:avLst/>
          </a:prstGeom>
          <a:solidFill>
            <a:schemeClr val="accent3"/>
          </a:solidFill>
          <a:ln w="12700">
            <a:solidFill>
              <a:schemeClr val="accent3"/>
            </a:solidFill>
            <a:prstDash val="solid"/>
          </a:ln>
        </p:spPr>
      </p:sp>
      <p:sp>
        <p:nvSpPr>
          <p:cNvPr id="31" name="lane 2 card 2"/>
          <p:cNvSpPr/>
          <p:nvPr/>
        </p:nvSpPr>
        <p:spPr>
          <a:xfrm>
            <a:off x="3383280" y="4343400"/>
            <a:ext cx="2551176" cy="1920240"/>
          </a:xfrm>
          <a:prstGeom prst="roundRect">
            <a:avLst>
              <a:gd name="adj" fmla="val 5714"/>
            </a:avLst>
          </a:prstGeom>
          <a:solidFill>
            <a:schemeClr val="accent6"/>
          </a:solidFill>
          <a:ln w="12700">
            <a:solidFill>
              <a:schemeClr val="accent6"/>
            </a:solidFill>
            <a:prstDash val="solid"/>
          </a:ln>
        </p:spPr>
      </p:sp>
      <p:sp>
        <p:nvSpPr>
          <p:cNvPr id="32" name="lane 2 step 2 circle"/>
          <p:cNvSpPr/>
          <p:nvPr/>
        </p:nvSpPr>
        <p:spPr>
          <a:xfrm>
            <a:off x="3566160" y="4498848"/>
            <a:ext cx="329184" cy="329184"/>
          </a:xfrm>
          <a:prstGeom prst="ellipse">
            <a:avLst/>
          </a:prstGeom>
          <a:solidFill>
            <a:schemeClr val="accent2"/>
          </a:solidFill>
          <a:ln w="12700">
            <a:solidFill>
              <a:schemeClr val="accent2"/>
            </a:solidFill>
            <a:prstDash val="solid"/>
          </a:ln>
        </p:spPr>
      </p:sp>
      <p:sp>
        <p:nvSpPr>
          <p:cNvPr id="33" name="lane 2 step 2 number"/>
          <p:cNvSpPr txBox="1"/>
          <p:nvPr/>
        </p:nvSpPr>
        <p:spPr>
          <a:xfrm>
            <a:off x="3566160" y="4498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4" name="lane 2 title 2"/>
          <p:cNvSpPr txBox="1"/>
          <p:nvPr/>
        </p:nvSpPr>
        <p:spPr>
          <a:xfrm>
            <a:off x="4005072" y="4498848"/>
            <a:ext cx="1828800" cy="329184"/>
          </a:xfrm>
          <a:prstGeom prst="rect">
            <a:avLst/>
          </a:prstGeom>
          <a:noFill/>
          <a:ln/>
        </p:spPr>
        <p:txBody>
          <a:bodyPr wrap="square" lIns="0" tIns="0" rIns="0" bIns="0" rtlCol="0" anchor="ctr"/>
          <a:lstStyle/>
          <a:p>
            <a:pPr indent="0" marL="0">
              <a:buNone/>
            </a:pPr>
            <a:r>
              <a:rPr lang="en-US" sz="1700" b="1" dirty="0">
                <a:solidFill>
                  <a:schemeClr val="tx1"/>
                </a:solidFill>
              </a:rPr>
              <a:t>Plan</a:t>
            </a:r>
            <a:endParaRPr lang="en-US" sz="1700" dirty="0"/>
          </a:p>
        </p:txBody>
      </p:sp>
      <p:sp>
        <p:nvSpPr>
          <p:cNvPr id="35" name="lane 2 text 2"/>
          <p:cNvSpPr txBox="1"/>
          <p:nvPr/>
        </p:nvSpPr>
        <p:spPr>
          <a:xfrm>
            <a:off x="3566160" y="4965192"/>
            <a:ext cx="2212848" cy="1234440"/>
          </a:xfrm>
          <a:prstGeom prst="rect">
            <a:avLst/>
          </a:prstGeom>
          <a:noFill/>
          <a:ln/>
        </p:spPr>
        <p:txBody>
          <a:bodyPr wrap="square" lIns="0" tIns="0" rIns="0" bIns="0" rtlCol="0" anchor="t"/>
          <a:lstStyle/>
          <a:p>
            <a:pPr indent="0" marL="0">
              <a:buNone/>
            </a:pPr>
            <a:r>
              <a:rPr lang="en-US" sz="1400" dirty="0">
                <a:solidFill>
                  <a:schemeClr val="tx2"/>
                </a:solidFill>
              </a:rPr>
              <a:t>Dijkstra to the goal node; a stalled stretch is re-planned.</a:t>
            </a:r>
            <a:endParaRPr lang="en-US" sz="1400" dirty="0"/>
          </a:p>
        </p:txBody>
      </p:sp>
      <p:sp>
        <p:nvSpPr>
          <p:cNvPr id="36" name="lane 2 arrow 2"/>
          <p:cNvSpPr/>
          <p:nvPr/>
        </p:nvSpPr>
        <p:spPr>
          <a:xfrm>
            <a:off x="5929884" y="5193792"/>
            <a:ext cx="292608" cy="219456"/>
          </a:xfrm>
          <a:prstGeom prst="rightArrow">
            <a:avLst/>
          </a:prstGeom>
          <a:solidFill>
            <a:schemeClr val="accent3"/>
          </a:solidFill>
          <a:ln w="12700">
            <a:solidFill>
              <a:schemeClr val="accent3"/>
            </a:solidFill>
            <a:prstDash val="solid"/>
          </a:ln>
        </p:spPr>
      </p:sp>
      <p:sp>
        <p:nvSpPr>
          <p:cNvPr id="37" name="lane 2 card 3"/>
          <p:cNvSpPr/>
          <p:nvPr/>
        </p:nvSpPr>
        <p:spPr>
          <a:xfrm>
            <a:off x="6217920" y="4343400"/>
            <a:ext cx="2551176" cy="1920240"/>
          </a:xfrm>
          <a:prstGeom prst="roundRect">
            <a:avLst>
              <a:gd name="adj" fmla="val 5714"/>
            </a:avLst>
          </a:prstGeom>
          <a:solidFill>
            <a:schemeClr val="accent6"/>
          </a:solidFill>
          <a:ln w="12700">
            <a:solidFill>
              <a:schemeClr val="accent6"/>
            </a:solidFill>
            <a:prstDash val="solid"/>
          </a:ln>
        </p:spPr>
      </p:sp>
      <p:sp>
        <p:nvSpPr>
          <p:cNvPr id="38" name="lane 2 step 3 circle"/>
          <p:cNvSpPr/>
          <p:nvPr/>
        </p:nvSpPr>
        <p:spPr>
          <a:xfrm>
            <a:off x="6400800" y="4498848"/>
            <a:ext cx="329184" cy="329184"/>
          </a:xfrm>
          <a:prstGeom prst="ellipse">
            <a:avLst/>
          </a:prstGeom>
          <a:solidFill>
            <a:schemeClr val="accent2"/>
          </a:solidFill>
          <a:ln w="12700">
            <a:solidFill>
              <a:schemeClr val="accent2"/>
            </a:solidFill>
            <a:prstDash val="solid"/>
          </a:ln>
        </p:spPr>
      </p:sp>
      <p:sp>
        <p:nvSpPr>
          <p:cNvPr id="39" name="lane 2 step 3 number"/>
          <p:cNvSpPr txBox="1"/>
          <p:nvPr/>
        </p:nvSpPr>
        <p:spPr>
          <a:xfrm>
            <a:off x="6400800" y="4498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0" name="lane 2 title 3"/>
          <p:cNvSpPr txBox="1"/>
          <p:nvPr/>
        </p:nvSpPr>
        <p:spPr>
          <a:xfrm>
            <a:off x="6839712" y="4498848"/>
            <a:ext cx="1828800" cy="329184"/>
          </a:xfrm>
          <a:prstGeom prst="rect">
            <a:avLst/>
          </a:prstGeom>
          <a:noFill/>
          <a:ln/>
        </p:spPr>
        <p:txBody>
          <a:bodyPr wrap="square" lIns="0" tIns="0" rIns="0" bIns="0" rtlCol="0" anchor="ctr"/>
          <a:lstStyle/>
          <a:p>
            <a:pPr indent="0" marL="0">
              <a:buNone/>
            </a:pPr>
            <a:r>
              <a:rPr lang="en-US" sz="1700" b="1" dirty="0">
                <a:solidFill>
                  <a:schemeClr val="tx1"/>
                </a:solidFill>
              </a:rPr>
              <a:t>Move</a:t>
            </a:r>
            <a:endParaRPr lang="en-US" sz="1700" dirty="0"/>
          </a:p>
        </p:txBody>
      </p:sp>
      <p:sp>
        <p:nvSpPr>
          <p:cNvPr id="41" name="lane 2 text 3"/>
          <p:cNvSpPr txBox="1"/>
          <p:nvPr/>
        </p:nvSpPr>
        <p:spPr>
          <a:xfrm>
            <a:off x="6400800" y="4965192"/>
            <a:ext cx="2212848" cy="1234440"/>
          </a:xfrm>
          <a:prstGeom prst="rect">
            <a:avLst/>
          </a:prstGeom>
          <a:noFill/>
          <a:ln/>
        </p:spPr>
        <p:txBody>
          <a:bodyPr wrap="square" lIns="0" tIns="0" rIns="0" bIns="0" rtlCol="0" anchor="t"/>
          <a:lstStyle/>
          <a:p>
            <a:pPr indent="0" marL="0">
              <a:buNone/>
            </a:pPr>
            <a:r>
              <a:rPr lang="en-US" sz="1400" dirty="0">
                <a:solidFill>
                  <a:schemeClr val="tx2"/>
                </a:solidFill>
              </a:rPr>
              <a:t>Turn by the essential-matrix yaw to the next waypoint photo, else the L network; undo moves to back up.</a:t>
            </a:r>
            <a:endParaRPr lang="en-US" sz="1400" dirty="0"/>
          </a:p>
        </p:txBody>
      </p:sp>
      <p:sp>
        <p:nvSpPr>
          <p:cNvPr id="42" name="lane 2 arrow 3"/>
          <p:cNvSpPr/>
          <p:nvPr/>
        </p:nvSpPr>
        <p:spPr>
          <a:xfrm>
            <a:off x="8764524" y="5193792"/>
            <a:ext cx="292608" cy="219456"/>
          </a:xfrm>
          <a:prstGeom prst="rightArrow">
            <a:avLst/>
          </a:prstGeom>
          <a:solidFill>
            <a:schemeClr val="accent3"/>
          </a:solidFill>
          <a:ln w="12700">
            <a:solidFill>
              <a:schemeClr val="accent3"/>
            </a:solidFill>
            <a:prstDash val="solid"/>
          </a:ln>
        </p:spPr>
      </p:sp>
      <p:sp>
        <p:nvSpPr>
          <p:cNvPr id="43" name="lane 2 card 4"/>
          <p:cNvSpPr/>
          <p:nvPr/>
        </p:nvSpPr>
        <p:spPr>
          <a:xfrm>
            <a:off x="9052560" y="4343400"/>
            <a:ext cx="2551176" cy="1920240"/>
          </a:xfrm>
          <a:prstGeom prst="roundRect">
            <a:avLst>
              <a:gd name="adj" fmla="val 5714"/>
            </a:avLst>
          </a:prstGeom>
          <a:solidFill>
            <a:schemeClr val="accent6"/>
          </a:solidFill>
          <a:ln w="12700">
            <a:solidFill>
              <a:schemeClr val="accent6"/>
            </a:solidFill>
            <a:prstDash val="solid"/>
          </a:ln>
        </p:spPr>
      </p:sp>
      <p:sp>
        <p:nvSpPr>
          <p:cNvPr id="44" name="lane 2 step 4 circle"/>
          <p:cNvSpPr/>
          <p:nvPr/>
        </p:nvSpPr>
        <p:spPr>
          <a:xfrm>
            <a:off x="9235440" y="4498848"/>
            <a:ext cx="329184" cy="329184"/>
          </a:xfrm>
          <a:prstGeom prst="ellipse">
            <a:avLst/>
          </a:prstGeom>
          <a:solidFill>
            <a:schemeClr val="accent2"/>
          </a:solidFill>
          <a:ln w="12700">
            <a:solidFill>
              <a:schemeClr val="accent2"/>
            </a:solidFill>
            <a:prstDash val="solid"/>
          </a:ln>
        </p:spPr>
      </p:sp>
      <p:sp>
        <p:nvSpPr>
          <p:cNvPr id="45" name="lane 2 step 4 number"/>
          <p:cNvSpPr txBox="1"/>
          <p:nvPr/>
        </p:nvSpPr>
        <p:spPr>
          <a:xfrm>
            <a:off x="9235440" y="4498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6" name="lane 2 title 4"/>
          <p:cNvSpPr txBox="1"/>
          <p:nvPr/>
        </p:nvSpPr>
        <p:spPr>
          <a:xfrm>
            <a:off x="9674352" y="4498848"/>
            <a:ext cx="1828800" cy="329184"/>
          </a:xfrm>
          <a:prstGeom prst="rect">
            <a:avLst/>
          </a:prstGeom>
          <a:noFill/>
          <a:ln/>
        </p:spPr>
        <p:txBody>
          <a:bodyPr wrap="square" lIns="0" tIns="0" rIns="0" bIns="0" rtlCol="0" anchor="ctr"/>
          <a:lstStyle/>
          <a:p>
            <a:pPr indent="0" marL="0">
              <a:buNone/>
            </a:pPr>
            <a:r>
              <a:rPr lang="en-US" sz="1700" b="1" dirty="0">
                <a:solidFill>
                  <a:schemeClr val="tx1"/>
                </a:solidFill>
              </a:rPr>
              <a:t>Last metre</a:t>
            </a:r>
            <a:endParaRPr lang="en-US" sz="1700" dirty="0"/>
          </a:p>
        </p:txBody>
      </p:sp>
      <p:sp>
        <p:nvSpPr>
          <p:cNvPr id="47" name="lane 2 text 4"/>
          <p:cNvSpPr txBox="1"/>
          <p:nvPr/>
        </p:nvSpPr>
        <p:spPr>
          <a:xfrm>
            <a:off x="9235440" y="4965192"/>
            <a:ext cx="2212848" cy="1234440"/>
          </a:xfrm>
          <a:prstGeom prst="rect">
            <a:avLst/>
          </a:prstGeom>
          <a:noFill/>
          <a:ln/>
        </p:spPr>
        <p:txBody>
          <a:bodyPr wrap="square" lIns="0" tIns="0" rIns="0" bIns="0" rtlCol="0" anchor="t"/>
          <a:lstStyle/>
          <a:p>
            <a:pPr indent="0" marL="0">
              <a:buNone/>
            </a:pPr>
            <a:r>
              <a:rPr lang="en-US" sz="1400" dirty="0">
                <a:solidFill>
                  <a:schemeClr val="tx2"/>
                </a:solidFill>
              </a:rPr>
              <a:t>Match the goal photos, line up and creep; check in only on 35+ inliers, 3 readings in a row.</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548640" y="274320"/>
            <a:ext cx="1106424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METHOD  ·  2 OF 2</a:t>
            </a:r>
            <a:endParaRPr lang="en-US" sz="1100" dirty="0"/>
          </a:p>
        </p:txBody>
      </p:sp>
      <p:sp>
        <p:nvSpPr>
          <p:cNvPr id="3" name="Text 0"/>
          <p:cNvSpPr/>
          <p:nvPr>
            <p:ph idx="100" type="title" hasCustomPrompt="1"/>
          </p:nvPr>
        </p:nvSpPr>
        <p:spPr>
          <a:xfrm>
            <a:off x="548640" y="548640"/>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Method (2/2): what keeps it on track</a:t>
            </a:r>
            <a:endParaRPr lang="en-US" sz="3000" dirty="0"/>
          </a:p>
        </p:txBody>
      </p:sp>
      <p:pic>
        <p:nvPicPr>
          <p:cNvPr id="4" name="maze 25 true path" descr="Top view of local maze 25: the robot’s true path from the start to the goal ring, coloured by time from blue to red, with a knot at the top left where it made no progress for a while">    </p:cNvPr>
          <p:cNvPicPr>
            <a:picLocks noChangeAspect="1"/>
          </p:cNvPicPr>
          <p:nvPr/>
        </p:nvPicPr>
        <p:blipFill>
          <a:blip r:embed="rId1"/>
          <a:stretch>
            <a:fillRect/>
          </a:stretch>
        </p:blipFill>
        <p:spPr>
          <a:xfrm>
            <a:off x="548640" y="1417320"/>
            <a:ext cx="4023360" cy="4023360"/>
          </a:xfrm>
          <a:prstGeom prst="rect">
            <a:avLst/>
          </a:prstGeom>
        </p:spPr>
      </p:pic>
      <p:sp>
        <p:nvSpPr>
          <p:cNvPr id="5" name="maze 25 caption"/>
          <p:cNvSpPr txBox="1"/>
          <p:nvPr/>
        </p:nvSpPr>
        <p:spPr>
          <a:xfrm>
            <a:off x="548640" y="5532120"/>
            <a:ext cx="4023360" cy="822960"/>
          </a:xfrm>
          <a:prstGeom prst="rect">
            <a:avLst/>
          </a:prstGeom>
          <a:noFill/>
          <a:ln/>
        </p:spPr>
        <p:txBody>
          <a:bodyPr wrap="square" lIns="0" tIns="0" rIns="0" bIns="0" rtlCol="0" anchor="t"/>
          <a:lstStyle/>
          <a:p>
            <a:pPr indent="0" marL="0">
              <a:buNone/>
            </a:pPr>
            <a:r>
              <a:rPr lang="en-US" sz="1050" b="1" dirty="0">
                <a:solidFill>
                  <a:schemeClr val="tx1"/>
                </a:solidFill>
              </a:rPr>
              <a:t>Local maze 25, the exact mid-term code, </a:t>
            </a:r>
            <a:pPr indent="0" marL="0">
              <a:buNone/>
            </a:pPr>
            <a:r>
              <a:rPr lang="en-US" sz="1050" dirty="0">
                <a:solidFill>
                  <a:schemeClr val="tx2"/>
                </a:solidFill>
              </a:rPr>
              <a:t>replayed on the simulator’s true poses. Colour = time, blue at the start to red at the check-in: 6/10, 2,965 steps, 0.02 m from the goal. The knot at top left is about 1,700 steps that got no closer to the goal (following, undoing and searching), the same kind of loss as in the mid-term.</a:t>
            </a:r>
            <a:endParaRPr lang="en-US" sz="1050" dirty="0"/>
          </a:p>
        </p:txBody>
      </p:sp>
      <p:pic>
        <p:nvPicPr>
          <p:cNvPr id="6" name="maze 25 photo 1" descr="Maze 25: the goal photo it was given">    </p:cNvPr>
          <p:cNvPicPr>
            <a:picLocks noChangeAspect="1"/>
          </p:cNvPicPr>
          <p:nvPr/>
        </p:nvPicPr>
        <p:blipFill>
          <a:blip r:embed="rId2"/>
          <a:stretch>
            <a:fillRect/>
          </a:stretch>
        </p:blipFill>
        <p:spPr>
          <a:xfrm>
            <a:off x="4800600" y="1417320"/>
            <a:ext cx="1828800" cy="1371600"/>
          </a:xfrm>
          <a:prstGeom prst="rect">
            <a:avLst/>
          </a:prstGeom>
        </p:spPr>
      </p:pic>
      <p:sp>
        <p:nvSpPr>
          <p:cNvPr id="7" name="maze 25 photo label 1"/>
          <p:cNvSpPr txBox="1"/>
          <p:nvPr/>
        </p:nvSpPr>
        <p:spPr>
          <a:xfrm>
            <a:off x="4800600" y="2807208"/>
            <a:ext cx="2011680" cy="219456"/>
          </a:xfrm>
          <a:prstGeom prst="rect">
            <a:avLst/>
          </a:prstGeom>
          <a:noFill/>
          <a:ln/>
        </p:spPr>
        <p:txBody>
          <a:bodyPr wrap="square" lIns="0" tIns="0" rIns="0" bIns="0" rtlCol="0" anchor="ctr"/>
          <a:lstStyle/>
          <a:p>
            <a:pPr indent="0" marL="0">
              <a:buNone/>
            </a:pPr>
            <a:r>
              <a:rPr lang="en-US" sz="1050" b="1" dirty="0">
                <a:solidFill>
                  <a:schemeClr val="tx1"/>
                </a:solidFill>
              </a:rPr>
              <a:t>1. Goal photo (given)</a:t>
            </a:r>
            <a:endParaRPr lang="en-US" sz="1050" dirty="0"/>
          </a:p>
        </p:txBody>
      </p:sp>
      <p:pic>
        <p:nvPicPr>
          <p:cNvPr id="8" name="maze 25 photo 2" descr="Maze 25: the exploration photo the agent picked as the goal node">    </p:cNvPr>
          <p:cNvPicPr>
            <a:picLocks noChangeAspect="1"/>
          </p:cNvPicPr>
          <p:nvPr/>
        </p:nvPicPr>
        <p:blipFill>
          <a:blip r:embed="rId3"/>
          <a:stretch>
            <a:fillRect/>
          </a:stretch>
        </p:blipFill>
        <p:spPr>
          <a:xfrm>
            <a:off x="4800600" y="3044952"/>
            <a:ext cx="1828800" cy="1371600"/>
          </a:xfrm>
          <a:prstGeom prst="rect">
            <a:avLst/>
          </a:prstGeom>
        </p:spPr>
      </p:pic>
      <p:sp>
        <p:nvSpPr>
          <p:cNvPr id="9" name="maze 25 photo label 2"/>
          <p:cNvSpPr txBox="1"/>
          <p:nvPr/>
        </p:nvSpPr>
        <p:spPr>
          <a:xfrm>
            <a:off x="4800600" y="4434840"/>
            <a:ext cx="2011680" cy="219456"/>
          </a:xfrm>
          <a:prstGeom prst="rect">
            <a:avLst/>
          </a:prstGeom>
          <a:noFill/>
          <a:ln/>
        </p:spPr>
        <p:txBody>
          <a:bodyPr wrap="square" lIns="0" tIns="0" rIns="0" bIns="0" rtlCol="0" anchor="ctr"/>
          <a:lstStyle/>
          <a:p>
            <a:pPr indent="0" marL="0">
              <a:buNone/>
            </a:pPr>
            <a:r>
              <a:rPr lang="en-US" sz="1050" b="1" dirty="0">
                <a:solidFill>
                  <a:schemeClr val="tx1"/>
                </a:solidFill>
              </a:rPr>
              <a:t>2. Map photo picked as the goal</a:t>
            </a:r>
            <a:endParaRPr lang="en-US" sz="1050" dirty="0"/>
          </a:p>
        </p:txBody>
      </p:sp>
      <p:pic>
        <p:nvPicPr>
          <p:cNvPr id="10" name="maze 25 photo 3" descr="Maze 25: the robot’s camera view when it checked in">    </p:cNvPr>
          <p:cNvPicPr>
            <a:picLocks noChangeAspect="1"/>
          </p:cNvPicPr>
          <p:nvPr/>
        </p:nvPicPr>
        <p:blipFill>
          <a:blip r:embed="rId4"/>
          <a:stretch>
            <a:fillRect/>
          </a:stretch>
        </p:blipFill>
        <p:spPr>
          <a:xfrm>
            <a:off x="4800600" y="4672584"/>
            <a:ext cx="1828800" cy="1371600"/>
          </a:xfrm>
          <a:prstGeom prst="rect">
            <a:avLst/>
          </a:prstGeom>
        </p:spPr>
      </p:pic>
      <p:sp>
        <p:nvSpPr>
          <p:cNvPr id="11" name="maze 25 photo label 3"/>
          <p:cNvSpPr txBox="1"/>
          <p:nvPr/>
        </p:nvSpPr>
        <p:spPr>
          <a:xfrm>
            <a:off x="4800600" y="6062472"/>
            <a:ext cx="2011680" cy="219456"/>
          </a:xfrm>
          <a:prstGeom prst="rect">
            <a:avLst/>
          </a:prstGeom>
          <a:noFill/>
          <a:ln/>
        </p:spPr>
        <p:txBody>
          <a:bodyPr wrap="square" lIns="0" tIns="0" rIns="0" bIns="0" rtlCol="0" anchor="ctr"/>
          <a:lstStyle/>
          <a:p>
            <a:pPr indent="0" marL="0">
              <a:buNone/>
            </a:pPr>
            <a:r>
              <a:rPr lang="en-US" sz="1050" b="1" dirty="0">
                <a:solidFill>
                  <a:schemeClr val="tx1"/>
                </a:solidFill>
              </a:rPr>
              <a:t>3. Camera at check-in (0.02 m)</a:t>
            </a:r>
            <a:endParaRPr lang="en-US" sz="1050" dirty="0"/>
          </a:p>
        </p:txBody>
      </p:sp>
      <p:sp>
        <p:nvSpPr>
          <p:cNvPr id="12" name="key idea 1 circle"/>
          <p:cNvSpPr/>
          <p:nvPr/>
        </p:nvSpPr>
        <p:spPr>
          <a:xfrm>
            <a:off x="7040880" y="1472184"/>
            <a:ext cx="310896" cy="310896"/>
          </a:xfrm>
          <a:prstGeom prst="ellipse">
            <a:avLst/>
          </a:prstGeom>
          <a:solidFill>
            <a:schemeClr val="accent1"/>
          </a:solidFill>
          <a:ln w="12700">
            <a:solidFill>
              <a:schemeClr val="accent1"/>
            </a:solidFill>
            <a:prstDash val="solid"/>
          </a:ln>
        </p:spPr>
      </p:sp>
      <p:sp>
        <p:nvSpPr>
          <p:cNvPr id="13" name="key idea 1 number"/>
          <p:cNvSpPr txBox="1"/>
          <p:nvPr/>
        </p:nvSpPr>
        <p:spPr>
          <a:xfrm>
            <a:off x="7040880" y="1472184"/>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key idea 1"/>
          <p:cNvSpPr txBox="1"/>
          <p:nvPr/>
        </p:nvSpPr>
        <p:spPr>
          <a:xfrm>
            <a:off x="7498080" y="1463040"/>
            <a:ext cx="4160520" cy="740664"/>
          </a:xfrm>
          <a:prstGeom prst="rect">
            <a:avLst/>
          </a:prstGeom>
          <a:noFill/>
          <a:ln/>
        </p:spPr>
        <p:txBody>
          <a:bodyPr wrap="square" lIns="0" tIns="0" rIns="0" bIns="0" rtlCol="0" anchor="t"/>
          <a:lstStyle/>
          <a:p>
            <a:pPr indent="0" marL="0">
              <a:buNone/>
            </a:pPr>
            <a:r>
              <a:rPr lang="en-US" sz="1450" b="1" dirty="0">
                <a:solidFill>
                  <a:schemeClr val="tx1"/>
                </a:solidFill>
              </a:rPr>
              <a:t>Think when confused. </a:t>
            </a:r>
            <a:pPr indent="0" marL="0">
              <a:buNone/>
            </a:pPr>
            <a:r>
              <a:rPr lang="en-US" sz="1450" dirty="0">
                <a:solidFill>
                  <a:schemeClr val="tx2"/>
                </a:solidFill>
              </a:rPr>
              <a:t>Three decisions on the same photo: SuperGlue checks the next 5 route photos. It costs time, not steps.</a:t>
            </a:r>
            <a:endParaRPr lang="en-US" sz="1450" dirty="0"/>
          </a:p>
        </p:txBody>
      </p:sp>
      <p:sp>
        <p:nvSpPr>
          <p:cNvPr id="15" name="key idea 2 circle"/>
          <p:cNvSpPr/>
          <p:nvPr/>
        </p:nvSpPr>
        <p:spPr>
          <a:xfrm>
            <a:off x="7040880" y="2395728"/>
            <a:ext cx="310896" cy="310896"/>
          </a:xfrm>
          <a:prstGeom prst="ellipse">
            <a:avLst/>
          </a:prstGeom>
          <a:solidFill>
            <a:schemeClr val="accent1"/>
          </a:solidFill>
          <a:ln w="12700">
            <a:solidFill>
              <a:schemeClr val="accent1"/>
            </a:solidFill>
            <a:prstDash val="solid"/>
          </a:ln>
        </p:spPr>
      </p:sp>
      <p:sp>
        <p:nvSpPr>
          <p:cNvPr id="16" name="key idea 2 number"/>
          <p:cNvSpPr txBox="1"/>
          <p:nvPr/>
        </p:nvSpPr>
        <p:spPr>
          <a:xfrm>
            <a:off x="7040880" y="2395728"/>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key idea 2"/>
          <p:cNvSpPr txBox="1"/>
          <p:nvPr/>
        </p:nvSpPr>
        <p:spPr>
          <a:xfrm>
            <a:off x="7498080" y="2386584"/>
            <a:ext cx="4160520" cy="740664"/>
          </a:xfrm>
          <a:prstGeom prst="rect">
            <a:avLst/>
          </a:prstGeom>
          <a:noFill/>
          <a:ln/>
        </p:spPr>
        <p:txBody>
          <a:bodyPr wrap="square" lIns="0" tIns="0" rIns="0" bIns="0" rtlCol="0" anchor="t"/>
          <a:lstStyle/>
          <a:p>
            <a:pPr indent="0" marL="0">
              <a:buNone/>
            </a:pPr>
            <a:r>
              <a:rPr lang="en-US" sz="1450" b="1" dirty="0">
                <a:solidFill>
                  <a:schemeClr val="tx1"/>
                </a:solidFill>
              </a:rPr>
              <a:t>Measured steering. </a:t>
            </a:r>
            <a:pPr indent="0" marL="0">
              <a:buNone/>
            </a:pPr>
            <a:r>
              <a:rPr lang="en-US" sz="1450" dirty="0">
                <a:solidFill>
                  <a:schemeClr val="tx2"/>
                </a:solidFill>
              </a:rPr>
              <a:t>Yaw from the essential matrix between the live view and the waypoint photo; it keeps control down to 30 inliers.</a:t>
            </a:r>
            <a:endParaRPr lang="en-US" sz="1450" dirty="0"/>
          </a:p>
        </p:txBody>
      </p:sp>
      <p:sp>
        <p:nvSpPr>
          <p:cNvPr id="18" name="key idea 3 circle"/>
          <p:cNvSpPr/>
          <p:nvPr/>
        </p:nvSpPr>
        <p:spPr>
          <a:xfrm>
            <a:off x="7040880" y="3319272"/>
            <a:ext cx="310896" cy="310896"/>
          </a:xfrm>
          <a:prstGeom prst="ellipse">
            <a:avLst/>
          </a:prstGeom>
          <a:solidFill>
            <a:schemeClr val="accent1"/>
          </a:solidFill>
          <a:ln w="12700">
            <a:solidFill>
              <a:schemeClr val="accent1"/>
            </a:solidFill>
            <a:prstDash val="solid"/>
          </a:ln>
        </p:spPr>
      </p:sp>
      <p:sp>
        <p:nvSpPr>
          <p:cNvPr id="19" name="key idea 3 number"/>
          <p:cNvSpPr txBox="1"/>
          <p:nvPr/>
        </p:nvSpPr>
        <p:spPr>
          <a:xfrm>
            <a:off x="7040880" y="33192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key idea 3"/>
          <p:cNvSpPr txBox="1"/>
          <p:nvPr/>
        </p:nvSpPr>
        <p:spPr>
          <a:xfrm>
            <a:off x="7498080" y="3310128"/>
            <a:ext cx="4160520" cy="512064"/>
          </a:xfrm>
          <a:prstGeom prst="rect">
            <a:avLst/>
          </a:prstGeom>
          <a:noFill/>
          <a:ln/>
        </p:spPr>
        <p:txBody>
          <a:bodyPr wrap="square" lIns="0" tIns="0" rIns="0" bIns="0" rtlCol="0" anchor="t"/>
          <a:lstStyle/>
          <a:p>
            <a:pPr indent="0" marL="0">
              <a:buNone/>
            </a:pPr>
            <a:r>
              <a:rPr lang="en-US" sz="1450" b="1" dirty="0">
                <a:solidFill>
                  <a:schemeClr val="tx1"/>
                </a:solidFill>
              </a:rPr>
              <a:t>No repeated detours. </a:t>
            </a:r>
            <a:pPr indent="0" marL="0">
              <a:buNone/>
            </a:pPr>
            <a:r>
              <a:rPr lang="en-US" sz="1450" dirty="0">
                <a:solidFill>
                  <a:schemeClr val="tx2"/>
                </a:solidFill>
              </a:rPr>
              <a:t>A stretch that stalls gets costlier once, then the route is re-planned.</a:t>
            </a:r>
            <a:endParaRPr lang="en-US" sz="1450" dirty="0"/>
          </a:p>
        </p:txBody>
      </p:sp>
      <p:sp>
        <p:nvSpPr>
          <p:cNvPr id="21" name="key idea 4 circle"/>
          <p:cNvSpPr/>
          <p:nvPr/>
        </p:nvSpPr>
        <p:spPr>
          <a:xfrm>
            <a:off x="7040880" y="4014216"/>
            <a:ext cx="310896" cy="310896"/>
          </a:xfrm>
          <a:prstGeom prst="ellipse">
            <a:avLst/>
          </a:prstGeom>
          <a:solidFill>
            <a:schemeClr val="accent1"/>
          </a:solidFill>
          <a:ln w="12700">
            <a:solidFill>
              <a:schemeClr val="accent1"/>
            </a:solidFill>
            <a:prstDash val="solid"/>
          </a:ln>
        </p:spPr>
      </p:sp>
      <p:sp>
        <p:nvSpPr>
          <p:cNvPr id="22" name="key idea 4 number"/>
          <p:cNvSpPr txBox="1"/>
          <p:nvPr/>
        </p:nvSpPr>
        <p:spPr>
          <a:xfrm>
            <a:off x="7040880" y="4014216"/>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key idea 4"/>
          <p:cNvSpPr txBox="1"/>
          <p:nvPr/>
        </p:nvSpPr>
        <p:spPr>
          <a:xfrm>
            <a:off x="7498080" y="4005072"/>
            <a:ext cx="4160520" cy="969264"/>
          </a:xfrm>
          <a:prstGeom prst="rect">
            <a:avLst/>
          </a:prstGeom>
          <a:noFill/>
          <a:ln/>
        </p:spPr>
        <p:txBody>
          <a:bodyPr wrap="square" lIns="0" tIns="0" rIns="0" bIns="0" rtlCol="0" anchor="t"/>
          <a:lstStyle/>
          <a:p>
            <a:pPr indent="0" marL="0">
              <a:buNone/>
            </a:pPr>
            <a:r>
              <a:rPr lang="en-US" sz="1450" b="1" dirty="0">
                <a:solidFill>
                  <a:schemeClr val="tx1"/>
                </a:solidFill>
              </a:rPr>
              <a:t>Robust goal choice. </a:t>
            </a:r>
            <a:pPr indent="0" marL="0">
              <a:buNone/>
            </a:pPr>
            <a:r>
              <a:rPr lang="en-US" sz="1450" dirty="0">
                <a:solidFill>
                  <a:schemeClr val="tx2"/>
                </a:solidFill>
              </a:rPr>
              <a:t>Each goal photo is checked against AnyLoc’s top 64 map photos; the strongest SuperGlue match is the goal node (photo 2). Wrong goal in 1 of 13 test mazes, down from 4 of 13.</a:t>
            </a:r>
            <a:endParaRPr lang="en-US" sz="1450" dirty="0"/>
          </a:p>
        </p:txBody>
      </p:sp>
      <p:sp>
        <p:nvSpPr>
          <p:cNvPr id="24" name="key idea 5 circle"/>
          <p:cNvSpPr/>
          <p:nvPr/>
        </p:nvSpPr>
        <p:spPr>
          <a:xfrm>
            <a:off x="7040880" y="5166360"/>
            <a:ext cx="310896" cy="310896"/>
          </a:xfrm>
          <a:prstGeom prst="ellipse">
            <a:avLst/>
          </a:prstGeom>
          <a:solidFill>
            <a:schemeClr val="accent1"/>
          </a:solidFill>
          <a:ln w="12700">
            <a:solidFill>
              <a:schemeClr val="accent1"/>
            </a:solidFill>
            <a:prstDash val="solid"/>
          </a:ln>
        </p:spPr>
      </p:sp>
      <p:sp>
        <p:nvSpPr>
          <p:cNvPr id="25" name="key idea 5 number"/>
          <p:cNvSpPr txBox="1"/>
          <p:nvPr/>
        </p:nvSpPr>
        <p:spPr>
          <a:xfrm>
            <a:off x="7040880" y="5166360"/>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key idea 5"/>
          <p:cNvSpPr txBox="1"/>
          <p:nvPr/>
        </p:nvSpPr>
        <p:spPr>
          <a:xfrm>
            <a:off x="7498080" y="5157216"/>
            <a:ext cx="4160520" cy="740664"/>
          </a:xfrm>
          <a:prstGeom prst="rect">
            <a:avLst/>
          </a:prstGeom>
          <a:noFill/>
          <a:ln/>
        </p:spPr>
        <p:txBody>
          <a:bodyPr wrap="square" lIns="0" tIns="0" rIns="0" bIns="0" rtlCol="0" anchor="t"/>
          <a:lstStyle/>
          <a:p>
            <a:pPr indent="0" marL="0">
              <a:buNone/>
            </a:pPr>
            <a:r>
              <a:rPr lang="en-US" sz="1450" b="1" dirty="0">
                <a:solidFill>
                  <a:schemeClr val="tx1"/>
                </a:solidFill>
              </a:rPr>
              <a:t>Safe check-in. </a:t>
            </a:r>
            <a:pPr indent="0" marL="0">
              <a:buNone/>
            </a:pPr>
            <a:r>
              <a:rPr lang="en-US" sz="1450" dirty="0">
                <a:solidFill>
                  <a:schemeClr val="tx2"/>
                </a:solidFill>
              </a:rPr>
              <a:t>Only on 35+ inliers with the goal photo, 3 readings in a row (photo 3). Correct check-ins had 43–122 inliers, wrong ones 21–25.</a:t>
            </a:r>
            <a:endParaRPr lang="en-US" sz="145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Visual Navigation">
  <a:themeElements>
    <a:clrScheme name="Visual Navigation">
      <a:dk1>
        <a:srgbClr val="14213D"/>
      </a:dk1>
      <a:lt1>
        <a:srgbClr val="FFFFFF"/>
      </a:lt1>
      <a:dk2>
        <a:srgbClr val="3A4556"/>
      </a:dk2>
      <a:lt2>
        <a:srgbClr val="EEF2F6"/>
      </a:lt2>
      <a:accent1>
        <a:srgbClr val="2B6CB0"/>
      </a:accent1>
      <a:accent2>
        <a:srgbClr val="C05621"/>
      </a:accent2>
      <a:accent3>
        <a:srgbClr val="9AA5B4"/>
      </a:accent3>
      <a:accent4>
        <a:srgbClr val="F6C391"/>
      </a:accent4>
      <a:accent5>
        <a:srgbClr val="DCE6F2"/>
      </a:accent5>
      <a:accent6>
        <a:srgbClr val="FBEADF"/>
      </a:accent6>
      <a:hlink>
        <a:srgbClr val="2B6CB0"/>
      </a:hlink>
      <a:folHlink>
        <a:srgbClr val="5A7A99"/>
      </a:folHlink>
    </a:clrScheme>
    <a:fontScheme name="Visual Nav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Perception Course Project - Mid-term Report</dc:title>
  <dc:subject>Visual Navigation Challenge, Fall 2026</dc:subject>
  <dc:creator>PptxGenJS</dc:creator>
  <cp:lastModifiedBy>PptxGenJS</cp:lastModifiedBy>
  <cp:revision>1</cp:revision>
  <dcterms:created xsi:type="dcterms:W3CDTF">2026-10-30T20:21:59Z</dcterms:created>
  <dcterms:modified xsi:type="dcterms:W3CDTF">2026-10-30T20:21:59Z</dcterms:modified>
</cp:coreProperties>
</file>