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8e510d6a-0548-d931-6219-5b8c5c0c8af4}">
          <p14:sldIdLst>
            <p14:sldId id="256"/>
          </p14:sldIdLst>
        </p14:section>
        <p14:section name="Problem" id="{25bc8843-b9fc-4437-267c-9b422f25dee3}">
          <p14:sldIdLst>
            <p14:sldId id="257"/>
          </p14:sldIdLst>
        </p14:section>
        <p14:section name="Method" id="{931b2af5-f374-bf13-5ed2-6aab52cf4ce6}">
          <p14:sldIdLst>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Perception course project, Visual Navigation Challenge: mid-term report. The picture is the mid-term maze as the robot mapped it, with the route it believed it drove from the start to the check-in.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only sees camera images, has four photos of the goal and the photos of three earlier drives. It must check in within 0.2 m and 20 degrees, and SPL rewards few steps. The hard parts are the trade-off between checking carefully and saving steps, lining up exactly in the last metre, and dead ends that cost many steps to back out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moving: build a graph of the exploration photos, add shortcut links where AnyLoc proposes and SuperGlue confirms the same place, place every photo in metres to cost the links in steps, pick the goal photo by matching the four goal photos, and compute the cheapest route to it with Dijkstra.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move: find the closest exploration photo, take the route from it, steer to a waypoint photo by the angle SuperGlue and the essential matrix give, undo recorded moves to back out along a drive, check the route photos or re-plan when stuck, and in the last metre line up with the goal photos and check in only after three strong readings. The picture is a local test maze with the same code; the server never reveals the robot’s true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783080"/>
            <a:ext cx="640080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64240" cy="658368"/>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46520"/>
            <a:ext cx="7315200" cy="256032"/>
          </a:xfrm>
          <a:prstGeom prst="rect">
            <a:avLst/>
          </a:prstGeom>
          <a:noFill/>
          <a:ln/>
        </p:spPr>
        <p:txBody>
          <a:bodyPr wrap="square" lIns="0" tIns="0" rIns="0" bIns="0" rtlCol="0" anchor="ctr"/>
          <a:lstStyle/>
          <a:p>
            <a:pPr indent="0" marL="0">
              <a:buNone/>
            </a:pPr>
            <a:r>
              <a:rPr lang="en-US" sz="900" spc="150" kern="0" dirty="0">
                <a:solidFill>
                  <a:schemeClr val="accent3"/>
                </a:solidFill>
              </a:rPr>
              <a:t>VISUAL NAVIGATION CHALLENGE  ·  MID-TERM REPORT</a:t>
            </a:r>
            <a:endParaRPr lang="en-US" sz="9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822960" y="1188720"/>
            <a:ext cx="6583680" cy="365760"/>
          </a:xfrm>
          <a:prstGeom prst="rect">
            <a:avLst/>
          </a:prstGeom>
          <a:noFill/>
          <a:ln/>
        </p:spPr>
        <p:txBody>
          <a:bodyPr wrap="square" lIns="0" tIns="0" rIns="0" bIns="0" rtlCol="0" anchor="ctr"/>
          <a:lstStyle/>
          <a:p>
            <a:pPr indent="0" marL="0">
              <a:buNone/>
            </a:pPr>
            <a:r>
              <a:rPr lang="en-US" sz="1300" spc="200" kern="0" dirty="0">
                <a:solidFill>
                  <a:schemeClr val="accent5"/>
                </a:solidFill>
              </a:rPr>
              <a:t>VISUAL NAVIGATION CHALLENGE  ·  MID-TERM REPORT  ·  FALL 2026</a:t>
            </a:r>
            <a:endParaRPr lang="en-US" sz="1300" dirty="0"/>
          </a:p>
        </p:txBody>
      </p:sp>
      <p:sp>
        <p:nvSpPr>
          <p:cNvPr id="3" name="Text 0"/>
          <p:cNvSpPr/>
          <p:nvPr>
            <p:ph idx="100" type="title" hasCustomPrompt="1"/>
          </p:nvPr>
        </p:nvSpPr>
        <p:spPr>
          <a:xfrm>
            <a:off x="822960" y="1783080"/>
            <a:ext cx="6400800" cy="1737360"/>
          </a:xfrm>
          <a:prstGeom prst="rect">
            <a:avLst/>
          </a:prstGeom>
          <a:noFill/>
          <a:ln/>
        </p:spPr>
        <p:txBody>
          <a:bodyPr wrap="square" lIns="0" tIns="0" rIns="0" bIns="0" rtlCol="0" anchor="t"/>
          <a:lstStyle/>
          <a:p>
            <a:pPr algn="l" indent="0" marL="0">
              <a:buNone/>
            </a:pPr>
            <a:r>
              <a:rPr lang="en-US" sz="4400" b="1" dirty="0">
                <a:solidFill>
                  <a:schemeClr val="bg1"/>
                </a:solidFill>
              </a:rPr>
              <a:t>Robot Perception</a:t>
            </a:r>
            <a:endParaRPr lang="en-US" sz="4400" dirty="0"/>
          </a:p>
          <a:p>
            <a:pPr algn="l" indent="0" marL="0">
              <a:buNone/>
            </a:pPr>
            <a:r>
              <a:rPr lang="en-US" sz="4400" b="1" dirty="0">
                <a:solidFill>
                  <a:schemeClr val="bg1"/>
                </a:solidFill>
              </a:rPr>
              <a:t>Course Project</a:t>
            </a:r>
            <a:endParaRPr lang="en-US" sz="4400" dirty="0"/>
          </a:p>
        </p:txBody>
      </p:sp>
      <p:sp>
        <p:nvSpPr>
          <p:cNvPr id="4" name="team"/>
          <p:cNvSpPr txBox="1"/>
          <p:nvPr/>
        </p:nvSpPr>
        <p:spPr>
          <a:xfrm>
            <a:off x="822960" y="3703320"/>
            <a:ext cx="6400800" cy="640080"/>
          </a:xfrm>
          <a:prstGeom prst="rect">
            <a:avLst/>
          </a:prstGeom>
          <a:noFill/>
          <a:ln/>
        </p:spPr>
        <p:txBody>
          <a:bodyPr wrap="square" lIns="0" tIns="0" rIns="0" bIns="0" rtlCol="0" anchor="ctr"/>
          <a:lstStyle/>
          <a:p>
            <a:pPr indent="0" marL="0">
              <a:buNone/>
            </a:pPr>
            <a:r>
              <a:rPr lang="en-US" sz="3000" dirty="0">
                <a:solidFill>
                  <a:schemeClr val="accent4"/>
                </a:solidFill>
                <a:latin typeface="Cambria" pitchFamily="34" charset="0"/>
                <a:ea typeface="Cambria" pitchFamily="34" charset="-122"/>
                <a:cs typeface="Cambria" pitchFamily="34" charset="-120"/>
              </a:rPr>
              <a:t>[Team Name]</a:t>
            </a:r>
            <a:endParaRPr lang="en-US" sz="3000" dirty="0"/>
          </a:p>
        </p:txBody>
      </p:sp>
      <p:sp>
        <p:nvSpPr>
          <p:cNvPr id="5" name="members"/>
          <p:cNvSpPr txBox="1"/>
          <p:nvPr/>
        </p:nvSpPr>
        <p:spPr>
          <a:xfrm>
            <a:off x="822960" y="4526280"/>
            <a:ext cx="6400800" cy="914400"/>
          </a:xfrm>
          <a:prstGeom prst="rect">
            <a:avLst/>
          </a:prstGeom>
          <a:noFill/>
          <a:ln/>
        </p:spPr>
        <p:txBody>
          <a:bodyPr wrap="square" lIns="0" tIns="0" rIns="0" bIns="0" rtlCol="0" anchor="ctr"/>
          <a:lstStyle/>
          <a:p>
            <a:pPr indent="0" marL="0">
              <a:spcAft>
                <a:spcPts val="600"/>
              </a:spcAft>
              <a:buNone/>
            </a:pPr>
            <a:r>
              <a:rPr lang="en-US" sz="2000" dirty="0">
                <a:solidFill>
                  <a:schemeClr val="accent5"/>
                </a:solidFill>
              </a:rPr>
              <a:t>Kartik Parameshwaran (kp3932)</a:t>
            </a:r>
            <a:endParaRPr lang="en-US" sz="2000" dirty="0"/>
          </a:p>
          <a:p>
            <a:pPr indent="0" marL="0">
              <a:spcAft>
                <a:spcPts val="600"/>
              </a:spcAft>
              <a:buNone/>
            </a:pPr>
            <a:r>
              <a:rPr lang="en-US" sz="2000" dirty="0">
                <a:solidFill>
                  <a:schemeClr val="accent5"/>
                </a:solidFill>
              </a:rPr>
              <a:t>Arya Kishor ([NetID2])</a:t>
            </a:r>
            <a:endParaRPr lang="en-US" sz="2000" dirty="0"/>
          </a:p>
        </p:txBody>
      </p:sp>
      <p:sp>
        <p:nvSpPr>
          <p:cNvPr id="6" name="maze picture frame"/>
          <p:cNvSpPr/>
          <p:nvPr/>
        </p:nvSpPr>
        <p:spPr>
          <a:xfrm>
            <a:off x="7863840" y="960120"/>
            <a:ext cx="3794760" cy="4572080"/>
          </a:xfrm>
          <a:prstGeom prst="roundRect">
            <a:avLst>
              <a:gd name="adj" fmla="val 2892"/>
            </a:avLst>
          </a:prstGeom>
          <a:solidFill>
            <a:schemeClr val="tx2"/>
          </a:solidFill>
          <a:ln w="12700">
            <a:solidFill>
              <a:schemeClr val="tx2"/>
            </a:solidFill>
            <a:prstDash val="solid"/>
          </a:ln>
        </p:spPr>
      </p:sp>
      <p:pic>
        <p:nvPicPr>
          <p:cNvPr id="7" name="title mid-term map" descr="Top view of the mid-term maze reconstructed from the robot’s own metric map, with the route it believed it drove from the start to the check-in">    </p:cNvPr>
          <p:cNvPicPr>
            <a:picLocks noChangeAspect="1"/>
          </p:cNvPicPr>
          <p:nvPr/>
        </p:nvPicPr>
        <p:blipFill>
          <a:blip r:embed="rId1"/>
          <a:stretch>
            <a:fillRect/>
          </a:stretch>
        </p:blipFill>
        <p:spPr>
          <a:xfrm>
            <a:off x="8046720" y="1143000"/>
            <a:ext cx="3429000" cy="3703400"/>
          </a:xfrm>
          <a:prstGeom prst="rect">
            <a:avLst/>
          </a:prstGeom>
        </p:spPr>
      </p:pic>
      <p:sp>
        <p:nvSpPr>
          <p:cNvPr id="8" name="title maze caption"/>
          <p:cNvSpPr txBox="1"/>
          <p:nvPr/>
        </p:nvSpPr>
        <p:spPr>
          <a:xfrm>
            <a:off x="8046720" y="4892120"/>
            <a:ext cx="3429000" cy="548640"/>
          </a:xfrm>
          <a:prstGeom prst="rect">
            <a:avLst/>
          </a:prstGeom>
          <a:noFill/>
          <a:ln/>
        </p:spPr>
        <p:txBody>
          <a:bodyPr wrap="square" lIns="0" tIns="0" rIns="0" bIns="0" rtlCol="0" anchor="ctr"/>
          <a:lstStyle/>
          <a:p>
            <a:pPr indent="0" marL="0">
              <a:buNone/>
            </a:pPr>
            <a:r>
              <a:rPr lang="en-US" sz="1050" i="1" dirty="0">
                <a:solidFill>
                  <a:schemeClr val="accent5"/>
                </a:solidFill>
              </a:rPr>
              <a:t>The mid-term maze as the robot mapped it: its route from start to check-in (own map, not to scale)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PROBLEM</a:t>
            </a:r>
            <a:endParaRPr lang="en-US" sz="1100" dirty="0"/>
          </a:p>
        </p:txBody>
      </p:sp>
      <p:sp>
        <p:nvSpPr>
          <p:cNvPr id="3" name="Text 0"/>
          <p:cNvSpPr/>
          <p:nvPr>
            <p:ph idx="100" type="title" hasCustomPrompt="1"/>
          </p:nvPr>
        </p:nvSpPr>
        <p:spPr>
          <a:xfrm>
            <a:off x="548640" y="548640"/>
            <a:ext cx="11064240" cy="658368"/>
          </a:xfrm>
          <a:prstGeom prst="rect">
            <a:avLst/>
          </a:prstGeom>
          <a:noFill/>
          <a:ln/>
        </p:spPr>
        <p:txBody>
          <a:bodyPr wrap="square" lIns="0" tIns="0" rIns="0" bIns="0" rtlCol="0" anchor="ctr"/>
          <a:lstStyle/>
          <a:p>
            <a:pPr algn="l" indent="0" marL="0">
              <a:buNone/>
            </a:pPr>
            <a:r>
              <a:rPr lang="en-US" sz="3000" b="1" dirty="0">
                <a:solidFill>
                  <a:schemeClr val="tx1"/>
                </a:solidFill>
              </a:rPr>
              <a:t>Description of the problem and references</a:t>
            </a:r>
            <a:endParaRPr lang="en-US" sz="3000" dirty="0"/>
          </a:p>
        </p:txBody>
      </p:sp>
      <p:sp>
        <p:nvSpPr>
          <p:cNvPr id="4" name="problem description"/>
          <p:cNvSpPr txBox="1"/>
          <p:nvPr/>
        </p:nvSpPr>
        <p:spPr>
          <a:xfrm>
            <a:off x="548640" y="1371600"/>
            <a:ext cx="6400800" cy="2514600"/>
          </a:xfrm>
          <a:prstGeom prst="rect">
            <a:avLst/>
          </a:prstGeom>
          <a:noFill/>
          <a:ln/>
        </p:spPr>
        <p:txBody>
          <a:bodyPr wrap="square" lIns="0" tIns="0" rIns="0" bIns="0" rtlCol="0" anchor="t"/>
          <a:lstStyle/>
          <a:p>
            <a:pPr indent="0" marL="0">
              <a:spcAft>
                <a:spcPts val="500"/>
              </a:spcAft>
              <a:buNone/>
            </a:pPr>
            <a:r>
              <a:rPr lang="en-US" sz="1350" dirty="0">
                <a:solidFill>
                  <a:schemeClr val="tx2"/>
                </a:solidFill>
              </a:rPr>
              <a:t>The robot is placed in a maze it has never seen and has to drive to a goal spot and check in there. It is never told its position and has no map. All it has is:</a:t>
            </a:r>
            <a:endParaRPr lang="en-US" sz="1350" dirty="0"/>
          </a:p>
          <a:p>
            <a:pPr marL="342900" indent="-342900">
              <a:spcAft>
                <a:spcPts val="500"/>
              </a:spcAft>
              <a:buSzPct val="100000"/>
              <a:buChar char="•"/>
            </a:pPr>
            <a:r>
              <a:rPr lang="en-US" sz="1350" dirty="0">
                <a:solidFill>
                  <a:schemeClr val="tx2"/>
                </a:solidFill>
              </a:rPr>
              <a:t>its own 320 × 240 camera image after every move (no bump sensor),</a:t>
            </a:r>
            <a:endParaRPr lang="en-US" sz="1350" dirty="0"/>
          </a:p>
          <a:p>
            <a:pPr marL="342900" indent="-342900">
              <a:spcAft>
                <a:spcPts val="500"/>
              </a:spcAft>
              <a:buSzPct val="100000"/>
              <a:buChar char="•"/>
            </a:pPr>
            <a:r>
              <a:rPr lang="en-US" sz="1350" dirty="0">
                <a:solidFill>
                  <a:schemeClr val="tx2"/>
                </a:solidFill>
              </a:rPr>
              <a:t>four photos taken at the goal spot (front, left, back, right),</a:t>
            </a:r>
            <a:endParaRPr lang="en-US" sz="1350" dirty="0"/>
          </a:p>
          <a:p>
            <a:pPr marL="342900" indent="-342900">
              <a:spcAft>
                <a:spcPts val="500"/>
              </a:spcAft>
              <a:buSzPct val="100000"/>
              <a:buChar char="•"/>
            </a:pPr>
            <a:r>
              <a:rPr lang="en-US" sz="1350" dirty="0">
                <a:solidFill>
                  <a:schemeClr val="tx2"/>
                </a:solidFill>
              </a:rPr>
              <a:t>the photos of three earlier exploration drives through the same maze, each labelled with the move made after it.</a:t>
            </a:r>
            <a:endParaRPr lang="en-US" sz="1350" dirty="0"/>
          </a:p>
          <a:p>
            <a:pPr indent="0" marL="0">
              <a:spcAft>
                <a:spcPts val="500"/>
              </a:spcAft>
              <a:buNone/>
            </a:pPr>
            <a:r>
              <a:rPr lang="en-US" sz="1350" dirty="0">
                <a:solidFill>
                  <a:schemeClr val="tx2"/>
                </a:solidFill>
              </a:rPr>
              <a:t>A check-in only counts within 0.2 m and 20° of the goal. Points come from distance, heading and SPL (shortest path ÷ steps taken), so every extra step costs points.</a:t>
            </a:r>
            <a:endParaRPr lang="en-US" sz="1350" dirty="0"/>
          </a:p>
        </p:txBody>
      </p:sp>
      <p:sp>
        <p:nvSpPr>
          <p:cNvPr id="5" name="hard heading"/>
          <p:cNvSpPr txBox="1"/>
          <p:nvPr/>
        </p:nvSpPr>
        <p:spPr>
          <a:xfrm>
            <a:off x="548640" y="3611880"/>
            <a:ext cx="6400800" cy="292608"/>
          </a:xfrm>
          <a:prstGeom prst="rect">
            <a:avLst/>
          </a:prstGeom>
          <a:noFill/>
          <a:ln/>
        </p:spPr>
        <p:txBody>
          <a:bodyPr wrap="square" lIns="0" tIns="0" rIns="0" bIns="0" rtlCol="0" anchor="ctr"/>
          <a:lstStyle/>
          <a:p>
            <a:pPr indent="0" marL="0">
              <a:buNone/>
            </a:pPr>
            <a:r>
              <a:rPr lang="en-US" sz="1500" b="1" dirty="0">
                <a:solidFill>
                  <a:schemeClr val="accent2"/>
                </a:solidFill>
              </a:rPr>
              <a:t>What makes it hard</a:t>
            </a:r>
            <a:endParaRPr lang="en-US" sz="1500" dirty="0"/>
          </a:p>
        </p:txBody>
      </p:sp>
      <p:sp>
        <p:nvSpPr>
          <p:cNvPr id="6" name="difficulty 1 circle"/>
          <p:cNvSpPr/>
          <p:nvPr/>
        </p:nvSpPr>
        <p:spPr>
          <a:xfrm>
            <a:off x="548640" y="4023360"/>
            <a:ext cx="292608" cy="292608"/>
          </a:xfrm>
          <a:prstGeom prst="ellipse">
            <a:avLst/>
          </a:prstGeom>
          <a:solidFill>
            <a:schemeClr val="accent2"/>
          </a:solidFill>
          <a:ln w="12700">
            <a:solidFill>
              <a:schemeClr val="accent2"/>
            </a:solidFill>
            <a:prstDash val="solid"/>
          </a:ln>
        </p:spPr>
      </p:sp>
      <p:sp>
        <p:nvSpPr>
          <p:cNvPr id="7" name="difficulty 1 number"/>
          <p:cNvSpPr txBox="1"/>
          <p:nvPr/>
        </p:nvSpPr>
        <p:spPr>
          <a:xfrm>
            <a:off x="548640" y="40233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difficulty 1 text"/>
          <p:cNvSpPr txBox="1"/>
          <p:nvPr/>
        </p:nvSpPr>
        <p:spPr>
          <a:xfrm>
            <a:off x="978408" y="4005072"/>
            <a:ext cx="5971032" cy="672084"/>
          </a:xfrm>
          <a:prstGeom prst="rect">
            <a:avLst/>
          </a:prstGeom>
          <a:noFill/>
          <a:ln/>
        </p:spPr>
        <p:txBody>
          <a:bodyPr wrap="square" lIns="0" tIns="0" rIns="0" bIns="0" rtlCol="0" anchor="t"/>
          <a:lstStyle/>
          <a:p>
            <a:pPr indent="0" marL="0">
              <a:buNone/>
            </a:pPr>
            <a:r>
              <a:rPr lang="en-US" sz="1350" b="1" dirty="0">
                <a:solidFill>
                  <a:schemeClr val="tx1"/>
                </a:solidFill>
              </a:rPr>
              <a:t>Accuracy vs. number of steps. </a:t>
            </a:r>
            <a:pPr indent="0" marL="0">
              <a:buNone/>
            </a:pPr>
            <a:r>
              <a:rPr lang="en-US" sz="1350" dirty="0">
                <a:solidFill>
                  <a:schemeClr val="tx2"/>
                </a:solidFill>
              </a:rPr>
              <a:t>Checking more carefully where it is (turning to look, planning again) avoids getting lost, but every move counts against SPL, and a fast move on a wrong guess wastes even more.</a:t>
            </a:r>
            <a:endParaRPr lang="en-US" sz="1350" dirty="0"/>
          </a:p>
        </p:txBody>
      </p:sp>
      <p:sp>
        <p:nvSpPr>
          <p:cNvPr id="9" name="difficulty 2 circle"/>
          <p:cNvSpPr/>
          <p:nvPr/>
        </p:nvSpPr>
        <p:spPr>
          <a:xfrm>
            <a:off x="548640" y="4841748"/>
            <a:ext cx="292608" cy="292608"/>
          </a:xfrm>
          <a:prstGeom prst="ellipse">
            <a:avLst/>
          </a:prstGeom>
          <a:solidFill>
            <a:schemeClr val="accent2"/>
          </a:solidFill>
          <a:ln w="12700">
            <a:solidFill>
              <a:schemeClr val="accent2"/>
            </a:solidFill>
            <a:prstDash val="solid"/>
          </a:ln>
        </p:spPr>
      </p:sp>
      <p:sp>
        <p:nvSpPr>
          <p:cNvPr id="10" name="difficulty 2 number"/>
          <p:cNvSpPr txBox="1"/>
          <p:nvPr/>
        </p:nvSpPr>
        <p:spPr>
          <a:xfrm>
            <a:off x="548640" y="4841748"/>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difficulty 2 text"/>
          <p:cNvSpPr txBox="1"/>
          <p:nvPr/>
        </p:nvSpPr>
        <p:spPr>
          <a:xfrm>
            <a:off x="978408" y="4823460"/>
            <a:ext cx="5971032" cy="466344"/>
          </a:xfrm>
          <a:prstGeom prst="rect">
            <a:avLst/>
          </a:prstGeom>
          <a:noFill/>
          <a:ln/>
        </p:spPr>
        <p:txBody>
          <a:bodyPr wrap="square" lIns="0" tIns="0" rIns="0" bIns="0" rtlCol="0" anchor="t"/>
          <a:lstStyle/>
          <a:p>
            <a:pPr indent="0" marL="0">
              <a:buNone/>
            </a:pPr>
            <a:r>
              <a:rPr lang="en-US" sz="1350" b="1" dirty="0">
                <a:solidFill>
                  <a:schemeClr val="tx1"/>
                </a:solidFill>
              </a:rPr>
              <a:t>The last metre. </a:t>
            </a:r>
            <a:pPr indent="0" marL="0">
              <a:buNone/>
            </a:pPr>
            <a:r>
              <a:rPr lang="en-US" sz="1350" dirty="0">
                <a:solidFill>
                  <a:schemeClr val="tx2"/>
                </a:solidFill>
              </a:rPr>
              <a:t>The photo map only gets the robot near the goal. Checking in within 0.2 m and 20° needs it to line up with the goal photos themselves.</a:t>
            </a:r>
            <a:endParaRPr lang="en-US" sz="1350" dirty="0"/>
          </a:p>
        </p:txBody>
      </p:sp>
      <p:sp>
        <p:nvSpPr>
          <p:cNvPr id="12" name="difficulty 3 circle"/>
          <p:cNvSpPr/>
          <p:nvPr/>
        </p:nvSpPr>
        <p:spPr>
          <a:xfrm>
            <a:off x="548640" y="5454396"/>
            <a:ext cx="292608" cy="292608"/>
          </a:xfrm>
          <a:prstGeom prst="ellipse">
            <a:avLst/>
          </a:prstGeom>
          <a:solidFill>
            <a:schemeClr val="accent2"/>
          </a:solidFill>
          <a:ln w="12700">
            <a:solidFill>
              <a:schemeClr val="accent2"/>
            </a:solidFill>
            <a:prstDash val="solid"/>
          </a:ln>
        </p:spPr>
      </p:sp>
      <p:sp>
        <p:nvSpPr>
          <p:cNvPr id="13" name="difficulty 3 number"/>
          <p:cNvSpPr txBox="1"/>
          <p:nvPr/>
        </p:nvSpPr>
        <p:spPr>
          <a:xfrm>
            <a:off x="548640" y="545439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difficulty 3 text"/>
          <p:cNvSpPr txBox="1"/>
          <p:nvPr/>
        </p:nvSpPr>
        <p:spPr>
          <a:xfrm>
            <a:off x="978408" y="5436108"/>
            <a:ext cx="5971032" cy="672084"/>
          </a:xfrm>
          <a:prstGeom prst="rect">
            <a:avLst/>
          </a:prstGeom>
          <a:noFill/>
          <a:ln/>
        </p:spPr>
        <p:txBody>
          <a:bodyPr wrap="square" lIns="0" tIns="0" rIns="0" bIns="0" rtlCol="0" anchor="t"/>
          <a:lstStyle/>
          <a:p>
            <a:pPr indent="0" marL="0">
              <a:buNone/>
            </a:pPr>
            <a:r>
              <a:rPr lang="en-US" sz="1350" b="1" dirty="0">
                <a:solidFill>
                  <a:schemeClr val="tx1"/>
                </a:solidFill>
              </a:rPr>
              <a:t>Dead ends. </a:t>
            </a:r>
            <a:pPr indent="0" marL="0">
              <a:buNone/>
            </a:pPr>
            <a:r>
              <a:rPr lang="en-US" sz="1350" dirty="0">
                <a:solidFill>
                  <a:schemeClr val="tx2"/>
                </a:solidFill>
              </a:rPr>
              <a:t>The maze and the exploration drives have dead ends and loops. A route along a drive can lead into one, and backing up along a drive took 36% of our mid-term steps.</a:t>
            </a:r>
            <a:endParaRPr lang="en-US" sz="1350" dirty="0"/>
          </a:p>
        </p:txBody>
      </p:sp>
      <p:sp>
        <p:nvSpPr>
          <p:cNvPr id="15" name="references card"/>
          <p:cNvSpPr/>
          <p:nvPr/>
        </p:nvSpPr>
        <p:spPr>
          <a:xfrm>
            <a:off x="7315200" y="1371600"/>
            <a:ext cx="4343400" cy="4892040"/>
          </a:xfrm>
          <a:prstGeom prst="roundRect">
            <a:avLst>
              <a:gd name="adj" fmla="val 2526"/>
            </a:avLst>
          </a:prstGeom>
          <a:solidFill>
            <a:schemeClr val="bg2"/>
          </a:solidFill>
          <a:ln w="12700">
            <a:solidFill>
              <a:schemeClr val="bg2"/>
            </a:solidFill>
            <a:prstDash val="solid"/>
          </a:ln>
        </p:spPr>
      </p:sp>
      <p:sp>
        <p:nvSpPr>
          <p:cNvPr id="16" name="references title"/>
          <p:cNvSpPr txBox="1"/>
          <p:nvPr/>
        </p:nvSpPr>
        <p:spPr>
          <a:xfrm>
            <a:off x="7543800" y="1481328"/>
            <a:ext cx="3931920" cy="365760"/>
          </a:xfrm>
          <a:prstGeom prst="rect">
            <a:avLst/>
          </a:prstGeom>
          <a:noFill/>
          <a:ln/>
        </p:spPr>
        <p:txBody>
          <a:bodyPr wrap="square" lIns="0" tIns="0" rIns="0" bIns="0" rtlCol="0" anchor="ctr"/>
          <a:lstStyle/>
          <a:p>
            <a:pPr indent="0" marL="0">
              <a:buNone/>
            </a:pPr>
            <a:r>
              <a:rPr lang="en-US" sz="1400" b="1" dirty="0">
                <a:solidFill>
                  <a:schemeClr val="tx1"/>
                </a:solidFill>
              </a:rPr>
              <a:t>References (and what we use them for)</a:t>
            </a:r>
            <a:endParaRPr lang="en-US" sz="1400" dirty="0"/>
          </a:p>
        </p:txBody>
      </p:sp>
      <p:sp>
        <p:nvSpPr>
          <p:cNvPr id="17" name="references list"/>
          <p:cNvSpPr txBox="1"/>
          <p:nvPr/>
        </p:nvSpPr>
        <p:spPr>
          <a:xfrm>
            <a:off x="7543800" y="1901952"/>
            <a:ext cx="3977640" cy="425196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000" dirty="0">
                <a:solidFill>
                  <a:schemeClr val="tx2"/>
                </a:solidFill>
              </a:rPr>
              <a:t>Savinov et al., Semi-Parametric Topological Memory for Navigation (SPTM), ICLR 2018</a:t>
            </a:r>
            <a:pPr indent="0" marL="0">
              <a:spcAft>
                <a:spcPts val="300"/>
              </a:spcAft>
              <a:buNone/>
            </a:pPr>
            <a:r>
              <a:rPr lang="en-US" sz="1000" i="1" dirty="0">
                <a:solidFill>
                  <a:schemeClr val="accent1"/>
                </a:solidFill>
              </a:rPr>
              <a:t>. Used for the photo map, and our place (R) and motion (L) networks.</a:t>
            </a:r>
            <a:endParaRPr lang="en-US" sz="1000" dirty="0"/>
          </a:p>
          <a:p>
            <a:pPr marL="342900" indent="-342900">
              <a:spcAft>
                <a:spcPts val="300"/>
              </a:spcAft>
              <a:buSzPct val="100000"/>
              <a:buFont typeface="+mj-lt"/>
              <a:buAutoNum type="arabicPeriod" startAt="1"/>
            </a:pPr>
            <a:r>
              <a:rPr lang="en-US" sz="1000" dirty="0">
                <a:solidFill>
                  <a:schemeClr val="tx2"/>
                </a:solidFill>
              </a:rPr>
              <a:t>Keetha et al., AnyLoc: Towards Universal Visual Place Recognition, IEEE RA-L 2023</a:t>
            </a:r>
            <a:pPr indent="0" marL="0">
              <a:spcAft>
                <a:spcPts val="300"/>
              </a:spcAft>
              <a:buNone/>
            </a:pPr>
            <a:r>
              <a:rPr lang="en-US" sz="1000" i="1" dirty="0">
                <a:solidFill>
                  <a:schemeClr val="accent1"/>
                </a:solidFill>
              </a:rPr>
              <a:t>. Used for finding exploration photos that look like the camera image.</a:t>
            </a:r>
            <a:endParaRPr lang="en-US" sz="1000" dirty="0"/>
          </a:p>
          <a:p>
            <a:pPr marL="342900" indent="-342900">
              <a:spcAft>
                <a:spcPts val="300"/>
              </a:spcAft>
              <a:buSzPct val="100000"/>
              <a:buFont typeface="+mj-lt"/>
              <a:buAutoNum type="arabicPeriod" startAt="1"/>
            </a:pPr>
            <a:r>
              <a:rPr lang="en-US" sz="1000" dirty="0">
                <a:solidFill>
                  <a:schemeClr val="tx2"/>
                </a:solidFill>
              </a:rPr>
              <a:t>Oquab et al., DINOv2: Learning Robust Visual Features without Supervision, TMLR 2024</a:t>
            </a:r>
            <a:pPr indent="0" marL="0">
              <a:spcAft>
                <a:spcPts val="300"/>
              </a:spcAft>
              <a:buNone/>
            </a:pPr>
            <a:r>
              <a:rPr lang="en-US" sz="1000" i="1" dirty="0">
                <a:solidFill>
                  <a:schemeClr val="accent1"/>
                </a:solidFill>
              </a:rPr>
              <a:t>. Used for the image features AnyLoc uses.</a:t>
            </a:r>
            <a:endParaRPr lang="en-US" sz="1000" dirty="0"/>
          </a:p>
          <a:p>
            <a:pPr marL="342900" indent="-342900">
              <a:spcAft>
                <a:spcPts val="300"/>
              </a:spcAft>
              <a:buSzPct val="100000"/>
              <a:buFont typeface="+mj-lt"/>
              <a:buAutoNum type="arabicPeriod" startAt="1"/>
            </a:pPr>
            <a:r>
              <a:rPr lang="en-US" sz="1000" dirty="0">
                <a:solidFill>
                  <a:schemeClr val="tx2"/>
                </a:solidFill>
              </a:rPr>
              <a:t>Jégou et al., Aggregating Local Descriptors into a Compact Image Representation (VLAD), CVPR 2010</a:t>
            </a:r>
            <a:pPr indent="0" marL="0">
              <a:spcAft>
                <a:spcPts val="300"/>
              </a:spcAft>
              <a:buNone/>
            </a:pPr>
            <a:r>
              <a:rPr lang="en-US" sz="1000" i="1" dirty="0">
                <a:solidFill>
                  <a:schemeClr val="accent1"/>
                </a:solidFill>
              </a:rPr>
              <a:t>. Used for how AnyLoc sums those features.</a:t>
            </a:r>
            <a:endParaRPr lang="en-US" sz="1000" dirty="0"/>
          </a:p>
          <a:p>
            <a:pPr marL="342900" indent="-342900">
              <a:spcAft>
                <a:spcPts val="300"/>
              </a:spcAft>
              <a:buSzPct val="100000"/>
              <a:buFont typeface="+mj-lt"/>
              <a:buAutoNum type="arabicPeriod" startAt="1"/>
            </a:pPr>
            <a:r>
              <a:rPr lang="en-US" sz="1000" dirty="0">
                <a:solidFill>
                  <a:schemeClr val="tx2"/>
                </a:solidFill>
              </a:rPr>
              <a:t>DeTone et al., SuperPoint: Self-Supervised Interest Point Detection and Description, CVPR Workshops 2018</a:t>
            </a:r>
            <a:pPr indent="0" marL="0">
              <a:spcAft>
                <a:spcPts val="300"/>
              </a:spcAft>
              <a:buNone/>
            </a:pPr>
            <a:r>
              <a:rPr lang="en-US" sz="1000" i="1" dirty="0">
                <a:solidFill>
                  <a:schemeClr val="accent1"/>
                </a:solidFill>
              </a:rPr>
              <a:t>. Used for keypoints in each photo.</a:t>
            </a:r>
            <a:endParaRPr lang="en-US" sz="1000" dirty="0"/>
          </a:p>
          <a:p>
            <a:pPr marL="342900" indent="-342900">
              <a:spcAft>
                <a:spcPts val="300"/>
              </a:spcAft>
              <a:buSzPct val="100000"/>
              <a:buFont typeface="+mj-lt"/>
              <a:buAutoNum type="arabicPeriod" startAt="1"/>
            </a:pPr>
            <a:r>
              <a:rPr lang="en-US" sz="1000" dirty="0">
                <a:solidFill>
                  <a:schemeClr val="tx2"/>
                </a:solidFill>
              </a:rPr>
              <a:t>Sarlin et al., SuperGlue: Learning Feature Matching with Graph Neural Networks, CVPR 2020</a:t>
            </a:r>
            <a:pPr indent="0" marL="0">
              <a:spcAft>
                <a:spcPts val="300"/>
              </a:spcAft>
              <a:buNone/>
            </a:pPr>
            <a:r>
              <a:rPr lang="en-US" sz="1000" i="1" dirty="0">
                <a:solidFill>
                  <a:schemeClr val="accent1"/>
                </a:solidFill>
              </a:rPr>
              <a:t>. Used for matching keypoints between two photos.</a:t>
            </a:r>
            <a:endParaRPr lang="en-US" sz="1000" dirty="0"/>
          </a:p>
          <a:p>
            <a:pPr marL="342900" indent="-342900">
              <a:spcAft>
                <a:spcPts val="300"/>
              </a:spcAft>
              <a:buSzPct val="100000"/>
              <a:buFont typeface="+mj-lt"/>
              <a:buAutoNum type="arabicPeriod" startAt="1"/>
            </a:pPr>
            <a:r>
              <a:rPr lang="en-US" sz="1000" dirty="0">
                <a:solidFill>
                  <a:schemeClr val="tx2"/>
                </a:solidFill>
              </a:rPr>
              <a:t>Nistér, An Efficient Solution to the Five-Point Relative Pose Problem, IEEE TPAMI 2004</a:t>
            </a:r>
            <a:pPr indent="0" marL="0">
              <a:spcAft>
                <a:spcPts val="300"/>
              </a:spcAft>
              <a:buNone/>
            </a:pPr>
            <a:r>
              <a:rPr lang="en-US" sz="1000" i="1" dirty="0">
                <a:solidFill>
                  <a:schemeClr val="accent1"/>
                </a:solidFill>
              </a:rPr>
              <a:t>. Used for the turning angle between two views (OpenCV findEssentialMat).</a:t>
            </a:r>
            <a:endParaRPr lang="en-US" sz="1000" dirty="0"/>
          </a:p>
          <a:p>
            <a:pPr marL="342900" indent="-342900">
              <a:spcAft>
                <a:spcPts val="300"/>
              </a:spcAft>
              <a:buSzPct val="100000"/>
              <a:buFont typeface="+mj-lt"/>
              <a:buAutoNum type="arabicPeriod" startAt="1"/>
            </a:pPr>
            <a:r>
              <a:rPr lang="en-US" sz="1000" dirty="0">
                <a:solidFill>
                  <a:schemeClr val="tx2"/>
                </a:solidFill>
              </a:rPr>
              <a:t>Fischler and Bolles, Random Sample Consensus (RANSAC), Communications of the ACM 1981</a:t>
            </a:r>
            <a:pPr indent="0" marL="0">
              <a:spcAft>
                <a:spcPts val="300"/>
              </a:spcAft>
              <a:buNone/>
            </a:pPr>
            <a:r>
              <a:rPr lang="en-US" sz="1000" i="1" dirty="0">
                <a:solidFill>
                  <a:schemeClr val="accent1"/>
                </a:solidFill>
              </a:rPr>
              <a:t>. Used for removing wrong matches.</a:t>
            </a:r>
            <a:endParaRPr lang="en-US" sz="1000" dirty="0"/>
          </a:p>
          <a:p>
            <a:pPr marL="342900" indent="-342900">
              <a:spcAft>
                <a:spcPts val="300"/>
              </a:spcAft>
              <a:buSzPct val="100000"/>
              <a:buFont typeface="+mj-lt"/>
              <a:buAutoNum type="arabicPeriod" startAt="1"/>
            </a:pPr>
            <a:r>
              <a:rPr lang="en-US" sz="1000" dirty="0">
                <a:solidFill>
                  <a:schemeClr val="tx2"/>
                </a:solidFill>
              </a:rPr>
              <a:t>Tools: PyTorch, OpenCV, NetworkX (Dijkstra) and the course’s vis-nav SDK</a:t>
            </a:r>
            <a:pPr indent="0" marL="0">
              <a:spcAft>
                <a:spcPts val="300"/>
              </a:spcAft>
              <a:buNone/>
            </a:pPr>
            <a:endParaRPr lang="en-US" sz="10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METHOD  ·  1 OF 2</a:t>
            </a:r>
            <a:endParaRPr lang="en-US" sz="1100" dirty="0"/>
          </a:p>
        </p:txBody>
      </p:sp>
      <p:sp>
        <p:nvSpPr>
          <p:cNvPr id="3" name="Text 0"/>
          <p:cNvSpPr/>
          <p:nvPr>
            <p:ph idx="100" type="title" hasCustomPrompt="1"/>
          </p:nvPr>
        </p:nvSpPr>
        <p:spPr>
          <a:xfrm>
            <a:off x="548640" y="548640"/>
            <a:ext cx="11064240" cy="658368"/>
          </a:xfrm>
          <a:prstGeom prst="rect">
            <a:avLst/>
          </a:prstGeom>
          <a:noFill/>
          <a:ln/>
        </p:spPr>
        <p:txBody>
          <a:bodyPr wrap="square" lIns="0" tIns="0" rIns="0" bIns="0" rtlCol="0" anchor="ctr"/>
          <a:lstStyle/>
          <a:p>
            <a:pPr algn="l" indent="0" marL="0">
              <a:buNone/>
            </a:pPr>
            <a:r>
              <a:rPr lang="en-US" sz="3000" b="1" dirty="0">
                <a:solidFill>
                  <a:schemeClr val="tx1"/>
                </a:solidFill>
              </a:rPr>
              <a:t>Method (1/2): what the robot works out before it moves</a:t>
            </a:r>
            <a:endParaRPr lang="en-US" sz="3000" dirty="0"/>
          </a:p>
        </p:txBody>
      </p:sp>
      <p:sp>
        <p:nvSpPr>
          <p:cNvPr id="4" name="before intro"/>
          <p:cNvSpPr txBox="1"/>
          <p:nvPr/>
        </p:nvSpPr>
        <p:spPr>
          <a:xfrm>
            <a:off x="548640" y="1371600"/>
            <a:ext cx="7132320" cy="320040"/>
          </a:xfrm>
          <a:prstGeom prst="rect">
            <a:avLst/>
          </a:prstGeom>
          <a:noFill/>
          <a:ln/>
        </p:spPr>
        <p:txBody>
          <a:bodyPr wrap="square" lIns="0" tIns="0" rIns="0" bIns="0" rtlCol="0" anchor="ctr"/>
          <a:lstStyle/>
          <a:p>
            <a:pPr indent="0" marL="0">
              <a:buNone/>
            </a:pPr>
            <a:r>
              <a:rPr lang="en-US" sz="1400" i="1" dirty="0">
                <a:solidFill>
                  <a:schemeClr val="tx2"/>
                </a:solidFill>
              </a:rPr>
              <a:t>Before its first move the robot studies the exploration photos. None of this costs steps.</a:t>
            </a:r>
            <a:endParaRPr lang="en-US" sz="1400" dirty="0"/>
          </a:p>
        </p:txBody>
      </p:sp>
      <p:sp>
        <p:nvSpPr>
          <p:cNvPr id="5" name="before step 1 circle"/>
          <p:cNvSpPr/>
          <p:nvPr/>
        </p:nvSpPr>
        <p:spPr>
          <a:xfrm>
            <a:off x="548640" y="1874520"/>
            <a:ext cx="292608" cy="292608"/>
          </a:xfrm>
          <a:prstGeom prst="ellipse">
            <a:avLst/>
          </a:prstGeom>
          <a:solidFill>
            <a:schemeClr val="accent1"/>
          </a:solidFill>
          <a:ln w="12700">
            <a:solidFill>
              <a:schemeClr val="accent1"/>
            </a:solidFill>
            <a:prstDash val="solid"/>
          </a:ln>
        </p:spPr>
      </p:sp>
      <p:sp>
        <p:nvSpPr>
          <p:cNvPr id="6" name="before step 1 number"/>
          <p:cNvSpPr txBox="1"/>
          <p:nvPr/>
        </p:nvSpPr>
        <p:spPr>
          <a:xfrm>
            <a:off x="548640" y="187452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before step 1 text"/>
          <p:cNvSpPr txBox="1"/>
          <p:nvPr/>
        </p:nvSpPr>
        <p:spPr>
          <a:xfrm>
            <a:off x="978408" y="1856232"/>
            <a:ext cx="6702552" cy="481584"/>
          </a:xfrm>
          <a:prstGeom prst="rect">
            <a:avLst/>
          </a:prstGeom>
          <a:noFill/>
          <a:ln/>
        </p:spPr>
        <p:txBody>
          <a:bodyPr wrap="square" lIns="0" tIns="0" rIns="0" bIns="0" rtlCol="0" anchor="t"/>
          <a:lstStyle/>
          <a:p>
            <a:pPr indent="0" marL="0">
              <a:buNone/>
            </a:pPr>
            <a:r>
              <a:rPr lang="en-US" sz="1400" b="1" dirty="0">
                <a:solidFill>
                  <a:schemeClr val="tx1"/>
                </a:solidFill>
              </a:rPr>
              <a:t>Photo map. </a:t>
            </a:r>
            <a:pPr indent="0" marL="0">
              <a:buNone/>
            </a:pPr>
            <a:r>
              <a:rPr lang="en-US" sz="1400" dirty="0">
                <a:solidFill>
                  <a:schemeClr val="tx2"/>
                </a:solidFill>
              </a:rPr>
              <a:t>Every exploration photo becomes a node. Photos taken one after another on the same drive are linked, because the robot drove from one to the next.</a:t>
            </a:r>
            <a:endParaRPr lang="en-US" sz="1400" dirty="0"/>
          </a:p>
        </p:txBody>
      </p:sp>
      <p:sp>
        <p:nvSpPr>
          <p:cNvPr id="8" name="before step 2 circle"/>
          <p:cNvSpPr/>
          <p:nvPr/>
        </p:nvSpPr>
        <p:spPr>
          <a:xfrm>
            <a:off x="548640" y="2538984"/>
            <a:ext cx="292608" cy="292608"/>
          </a:xfrm>
          <a:prstGeom prst="ellipse">
            <a:avLst/>
          </a:prstGeom>
          <a:solidFill>
            <a:schemeClr val="accent1"/>
          </a:solidFill>
          <a:ln w="12700">
            <a:solidFill>
              <a:schemeClr val="accent1"/>
            </a:solidFill>
            <a:prstDash val="solid"/>
          </a:ln>
        </p:spPr>
      </p:sp>
      <p:sp>
        <p:nvSpPr>
          <p:cNvPr id="9" name="before step 2 number"/>
          <p:cNvSpPr txBox="1"/>
          <p:nvPr/>
        </p:nvSpPr>
        <p:spPr>
          <a:xfrm>
            <a:off x="548640" y="2538984"/>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before step 2 text"/>
          <p:cNvSpPr txBox="1"/>
          <p:nvPr/>
        </p:nvSpPr>
        <p:spPr>
          <a:xfrm>
            <a:off x="978408" y="2520696"/>
            <a:ext cx="6702552" cy="1121664"/>
          </a:xfrm>
          <a:prstGeom prst="rect">
            <a:avLst/>
          </a:prstGeom>
          <a:noFill/>
          <a:ln/>
        </p:spPr>
        <p:txBody>
          <a:bodyPr wrap="square" lIns="0" tIns="0" rIns="0" bIns="0" rtlCol="0" anchor="t"/>
          <a:lstStyle/>
          <a:p>
            <a:pPr indent="0" marL="0">
              <a:buNone/>
            </a:pPr>
            <a:r>
              <a:rPr lang="en-US" sz="1400" b="1" dirty="0">
                <a:solidFill>
                  <a:schemeClr val="tx1"/>
                </a:solidFill>
              </a:rPr>
              <a:t>Where the drives meet again. </a:t>
            </a:r>
            <a:pPr indent="0" marL="0">
              <a:buNone/>
            </a:pPr>
            <a:r>
              <a:rPr lang="en-US" sz="1400" dirty="0">
                <a:solidFill>
                  <a:schemeClr val="tx2"/>
                </a:solidFill>
              </a:rPr>
              <a:t>AnyLoc (DINOv2 features + VLAD) compares every photo with the photos taken at other times (on another drive, or much later on the same drive) and proposes pairs that look like the same place. SuperGlue then matches keypoints between the two photos of each pair, and the pair is kept only if the matches fit one camera motion (RANSAC) for 8 or more pairs in a row. Each kept pair becomes a shortcut link.</a:t>
            </a:r>
            <a:endParaRPr lang="en-US" sz="1400" dirty="0"/>
          </a:p>
        </p:txBody>
      </p:sp>
      <p:sp>
        <p:nvSpPr>
          <p:cNvPr id="11" name="before step 3 circle"/>
          <p:cNvSpPr/>
          <p:nvPr/>
        </p:nvSpPr>
        <p:spPr>
          <a:xfrm>
            <a:off x="548640" y="3843528"/>
            <a:ext cx="292608" cy="292608"/>
          </a:xfrm>
          <a:prstGeom prst="ellipse">
            <a:avLst/>
          </a:prstGeom>
          <a:solidFill>
            <a:schemeClr val="accent1"/>
          </a:solidFill>
          <a:ln w="12700">
            <a:solidFill>
              <a:schemeClr val="accent1"/>
            </a:solidFill>
            <a:prstDash val="solid"/>
          </a:ln>
        </p:spPr>
      </p:sp>
      <p:sp>
        <p:nvSpPr>
          <p:cNvPr id="12" name="before step 3 number"/>
          <p:cNvSpPr txBox="1"/>
          <p:nvPr/>
        </p:nvSpPr>
        <p:spPr>
          <a:xfrm>
            <a:off x="548640" y="3843528"/>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before step 3 text"/>
          <p:cNvSpPr txBox="1"/>
          <p:nvPr/>
        </p:nvSpPr>
        <p:spPr>
          <a:xfrm>
            <a:off x="978408" y="3825240"/>
            <a:ext cx="6702552" cy="694944"/>
          </a:xfrm>
          <a:prstGeom prst="rect">
            <a:avLst/>
          </a:prstGeom>
          <a:noFill/>
          <a:ln/>
        </p:spPr>
        <p:txBody>
          <a:bodyPr wrap="square" lIns="0" tIns="0" rIns="0" bIns="0" rtlCol="0" anchor="t"/>
          <a:lstStyle/>
          <a:p>
            <a:pPr indent="0" marL="0">
              <a:buNone/>
            </a:pPr>
            <a:r>
              <a:rPr lang="en-US" sz="1400" b="1" dirty="0">
                <a:solidFill>
                  <a:schemeClr val="tx1"/>
                </a:solidFill>
              </a:rPr>
              <a:t>Distances. </a:t>
            </a:r>
            <a:pPr indent="0" marL="0">
              <a:buNone/>
            </a:pPr>
            <a:r>
              <a:rPr lang="en-US" sz="1400" dirty="0">
                <a:solidFill>
                  <a:schemeClr val="tx2"/>
                </a:solidFill>
              </a:rPr>
              <a:t>Lines on the walls give a compass direction, SuperGlue gives the turn between neighbouring photos, and the links close the loops. This places every photo in metres, so each link gets a cost in steps.</a:t>
            </a:r>
            <a:endParaRPr lang="en-US" sz="1400" dirty="0"/>
          </a:p>
        </p:txBody>
      </p:sp>
      <p:sp>
        <p:nvSpPr>
          <p:cNvPr id="14" name="before step 4 circle"/>
          <p:cNvSpPr/>
          <p:nvPr/>
        </p:nvSpPr>
        <p:spPr>
          <a:xfrm>
            <a:off x="548640" y="4721352"/>
            <a:ext cx="292608" cy="292608"/>
          </a:xfrm>
          <a:prstGeom prst="ellipse">
            <a:avLst/>
          </a:prstGeom>
          <a:solidFill>
            <a:schemeClr val="accent1"/>
          </a:solidFill>
          <a:ln w="12700">
            <a:solidFill>
              <a:schemeClr val="accent1"/>
            </a:solidFill>
            <a:prstDash val="solid"/>
          </a:ln>
        </p:spPr>
      </p:sp>
      <p:sp>
        <p:nvSpPr>
          <p:cNvPr id="15" name="before step 4 number"/>
          <p:cNvSpPr txBox="1"/>
          <p:nvPr/>
        </p:nvSpPr>
        <p:spPr>
          <a:xfrm>
            <a:off x="548640" y="472135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before step 4 text"/>
          <p:cNvSpPr txBox="1"/>
          <p:nvPr/>
        </p:nvSpPr>
        <p:spPr>
          <a:xfrm>
            <a:off x="978408" y="4703064"/>
            <a:ext cx="6702552" cy="694944"/>
          </a:xfrm>
          <a:prstGeom prst="rect">
            <a:avLst/>
          </a:prstGeom>
          <a:noFill/>
          <a:ln/>
        </p:spPr>
        <p:txBody>
          <a:bodyPr wrap="square" lIns="0" tIns="0" rIns="0" bIns="0" rtlCol="0" anchor="t"/>
          <a:lstStyle/>
          <a:p>
            <a:pPr indent="0" marL="0">
              <a:buNone/>
            </a:pPr>
            <a:r>
              <a:rPr lang="en-US" sz="1400" b="1" dirty="0">
                <a:solidFill>
                  <a:schemeClr val="tx1"/>
                </a:solidFill>
              </a:rPr>
              <a:t>The goal. </a:t>
            </a:r>
            <a:pPr indent="0" marL="0">
              <a:buNone/>
            </a:pPr>
            <a:r>
              <a:rPr lang="en-US" sz="1400" dirty="0">
                <a:solidFill>
                  <a:schemeClr val="tx2"/>
                </a:solidFill>
              </a:rPr>
              <a:t>Each of the 4 goal photos is compared with the 64 exploration photos AnyLoc finds most similar. The exploration photo with the most SuperGlue matches becomes the goal node.</a:t>
            </a:r>
            <a:endParaRPr lang="en-US" sz="1400" dirty="0"/>
          </a:p>
        </p:txBody>
      </p:sp>
      <p:sp>
        <p:nvSpPr>
          <p:cNvPr id="17" name="before step 5 circle"/>
          <p:cNvSpPr/>
          <p:nvPr/>
        </p:nvSpPr>
        <p:spPr>
          <a:xfrm>
            <a:off x="548640" y="5599176"/>
            <a:ext cx="292608" cy="292608"/>
          </a:xfrm>
          <a:prstGeom prst="ellipse">
            <a:avLst/>
          </a:prstGeom>
          <a:solidFill>
            <a:schemeClr val="accent1"/>
          </a:solidFill>
          <a:ln w="12700">
            <a:solidFill>
              <a:schemeClr val="accent1"/>
            </a:solidFill>
            <a:prstDash val="solid"/>
          </a:ln>
        </p:spPr>
      </p:sp>
      <p:sp>
        <p:nvSpPr>
          <p:cNvPr id="18" name="before step 5 number"/>
          <p:cNvSpPr txBox="1"/>
          <p:nvPr/>
        </p:nvSpPr>
        <p:spPr>
          <a:xfrm>
            <a:off x="548640" y="559917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9" name="before step 5 text"/>
          <p:cNvSpPr txBox="1"/>
          <p:nvPr/>
        </p:nvSpPr>
        <p:spPr>
          <a:xfrm>
            <a:off x="978408" y="5580888"/>
            <a:ext cx="6702552" cy="481584"/>
          </a:xfrm>
          <a:prstGeom prst="rect">
            <a:avLst/>
          </a:prstGeom>
          <a:noFill/>
          <a:ln/>
        </p:spPr>
        <p:txBody>
          <a:bodyPr wrap="square" lIns="0" tIns="0" rIns="0" bIns="0" rtlCol="0" anchor="t"/>
          <a:lstStyle/>
          <a:p>
            <a:pPr indent="0" marL="0">
              <a:buNone/>
            </a:pPr>
            <a:r>
              <a:rPr lang="en-US" sz="1400" b="1" dirty="0">
                <a:solidFill>
                  <a:schemeClr val="tx1"/>
                </a:solidFill>
              </a:rPr>
              <a:t>The route. </a:t>
            </a:r>
            <a:pPr indent="0" marL="0">
              <a:buNone/>
            </a:pPr>
            <a:r>
              <a:rPr lang="en-US" sz="1400" dirty="0">
                <a:solidFill>
                  <a:schemeClr val="tx2"/>
                </a:solidFill>
              </a:rPr>
              <a:t>Dijkstra finds the cheapest route, in steps, from every photo to the goal node.</a:t>
            </a:r>
            <a:endParaRPr lang="en-US" sz="1400" dirty="0"/>
          </a:p>
        </p:txBody>
      </p:sp>
      <p:pic>
        <p:nvPicPr>
          <p:cNvPr id="20" name="goal example 1" descr="Local maze 25: goal photo it is given">    </p:cNvPr>
          <p:cNvPicPr>
            <a:picLocks noChangeAspect="1"/>
          </p:cNvPicPr>
          <p:nvPr/>
        </p:nvPicPr>
        <p:blipFill>
          <a:blip r:embed="rId1"/>
          <a:stretch>
            <a:fillRect/>
          </a:stretch>
        </p:blipFill>
        <p:spPr>
          <a:xfrm>
            <a:off x="8366760" y="1417320"/>
            <a:ext cx="2697480" cy="2020824"/>
          </a:xfrm>
          <a:prstGeom prst="rect">
            <a:avLst/>
          </a:prstGeom>
        </p:spPr>
      </p:pic>
      <p:sp>
        <p:nvSpPr>
          <p:cNvPr id="21" name="goal example label 1"/>
          <p:cNvSpPr txBox="1"/>
          <p:nvPr/>
        </p:nvSpPr>
        <p:spPr>
          <a:xfrm>
            <a:off x="8366760" y="3474720"/>
            <a:ext cx="3108960" cy="256032"/>
          </a:xfrm>
          <a:prstGeom prst="rect">
            <a:avLst/>
          </a:prstGeom>
          <a:noFill/>
          <a:ln/>
        </p:spPr>
        <p:txBody>
          <a:bodyPr wrap="square" lIns="0" tIns="0" rIns="0" bIns="0" rtlCol="0" anchor="ctr"/>
          <a:lstStyle/>
          <a:p>
            <a:pPr indent="0" marL="0">
              <a:buNone/>
            </a:pPr>
            <a:r>
              <a:rPr lang="en-US" sz="1150" b="1" dirty="0">
                <a:solidFill>
                  <a:schemeClr val="tx1"/>
                </a:solidFill>
              </a:rPr>
              <a:t>Goal photo it is given</a:t>
            </a:r>
            <a:endParaRPr lang="en-US" sz="1150" dirty="0"/>
          </a:p>
        </p:txBody>
      </p:sp>
      <p:pic>
        <p:nvPicPr>
          <p:cNvPr id="22" name="goal example 2" descr="Local maze 25: exploration photo it picks as the goal (step 4)">    </p:cNvPr>
          <p:cNvPicPr>
            <a:picLocks noChangeAspect="1"/>
          </p:cNvPicPr>
          <p:nvPr/>
        </p:nvPicPr>
        <p:blipFill>
          <a:blip r:embed="rId2"/>
          <a:stretch>
            <a:fillRect/>
          </a:stretch>
        </p:blipFill>
        <p:spPr>
          <a:xfrm>
            <a:off x="8366760" y="3794760"/>
            <a:ext cx="2697480" cy="2020824"/>
          </a:xfrm>
          <a:prstGeom prst="rect">
            <a:avLst/>
          </a:prstGeom>
        </p:spPr>
      </p:pic>
      <p:sp>
        <p:nvSpPr>
          <p:cNvPr id="23" name="goal example label 2"/>
          <p:cNvSpPr txBox="1"/>
          <p:nvPr/>
        </p:nvSpPr>
        <p:spPr>
          <a:xfrm>
            <a:off x="8366760" y="5852160"/>
            <a:ext cx="3108960" cy="256032"/>
          </a:xfrm>
          <a:prstGeom prst="rect">
            <a:avLst/>
          </a:prstGeom>
          <a:noFill/>
          <a:ln/>
        </p:spPr>
        <p:txBody>
          <a:bodyPr wrap="square" lIns="0" tIns="0" rIns="0" bIns="0" rtlCol="0" anchor="ctr"/>
          <a:lstStyle/>
          <a:p>
            <a:pPr indent="0" marL="0">
              <a:buNone/>
            </a:pPr>
            <a:r>
              <a:rPr lang="en-US" sz="1150" b="1" dirty="0">
                <a:solidFill>
                  <a:schemeClr val="tx1"/>
                </a:solidFill>
              </a:rPr>
              <a:t>Exploration photo it picks as the goal (step 4)</a:t>
            </a:r>
            <a:endParaRPr lang="en-US" sz="1150" dirty="0"/>
          </a:p>
        </p:txBody>
      </p:sp>
      <p:sp>
        <p:nvSpPr>
          <p:cNvPr id="24" name="goal example caption"/>
          <p:cNvSpPr txBox="1"/>
          <p:nvPr/>
        </p:nvSpPr>
        <p:spPr>
          <a:xfrm>
            <a:off x="8366760" y="6035040"/>
            <a:ext cx="3108960" cy="256032"/>
          </a:xfrm>
          <a:prstGeom prst="rect">
            <a:avLst/>
          </a:prstGeom>
          <a:noFill/>
          <a:ln/>
        </p:spPr>
        <p:txBody>
          <a:bodyPr wrap="square" lIns="0" tIns="0" rIns="0" bIns="0" rtlCol="0" anchor="ctr"/>
          <a:lstStyle/>
          <a:p>
            <a:pPr indent="0" marL="0">
              <a:buNone/>
            </a:pPr>
            <a:r>
              <a:rPr lang="en-US" sz="1050" i="1" dirty="0">
                <a:solidFill>
                  <a:schemeClr val="tx2"/>
                </a:solidFill>
              </a:rPr>
              <a:t>Example from local test maze 25</a:t>
            </a:r>
            <a:endParaRPr lang="en-US" sz="105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METHOD  ·  2 OF 2</a:t>
            </a:r>
            <a:endParaRPr lang="en-US" sz="1100" dirty="0"/>
          </a:p>
        </p:txBody>
      </p:sp>
      <p:sp>
        <p:nvSpPr>
          <p:cNvPr id="3" name="Text 0"/>
          <p:cNvSpPr/>
          <p:nvPr>
            <p:ph idx="100" type="title" hasCustomPrompt="1"/>
          </p:nvPr>
        </p:nvSpPr>
        <p:spPr>
          <a:xfrm>
            <a:off x="548640" y="548640"/>
            <a:ext cx="11064240" cy="658368"/>
          </a:xfrm>
          <a:prstGeom prst="rect">
            <a:avLst/>
          </a:prstGeom>
          <a:noFill/>
          <a:ln/>
        </p:spPr>
        <p:txBody>
          <a:bodyPr wrap="square" lIns="0" tIns="0" rIns="0" bIns="0" rtlCol="0" anchor="ctr"/>
          <a:lstStyle/>
          <a:p>
            <a:pPr algn="l" indent="0" marL="0">
              <a:buNone/>
            </a:pPr>
            <a:r>
              <a:rPr lang="en-US" sz="3000" b="1" dirty="0">
                <a:solidFill>
                  <a:schemeClr val="tx1"/>
                </a:solidFill>
              </a:rPr>
              <a:t>Method (2/2): how the robot moves</a:t>
            </a:r>
            <a:endParaRPr lang="en-US" sz="3000" dirty="0"/>
          </a:p>
        </p:txBody>
      </p:sp>
      <p:sp>
        <p:nvSpPr>
          <p:cNvPr id="4" name="moving intro"/>
          <p:cNvSpPr txBox="1"/>
          <p:nvPr/>
        </p:nvSpPr>
        <p:spPr>
          <a:xfrm>
            <a:off x="548640" y="1371600"/>
            <a:ext cx="7132320" cy="320040"/>
          </a:xfrm>
          <a:prstGeom prst="rect">
            <a:avLst/>
          </a:prstGeom>
          <a:noFill/>
          <a:ln/>
        </p:spPr>
        <p:txBody>
          <a:bodyPr wrap="square" lIns="0" tIns="0" rIns="0" bIns="0" rtlCol="0" anchor="ctr"/>
          <a:lstStyle/>
          <a:p>
            <a:pPr indent="0" marL="0">
              <a:buNone/>
            </a:pPr>
            <a:r>
              <a:rPr lang="en-US" sz="1400" i="1" dirty="0">
                <a:solidFill>
                  <a:schemeClr val="tx2"/>
                </a:solidFill>
              </a:rPr>
              <a:t>Then it repeats these steps for every move until it checks in.</a:t>
            </a:r>
            <a:endParaRPr lang="en-US" sz="1400" dirty="0"/>
          </a:p>
        </p:txBody>
      </p:sp>
      <p:sp>
        <p:nvSpPr>
          <p:cNvPr id="5" name="moving step 1 circle"/>
          <p:cNvSpPr/>
          <p:nvPr/>
        </p:nvSpPr>
        <p:spPr>
          <a:xfrm>
            <a:off x="548640" y="1828800"/>
            <a:ext cx="292608" cy="292608"/>
          </a:xfrm>
          <a:prstGeom prst="ellipse">
            <a:avLst/>
          </a:prstGeom>
          <a:solidFill>
            <a:schemeClr val="accent1"/>
          </a:solidFill>
          <a:ln w="12700">
            <a:solidFill>
              <a:schemeClr val="accent1"/>
            </a:solidFill>
            <a:prstDash val="solid"/>
          </a:ln>
        </p:spPr>
      </p:sp>
      <p:sp>
        <p:nvSpPr>
          <p:cNvPr id="6" name="moving step 1 number"/>
          <p:cNvSpPr txBox="1"/>
          <p:nvPr/>
        </p:nvSpPr>
        <p:spPr>
          <a:xfrm>
            <a:off x="548640" y="182880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moving step 1 text"/>
          <p:cNvSpPr txBox="1"/>
          <p:nvPr/>
        </p:nvSpPr>
        <p:spPr>
          <a:xfrm>
            <a:off x="978408" y="1810512"/>
            <a:ext cx="6702552" cy="649224"/>
          </a:xfrm>
          <a:prstGeom prst="rect">
            <a:avLst/>
          </a:prstGeom>
          <a:noFill/>
          <a:ln/>
        </p:spPr>
        <p:txBody>
          <a:bodyPr wrap="square" lIns="0" tIns="0" rIns="0" bIns="0" rtlCol="0" anchor="t"/>
          <a:lstStyle/>
          <a:p>
            <a:pPr indent="0" marL="0">
              <a:buNone/>
            </a:pPr>
            <a:r>
              <a:rPr lang="en-US" sz="1300" b="1" dirty="0">
                <a:solidFill>
                  <a:schemeClr val="tx1"/>
                </a:solidFill>
              </a:rPr>
              <a:t>Where am I? </a:t>
            </a:r>
            <a:pPr indent="0" marL="0">
              <a:buNone/>
            </a:pPr>
            <a:r>
              <a:rPr lang="en-US" sz="1300" dirty="0">
                <a:solidFill>
                  <a:schemeClr val="tx2"/>
                </a:solidFill>
              </a:rPr>
              <a:t>It compares the camera image with the exploration photos near its last position (AnyLoc). A jump to a far part of the map is believed only if 3 images in a row agree and SuperGlue confirms the match.</a:t>
            </a:r>
            <a:endParaRPr lang="en-US" sz="1300" dirty="0"/>
          </a:p>
        </p:txBody>
      </p:sp>
      <p:sp>
        <p:nvSpPr>
          <p:cNvPr id="8" name="moving step 2 circle"/>
          <p:cNvSpPr/>
          <p:nvPr/>
        </p:nvSpPr>
        <p:spPr>
          <a:xfrm>
            <a:off x="548640" y="2606040"/>
            <a:ext cx="292608" cy="292608"/>
          </a:xfrm>
          <a:prstGeom prst="ellipse">
            <a:avLst/>
          </a:prstGeom>
          <a:solidFill>
            <a:schemeClr val="accent1"/>
          </a:solidFill>
          <a:ln w="12700">
            <a:solidFill>
              <a:schemeClr val="accent1"/>
            </a:solidFill>
            <a:prstDash val="solid"/>
          </a:ln>
        </p:spPr>
      </p:sp>
      <p:sp>
        <p:nvSpPr>
          <p:cNvPr id="9" name="moving step 2 number"/>
          <p:cNvSpPr txBox="1"/>
          <p:nvPr/>
        </p:nvSpPr>
        <p:spPr>
          <a:xfrm>
            <a:off x="548640" y="260604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moving step 2 text"/>
          <p:cNvSpPr txBox="1"/>
          <p:nvPr/>
        </p:nvSpPr>
        <p:spPr>
          <a:xfrm>
            <a:off x="978408" y="2587752"/>
            <a:ext cx="6702552" cy="451104"/>
          </a:xfrm>
          <a:prstGeom prst="rect">
            <a:avLst/>
          </a:prstGeom>
          <a:noFill/>
          <a:ln/>
        </p:spPr>
        <p:txBody>
          <a:bodyPr wrap="square" lIns="0" tIns="0" rIns="0" bIns="0" rtlCol="0" anchor="t"/>
          <a:lstStyle/>
          <a:p>
            <a:pPr indent="0" marL="0">
              <a:buNone/>
            </a:pPr>
            <a:r>
              <a:rPr lang="en-US" sz="1300" b="1" dirty="0">
                <a:solidFill>
                  <a:schemeClr val="tx1"/>
                </a:solidFill>
              </a:rPr>
              <a:t>Where next? </a:t>
            </a:r>
            <a:pPr indent="0" marL="0">
              <a:buNone/>
            </a:pPr>
            <a:r>
              <a:rPr lang="en-US" sz="1300" dirty="0">
                <a:solidFill>
                  <a:schemeClr val="tx2"/>
                </a:solidFill>
              </a:rPr>
              <a:t>It looks up the route from that photo and picks a waypoint photo a few steps ahead on it.</a:t>
            </a:r>
            <a:endParaRPr lang="en-US" sz="1300" dirty="0"/>
          </a:p>
        </p:txBody>
      </p:sp>
      <p:sp>
        <p:nvSpPr>
          <p:cNvPr id="11" name="moving step 3 circle"/>
          <p:cNvSpPr/>
          <p:nvPr/>
        </p:nvSpPr>
        <p:spPr>
          <a:xfrm>
            <a:off x="548640" y="3185160"/>
            <a:ext cx="292608" cy="292608"/>
          </a:xfrm>
          <a:prstGeom prst="ellipse">
            <a:avLst/>
          </a:prstGeom>
          <a:solidFill>
            <a:schemeClr val="accent1"/>
          </a:solidFill>
          <a:ln w="12700">
            <a:solidFill>
              <a:schemeClr val="accent1"/>
            </a:solidFill>
            <a:prstDash val="solid"/>
          </a:ln>
        </p:spPr>
      </p:sp>
      <p:sp>
        <p:nvSpPr>
          <p:cNvPr id="12" name="moving step 3 number"/>
          <p:cNvSpPr txBox="1"/>
          <p:nvPr/>
        </p:nvSpPr>
        <p:spPr>
          <a:xfrm>
            <a:off x="548640" y="31851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moving step 3 text"/>
          <p:cNvSpPr txBox="1"/>
          <p:nvPr/>
        </p:nvSpPr>
        <p:spPr>
          <a:xfrm>
            <a:off x="978408" y="3166872"/>
            <a:ext cx="6702552" cy="847344"/>
          </a:xfrm>
          <a:prstGeom prst="rect">
            <a:avLst/>
          </a:prstGeom>
          <a:noFill/>
          <a:ln/>
        </p:spPr>
        <p:txBody>
          <a:bodyPr wrap="square" lIns="0" tIns="0" rIns="0" bIns="0" rtlCol="0" anchor="t"/>
          <a:lstStyle/>
          <a:p>
            <a:pPr indent="0" marL="0">
              <a:buNone/>
            </a:pPr>
            <a:r>
              <a:rPr lang="en-US" sz="1300" b="1" dirty="0">
                <a:solidFill>
                  <a:schemeClr val="tx1"/>
                </a:solidFill>
              </a:rPr>
              <a:t>Turn and drive. </a:t>
            </a:r>
            <a:pPr indent="0" marL="0">
              <a:buNone/>
            </a:pPr>
            <a:r>
              <a:rPr lang="en-US" sz="1300" dirty="0">
                <a:solidFill>
                  <a:schemeClr val="tx2"/>
                </a:solidFill>
              </a:rPr>
              <a:t>SuperGlue matches the camera image with the waypoint photo, and the essential matrix between them gives the angle to turn. It turns by that angle, then drives forward. If the waypoint is not in view it turns on the spot to find it; if nothing matches, the L network picks the move.</a:t>
            </a:r>
            <a:endParaRPr lang="en-US" sz="1300" dirty="0"/>
          </a:p>
        </p:txBody>
      </p:sp>
      <p:sp>
        <p:nvSpPr>
          <p:cNvPr id="14" name="moving step 4 circle"/>
          <p:cNvSpPr/>
          <p:nvPr/>
        </p:nvSpPr>
        <p:spPr>
          <a:xfrm>
            <a:off x="548640" y="4160520"/>
            <a:ext cx="292608" cy="292608"/>
          </a:xfrm>
          <a:prstGeom prst="ellipse">
            <a:avLst/>
          </a:prstGeom>
          <a:solidFill>
            <a:schemeClr val="accent1"/>
          </a:solidFill>
          <a:ln w="12700">
            <a:solidFill>
              <a:schemeClr val="accent1"/>
            </a:solidFill>
            <a:prstDash val="solid"/>
          </a:ln>
        </p:spPr>
      </p:sp>
      <p:sp>
        <p:nvSpPr>
          <p:cNvPr id="15" name="moving step 4 number"/>
          <p:cNvSpPr txBox="1"/>
          <p:nvPr/>
        </p:nvSpPr>
        <p:spPr>
          <a:xfrm>
            <a:off x="548640" y="416052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moving step 4 text"/>
          <p:cNvSpPr txBox="1"/>
          <p:nvPr/>
        </p:nvSpPr>
        <p:spPr>
          <a:xfrm>
            <a:off x="978408" y="4142232"/>
            <a:ext cx="6702552" cy="451104"/>
          </a:xfrm>
          <a:prstGeom prst="rect">
            <a:avLst/>
          </a:prstGeom>
          <a:noFill/>
          <a:ln/>
        </p:spPr>
        <p:txBody>
          <a:bodyPr wrap="square" lIns="0" tIns="0" rIns="0" bIns="0" rtlCol="0" anchor="t"/>
          <a:lstStyle/>
          <a:p>
            <a:pPr indent="0" marL="0">
              <a:buNone/>
            </a:pPr>
            <a:r>
              <a:rPr lang="en-US" sz="1300" b="1" dirty="0">
                <a:solidFill>
                  <a:schemeClr val="tx1"/>
                </a:solidFill>
              </a:rPr>
              <a:t>Backing out. </a:t>
            </a:r>
            <a:pPr indent="0" marL="0">
              <a:buNone/>
            </a:pPr>
            <a:r>
              <a:rPr lang="en-US" sz="1300" dirty="0">
                <a:solidFill>
                  <a:schemeClr val="tx2"/>
                </a:solidFill>
              </a:rPr>
              <a:t>When the route runs back along a drive, for example out of a dead end, it undoes the recorded moves in reverse: a recorded left turn is undone by turning right.</a:t>
            </a:r>
            <a:endParaRPr lang="en-US" sz="1300" dirty="0"/>
          </a:p>
        </p:txBody>
      </p:sp>
      <p:sp>
        <p:nvSpPr>
          <p:cNvPr id="17" name="moving step 5 circle"/>
          <p:cNvSpPr/>
          <p:nvPr/>
        </p:nvSpPr>
        <p:spPr>
          <a:xfrm>
            <a:off x="548640" y="4739640"/>
            <a:ext cx="292608" cy="292608"/>
          </a:xfrm>
          <a:prstGeom prst="ellipse">
            <a:avLst/>
          </a:prstGeom>
          <a:solidFill>
            <a:schemeClr val="accent1"/>
          </a:solidFill>
          <a:ln w="12700">
            <a:solidFill>
              <a:schemeClr val="accent1"/>
            </a:solidFill>
            <a:prstDash val="solid"/>
          </a:ln>
        </p:spPr>
      </p:sp>
      <p:sp>
        <p:nvSpPr>
          <p:cNvPr id="18" name="moving step 5 number"/>
          <p:cNvSpPr txBox="1"/>
          <p:nvPr/>
        </p:nvSpPr>
        <p:spPr>
          <a:xfrm>
            <a:off x="548640" y="473964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9" name="moving step 5 text"/>
          <p:cNvSpPr txBox="1"/>
          <p:nvPr/>
        </p:nvSpPr>
        <p:spPr>
          <a:xfrm>
            <a:off x="978408" y="4721352"/>
            <a:ext cx="6702552" cy="649224"/>
          </a:xfrm>
          <a:prstGeom prst="rect">
            <a:avLst/>
          </a:prstGeom>
          <a:noFill/>
          <a:ln/>
        </p:spPr>
        <p:txBody>
          <a:bodyPr wrap="square" lIns="0" tIns="0" rIns="0" bIns="0" rtlCol="0" anchor="t"/>
          <a:lstStyle/>
          <a:p>
            <a:pPr indent="0" marL="0">
              <a:buNone/>
            </a:pPr>
            <a:r>
              <a:rPr lang="en-US" sz="1300" b="1" dirty="0">
                <a:solidFill>
                  <a:schemeClr val="tx1"/>
                </a:solidFill>
              </a:rPr>
              <a:t>When stuck. </a:t>
            </a:r>
            <a:pPr indent="0" marL="0">
              <a:buNone/>
            </a:pPr>
            <a:r>
              <a:rPr lang="en-US" sz="1300" dirty="0">
                <a:solidFill>
                  <a:schemeClr val="tx2"/>
                </a:solidFill>
              </a:rPr>
              <a:t>If it believes it is at the same photo for 3 moves, it checks the next 5 route photos with SuperGlue. If it gets no closer for 150 steps, that stretch of the route is made more expensive and the route is planned again.</a:t>
            </a:r>
            <a:endParaRPr lang="en-US" sz="1300" dirty="0"/>
          </a:p>
        </p:txBody>
      </p:sp>
      <p:sp>
        <p:nvSpPr>
          <p:cNvPr id="20" name="moving step 6 circle"/>
          <p:cNvSpPr/>
          <p:nvPr/>
        </p:nvSpPr>
        <p:spPr>
          <a:xfrm>
            <a:off x="548640" y="5516880"/>
            <a:ext cx="292608" cy="292608"/>
          </a:xfrm>
          <a:prstGeom prst="ellipse">
            <a:avLst/>
          </a:prstGeom>
          <a:solidFill>
            <a:schemeClr val="accent1"/>
          </a:solidFill>
          <a:ln w="12700">
            <a:solidFill>
              <a:schemeClr val="accent1"/>
            </a:solidFill>
            <a:prstDash val="solid"/>
          </a:ln>
        </p:spPr>
      </p:sp>
      <p:sp>
        <p:nvSpPr>
          <p:cNvPr id="21" name="moving step 6 number"/>
          <p:cNvSpPr txBox="1"/>
          <p:nvPr/>
        </p:nvSpPr>
        <p:spPr>
          <a:xfrm>
            <a:off x="548640" y="551688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2" name="moving step 6 text"/>
          <p:cNvSpPr txBox="1"/>
          <p:nvPr/>
        </p:nvSpPr>
        <p:spPr>
          <a:xfrm>
            <a:off x="978408" y="5498592"/>
            <a:ext cx="6702552" cy="649224"/>
          </a:xfrm>
          <a:prstGeom prst="rect">
            <a:avLst/>
          </a:prstGeom>
          <a:noFill/>
          <a:ln/>
        </p:spPr>
        <p:txBody>
          <a:bodyPr wrap="square" lIns="0" tIns="0" rIns="0" bIns="0" rtlCol="0" anchor="t"/>
          <a:lstStyle/>
          <a:p>
            <a:pPr indent="0" marL="0">
              <a:buNone/>
            </a:pPr>
            <a:r>
              <a:rPr lang="en-US" sz="1300" b="1" dirty="0">
                <a:solidFill>
                  <a:schemeClr val="tx1"/>
                </a:solidFill>
              </a:rPr>
              <a:t>The last metre. </a:t>
            </a:r>
            <a:pPr indent="0" marL="0">
              <a:buNone/>
            </a:pPr>
            <a:r>
              <a:rPr lang="en-US" sz="1300" dirty="0">
                <a:solidFill>
                  <a:schemeClr val="tx2"/>
                </a:solidFill>
              </a:rPr>
              <a:t>Within 3 photos of the goal it matches the camera image with the 4 goal photos directly. It turns until the front photo lines up, moves until the scene looks the same size, and checks in only after 3 readings in a row with 35 or more matched points.</a:t>
            </a:r>
            <a:endParaRPr lang="en-US" sz="1300" dirty="0"/>
          </a:p>
        </p:txBody>
      </p:sp>
      <p:pic>
        <p:nvPicPr>
          <p:cNvPr id="23" name="maze 25 true path" descr="Top view of local maze 25: the robot’s true path from the start to the goal ring, coloured by time from blue to red, with a tangle at the top left where it made no progress for a while">    </p:cNvPr>
          <p:cNvPicPr>
            <a:picLocks noChangeAspect="1"/>
          </p:cNvPicPr>
          <p:nvPr/>
        </p:nvPicPr>
        <p:blipFill>
          <a:blip r:embed="rId1"/>
          <a:stretch>
            <a:fillRect/>
          </a:stretch>
        </p:blipFill>
        <p:spPr>
          <a:xfrm>
            <a:off x="8046720" y="1417320"/>
            <a:ext cx="3611880" cy="3611880"/>
          </a:xfrm>
          <a:prstGeom prst="rect">
            <a:avLst/>
          </a:prstGeom>
        </p:spPr>
      </p:pic>
      <p:sp>
        <p:nvSpPr>
          <p:cNvPr id="24" name="maze 25 caption"/>
          <p:cNvSpPr txBox="1"/>
          <p:nvPr/>
        </p:nvSpPr>
        <p:spPr>
          <a:xfrm>
            <a:off x="8046720" y="5138928"/>
            <a:ext cx="3611880" cy="1097280"/>
          </a:xfrm>
          <a:prstGeom prst="rect">
            <a:avLst/>
          </a:prstGeom>
          <a:noFill/>
          <a:ln/>
        </p:spPr>
        <p:txBody>
          <a:bodyPr wrap="square" lIns="0" tIns="0" rIns="0" bIns="0" rtlCol="0" anchor="t"/>
          <a:lstStyle/>
          <a:p>
            <a:pPr indent="0" marL="0">
              <a:buNone/>
            </a:pPr>
            <a:r>
              <a:rPr lang="en-US" sz="1050" dirty="0">
                <a:solidFill>
                  <a:schemeClr val="tx2"/>
                </a:solidFill>
              </a:rPr>
              <a:t>Local test maze 25 with the same code, drawn from the simulator’s true positions (blue = start, red = check-in): 6/10, 2,965 steps, 2 cm from the goal. The tangle at the top left is about 1,700 steps that got no closer to the goal.</a:t>
            </a:r>
            <a:endParaRPr lang="en-US" sz="105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Visual Navigation">
  <a:themeElements>
    <a:clrScheme name="Visual Navigation">
      <a:dk1>
        <a:srgbClr val="14213D"/>
      </a:dk1>
      <a:lt1>
        <a:srgbClr val="FFFFFF"/>
      </a:lt1>
      <a:dk2>
        <a:srgbClr val="3A4556"/>
      </a:dk2>
      <a:lt2>
        <a:srgbClr val="EEF2F6"/>
      </a:lt2>
      <a:accent1>
        <a:srgbClr val="2B6CB0"/>
      </a:accent1>
      <a:accent2>
        <a:srgbClr val="C05621"/>
      </a:accent2>
      <a:accent3>
        <a:srgbClr val="9AA5B4"/>
      </a:accent3>
      <a:accent4>
        <a:srgbClr val="F6C391"/>
      </a:accent4>
      <a:accent5>
        <a:srgbClr val="DCE6F2"/>
      </a:accent5>
      <a:accent6>
        <a:srgbClr val="FBEADF"/>
      </a:accent6>
      <a:hlink>
        <a:srgbClr val="2B6CB0"/>
      </a:hlink>
      <a:folHlink>
        <a:srgbClr val="5A7A99"/>
      </a:folHlink>
    </a:clrScheme>
    <a:fontScheme name="Visual Navig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 Perception Course Project - Mid-term Report</dc:title>
  <dc:subject>Visual Navigation Challenge, Fall 2026</dc:subject>
  <dc:creator>PptxGenJS</dc:creator>
  <cp:lastModifiedBy>PptxGenJS</cp:lastModifiedBy>
  <cp:revision>1</cp:revision>
  <dcterms:created xsi:type="dcterms:W3CDTF">2026-10-30T21:08:23Z</dcterms:created>
  <dcterms:modified xsi:type="dcterms:W3CDTF">2026-10-30T21:08:23Z</dcterms:modified>
</cp:coreProperties>
</file>