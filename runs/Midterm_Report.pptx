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7" r:id="rId3"/>
    <p:sldId id="258" r:id="rId4"/>
    <p:sldId id="259" r:id="rId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5D09B2E9-22C2-EEC4-617A-04613BB975F1}">
          <p14:sldIdLst>
            <p14:sldId id="256"/>
          </p14:sldIdLst>
        </p14:section>
        <p14:section name="Problem" id="{9405A032-FD26-9DB6-9788-FF1FC7652EB6}">
          <p14:sldIdLst>
            <p14:sldId id="257"/>
          </p14:sldIdLst>
        </p14:section>
        <p14:section name="Method" id="{8C2540F0-2F7D-8693-9686-5ACD88002613}">
          <p14:sldIdLst>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2" d="100"/>
          <a:sy n="102" d="100"/>
        </p:scale>
        <p:origin x="93"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915094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 Perception course project, Visual Navigation Challenge: mid-term report. The picture is local test maze 25 drawn from the simulator’s true positions: the robot’s path from the start (blue) to the check-in (red), with the same code as the mid-term.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only sees camera images, has four photos of the goal and the photos of three earlier drives. It must check in within 0.2 m and 20 degrees, and SPL rewards few steps. The hard parts are the trade-off between checking carefully and saving steps, lining up exactly in the last metre, and dead ends that cost many steps to back out of.</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driving, from the exploration photos alone and before connecting: build a graph of the photos, add shortcut links where AnyLoc proposes and SuperGlue confirms the same place, and place every photo in metres to cost the links in steps (the figure shows maze 25: 97% of the 480 links join photos in the same corridor). When it starts, the session hands over the four goal photos: it picks the goal photo by matching them and computes the cheapest route to it with Dijkstra. None of this costs steps.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the drive, every move: find the closest exploration photo, take the route from it, steer to a waypoint photo by the angle SuperGlue and the essential matrix give, undo recorded moves to back out along a drive, check the route photos or re-plan when stuck, and in the last metre line up with the goal photos and check in only after three strong readings. The pictures are real images from local test maze 25: the SuperGlue matches the robot uses to measure a turn, and the goal photo next to its camera at the check-in.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22960" y="1783080"/>
            <a:ext cx="6400800" cy="173736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64240" cy="658368"/>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3" name="Text 0"/>
          <p:cNvSpPr/>
          <p:nvPr/>
        </p:nvSpPr>
        <p:spPr>
          <a:xfrm>
            <a:off x="548640" y="6446520"/>
            <a:ext cx="7315200" cy="256032"/>
          </a:xfrm>
          <a:prstGeom prst="rect">
            <a:avLst/>
          </a:prstGeom>
          <a:noFill/>
          <a:ln/>
        </p:spPr>
        <p:txBody>
          <a:bodyPr wrap="square" lIns="0" tIns="0" rIns="0" bIns="0" rtlCol="0" anchor="ctr"/>
          <a:lstStyle/>
          <a:p>
            <a:pPr marL="0" indent="0">
              <a:buNone/>
            </a:pPr>
            <a:r>
              <a:rPr lang="en-US" sz="900" kern="0" spc="150" dirty="0">
                <a:solidFill>
                  <a:schemeClr val="accent3"/>
                </a:solidFill>
              </a:rPr>
              <a:t>VISUAL NAVIGATION CHALLENGE  ·  MID-TERM REPORT</a:t>
            </a:r>
            <a:endParaRPr lang="en-US" sz="9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822960" y="1188720"/>
            <a:ext cx="6583680" cy="365760"/>
          </a:xfrm>
          <a:prstGeom prst="rect">
            <a:avLst/>
          </a:prstGeom>
          <a:noFill/>
          <a:ln/>
        </p:spPr>
        <p:txBody>
          <a:bodyPr wrap="square" lIns="0" tIns="0" rIns="0" bIns="0" rtlCol="0" anchor="ctr"/>
          <a:lstStyle/>
          <a:p>
            <a:pPr marL="0" indent="0">
              <a:buNone/>
            </a:pPr>
            <a:r>
              <a:rPr lang="en-US" sz="1300" kern="0" spc="200" dirty="0">
                <a:solidFill>
                  <a:schemeClr val="accent5"/>
                </a:solidFill>
              </a:rPr>
              <a:t>VISUAL NAVIGATION CHALLENGE  ·  MID-TERM REPORT  ·  FALL 2026</a:t>
            </a:r>
            <a:endParaRPr lang="en-US" sz="1300" dirty="0"/>
          </a:p>
        </p:txBody>
      </p:sp>
      <p:sp>
        <p:nvSpPr>
          <p:cNvPr id="3" name="Text 0"/>
          <p:cNvSpPr>
            <a:spLocks noGrp="1"/>
          </p:cNvSpPr>
          <p:nvPr>
            <p:ph type="title" idx="100" hasCustomPrompt="1"/>
          </p:nvPr>
        </p:nvSpPr>
        <p:spPr>
          <a:xfrm>
            <a:off x="822960" y="1783080"/>
            <a:ext cx="6400800" cy="1737360"/>
          </a:xfrm>
          <a:prstGeom prst="rect">
            <a:avLst/>
          </a:prstGeom>
          <a:noFill/>
          <a:ln/>
        </p:spPr>
        <p:txBody>
          <a:bodyPr wrap="square" lIns="0" tIns="0" rIns="0" bIns="0" rtlCol="0" anchor="t"/>
          <a:lstStyle/>
          <a:p>
            <a:pPr marL="0" indent="0" algn="l">
              <a:buNone/>
            </a:pPr>
            <a:r>
              <a:rPr lang="en-US" sz="4400" b="1" dirty="0">
                <a:solidFill>
                  <a:schemeClr val="bg1"/>
                </a:solidFill>
              </a:rPr>
              <a:t>Robot Perception</a:t>
            </a:r>
            <a:endParaRPr lang="en-US" sz="4400" dirty="0"/>
          </a:p>
          <a:p>
            <a:pPr marL="0" indent="0" algn="l">
              <a:buNone/>
            </a:pPr>
            <a:r>
              <a:rPr lang="en-US" sz="4400" b="1" dirty="0">
                <a:solidFill>
                  <a:schemeClr val="bg1"/>
                </a:solidFill>
              </a:rPr>
              <a:t>Course Project</a:t>
            </a:r>
            <a:endParaRPr lang="en-US" sz="4400" dirty="0"/>
          </a:p>
        </p:txBody>
      </p:sp>
      <p:sp>
        <p:nvSpPr>
          <p:cNvPr id="4" name="team"/>
          <p:cNvSpPr txBox="1"/>
          <p:nvPr/>
        </p:nvSpPr>
        <p:spPr>
          <a:xfrm>
            <a:off x="822960" y="3703320"/>
            <a:ext cx="6400800" cy="640080"/>
          </a:xfrm>
          <a:prstGeom prst="rect">
            <a:avLst/>
          </a:prstGeom>
          <a:noFill/>
          <a:ln/>
        </p:spPr>
        <p:txBody>
          <a:bodyPr wrap="square" lIns="0" tIns="0" rIns="0" bIns="0" rtlCol="0" anchor="ctr"/>
          <a:lstStyle/>
          <a:p>
            <a:pPr marL="0" indent="0">
              <a:buNone/>
            </a:pPr>
            <a:r>
              <a:rPr lang="en-US" sz="3000" dirty="0">
                <a:solidFill>
                  <a:schemeClr val="accent4"/>
                </a:solidFill>
                <a:latin typeface="Cambria" pitchFamily="34" charset="0"/>
                <a:ea typeface="Cambria" pitchFamily="34" charset="-122"/>
                <a:cs typeface="Cambria" pitchFamily="34" charset="-120"/>
              </a:rPr>
              <a:t>Team 15</a:t>
            </a:r>
            <a:endParaRPr lang="en-US" sz="3000" dirty="0"/>
          </a:p>
        </p:txBody>
      </p:sp>
      <p:sp>
        <p:nvSpPr>
          <p:cNvPr id="5" name="members"/>
          <p:cNvSpPr txBox="1"/>
          <p:nvPr/>
        </p:nvSpPr>
        <p:spPr>
          <a:xfrm>
            <a:off x="822960" y="4526280"/>
            <a:ext cx="6400800" cy="914400"/>
          </a:xfrm>
          <a:prstGeom prst="rect">
            <a:avLst/>
          </a:prstGeom>
          <a:noFill/>
          <a:ln/>
        </p:spPr>
        <p:txBody>
          <a:bodyPr wrap="square" lIns="0" tIns="0" rIns="0" bIns="0" rtlCol="0" anchor="ctr"/>
          <a:lstStyle/>
          <a:p>
            <a:pPr marL="0" indent="0">
              <a:spcAft>
                <a:spcPts val="600"/>
              </a:spcAft>
              <a:buNone/>
            </a:pPr>
            <a:r>
              <a:rPr lang="en-US" sz="2000" dirty="0">
                <a:solidFill>
                  <a:schemeClr val="accent5"/>
                </a:solidFill>
              </a:rPr>
              <a:t>Kartik Parameshwaran (kp3932)</a:t>
            </a:r>
            <a:endParaRPr lang="en-US" sz="2000" dirty="0"/>
          </a:p>
          <a:p>
            <a:pPr marL="0" indent="0">
              <a:spcAft>
                <a:spcPts val="600"/>
              </a:spcAft>
              <a:buNone/>
            </a:pPr>
            <a:r>
              <a:rPr lang="en-US" sz="2000" dirty="0">
                <a:solidFill>
                  <a:schemeClr val="accent5"/>
                </a:solidFill>
              </a:rPr>
              <a:t>Arya Kishor (am16454)</a:t>
            </a:r>
            <a:endParaRPr lang="en-US" sz="2000" dirty="0"/>
          </a:p>
        </p:txBody>
      </p:sp>
      <p:sp>
        <p:nvSpPr>
          <p:cNvPr id="6" name="maze picture frame"/>
          <p:cNvSpPr/>
          <p:nvPr/>
        </p:nvSpPr>
        <p:spPr>
          <a:xfrm>
            <a:off x="7863840" y="960120"/>
            <a:ext cx="3794760" cy="4297680"/>
          </a:xfrm>
          <a:prstGeom prst="roundRect">
            <a:avLst>
              <a:gd name="adj" fmla="val 2892"/>
            </a:avLst>
          </a:prstGeom>
          <a:solidFill>
            <a:schemeClr val="tx2"/>
          </a:solidFill>
          <a:ln w="12700">
            <a:solidFill>
              <a:schemeClr val="tx2"/>
            </a:solidFill>
            <a:prstDash val="solid"/>
          </a:ln>
        </p:spPr>
      </p:sp>
      <p:pic>
        <p:nvPicPr>
          <p:cNvPr id="7" name="title maze picture" descr="Top view of local test maze 25 drawn from the simulator’s true positions: the robot’s path from the start to the goal, coloured by time from blue to red"/>
          <p:cNvPicPr>
            <a:picLocks noChangeAspect="1"/>
          </p:cNvPicPr>
          <p:nvPr/>
        </p:nvPicPr>
        <p:blipFill>
          <a:blip r:embed="rId3"/>
          <a:stretch>
            <a:fillRect/>
          </a:stretch>
        </p:blipFill>
        <p:spPr>
          <a:xfrm>
            <a:off x="8046720" y="1143000"/>
            <a:ext cx="3429000" cy="3429000"/>
          </a:xfrm>
          <a:prstGeom prst="rect">
            <a:avLst/>
          </a:prstGeom>
        </p:spPr>
      </p:pic>
      <p:sp>
        <p:nvSpPr>
          <p:cNvPr id="8" name="title maze caption"/>
          <p:cNvSpPr txBox="1"/>
          <p:nvPr/>
        </p:nvSpPr>
        <p:spPr>
          <a:xfrm>
            <a:off x="8046720" y="4617720"/>
            <a:ext cx="3429000" cy="548640"/>
          </a:xfrm>
          <a:prstGeom prst="rect">
            <a:avLst/>
          </a:prstGeom>
          <a:noFill/>
          <a:ln/>
        </p:spPr>
        <p:txBody>
          <a:bodyPr wrap="square" lIns="0" tIns="0" rIns="0" bIns="0" rtlCol="0" anchor="ctr"/>
          <a:lstStyle/>
          <a:p>
            <a:pPr marL="0" indent="0">
              <a:buNone/>
            </a:pPr>
            <a:r>
              <a:rPr lang="en-US" sz="1050" i="1" dirty="0">
                <a:solidFill>
                  <a:schemeClr val="accent5"/>
                </a:solidFill>
              </a:rPr>
              <a:t>Local test maze 25: the robot’s true path from start to goal, with the mid-term code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74320"/>
            <a:ext cx="11064240" cy="274320"/>
          </a:xfrm>
          <a:prstGeom prst="rect">
            <a:avLst/>
          </a:prstGeom>
          <a:noFill/>
          <a:ln/>
        </p:spPr>
        <p:txBody>
          <a:bodyPr wrap="square" lIns="0" tIns="0" rIns="0" bIns="0" rtlCol="0" anchor="ctr"/>
          <a:lstStyle/>
          <a:p>
            <a:pPr marL="0" indent="0">
              <a:buNone/>
            </a:pPr>
            <a:r>
              <a:rPr lang="en-US" sz="1100" b="1" kern="0" spc="200" dirty="0">
                <a:solidFill>
                  <a:schemeClr val="accent1"/>
                </a:solidFill>
              </a:rPr>
              <a:t>PROBLEM</a:t>
            </a:r>
            <a:endParaRPr lang="en-US" sz="1100" dirty="0"/>
          </a:p>
        </p:txBody>
      </p:sp>
      <p:sp>
        <p:nvSpPr>
          <p:cNvPr id="3" name="Text 0"/>
          <p:cNvSpPr>
            <a:spLocks noGrp="1"/>
          </p:cNvSpPr>
          <p:nvPr>
            <p:ph type="title" idx="100" hasCustomPrompt="1"/>
          </p:nvPr>
        </p:nvSpPr>
        <p:spPr>
          <a:xfrm>
            <a:off x="548640" y="548640"/>
            <a:ext cx="11064240" cy="658368"/>
          </a:xfrm>
          <a:prstGeom prst="rect">
            <a:avLst/>
          </a:prstGeom>
          <a:noFill/>
          <a:ln/>
        </p:spPr>
        <p:txBody>
          <a:bodyPr wrap="square" lIns="0" tIns="0" rIns="0" bIns="0" rtlCol="0" anchor="ctr"/>
          <a:lstStyle/>
          <a:p>
            <a:pPr marL="0" indent="0" algn="l">
              <a:buNone/>
            </a:pPr>
            <a:r>
              <a:rPr lang="en-US" sz="3000" b="1" dirty="0">
                <a:solidFill>
                  <a:schemeClr val="tx1"/>
                </a:solidFill>
              </a:rPr>
              <a:t>Description of the problem and references</a:t>
            </a:r>
            <a:endParaRPr lang="en-US" sz="3000" dirty="0"/>
          </a:p>
        </p:txBody>
      </p:sp>
      <p:sp>
        <p:nvSpPr>
          <p:cNvPr id="4" name="problem description"/>
          <p:cNvSpPr txBox="1"/>
          <p:nvPr/>
        </p:nvSpPr>
        <p:spPr>
          <a:xfrm>
            <a:off x="548640" y="1371600"/>
            <a:ext cx="6400800" cy="2514600"/>
          </a:xfrm>
          <a:prstGeom prst="rect">
            <a:avLst/>
          </a:prstGeom>
          <a:noFill/>
          <a:ln/>
        </p:spPr>
        <p:txBody>
          <a:bodyPr wrap="square" lIns="0" tIns="0" rIns="0" bIns="0" rtlCol="0" anchor="t"/>
          <a:lstStyle/>
          <a:p>
            <a:pPr marL="0" indent="0">
              <a:spcAft>
                <a:spcPts val="500"/>
              </a:spcAft>
              <a:buNone/>
            </a:pPr>
            <a:r>
              <a:rPr lang="en-US" sz="1350" dirty="0">
                <a:solidFill>
                  <a:schemeClr val="tx2"/>
                </a:solidFill>
              </a:rPr>
              <a:t>The robot is placed in a maze it has never seen and has to drive to a goal spot and check in there. It is never told its position and has no map. All it has is:</a:t>
            </a:r>
            <a:endParaRPr lang="en-US" sz="1350" dirty="0"/>
          </a:p>
          <a:p>
            <a:pPr marL="342900" indent="-342900">
              <a:spcAft>
                <a:spcPts val="500"/>
              </a:spcAft>
              <a:buSzPct val="100000"/>
              <a:buChar char="•"/>
            </a:pPr>
            <a:r>
              <a:rPr lang="en-US" sz="1350" dirty="0">
                <a:solidFill>
                  <a:schemeClr val="tx2"/>
                </a:solidFill>
              </a:rPr>
              <a:t>its own 320 × 240 camera image after every move (no bump sensor),</a:t>
            </a:r>
            <a:endParaRPr lang="en-US" sz="1350" dirty="0"/>
          </a:p>
          <a:p>
            <a:pPr marL="342900" indent="-342900">
              <a:spcAft>
                <a:spcPts val="500"/>
              </a:spcAft>
              <a:buSzPct val="100000"/>
              <a:buChar char="•"/>
            </a:pPr>
            <a:r>
              <a:rPr lang="en-US" sz="1350" dirty="0">
                <a:solidFill>
                  <a:schemeClr val="tx2"/>
                </a:solidFill>
              </a:rPr>
              <a:t>four photos taken at the goal spot (front, left, back, right),</a:t>
            </a:r>
            <a:endParaRPr lang="en-US" sz="1350" dirty="0"/>
          </a:p>
          <a:p>
            <a:pPr marL="342900" indent="-342900">
              <a:spcAft>
                <a:spcPts val="500"/>
              </a:spcAft>
              <a:buSzPct val="100000"/>
              <a:buChar char="•"/>
            </a:pPr>
            <a:r>
              <a:rPr lang="en-US" sz="1350" dirty="0">
                <a:solidFill>
                  <a:schemeClr val="tx2"/>
                </a:solidFill>
              </a:rPr>
              <a:t>the photos of three earlier exploration drives through the same maze, each labelled with the move made after it.</a:t>
            </a:r>
            <a:endParaRPr lang="en-US" sz="1350" dirty="0"/>
          </a:p>
          <a:p>
            <a:pPr marL="0" indent="0">
              <a:spcAft>
                <a:spcPts val="500"/>
              </a:spcAft>
              <a:buNone/>
            </a:pPr>
            <a:r>
              <a:rPr lang="en-US" sz="1350" dirty="0">
                <a:solidFill>
                  <a:schemeClr val="tx2"/>
                </a:solidFill>
              </a:rPr>
              <a:t>A check-in only counts within 0.2 m and 20° of the goal. Points come from distance, heading and SPL (shortest path ÷ steps taken), so every extra step costs points.</a:t>
            </a:r>
            <a:endParaRPr lang="en-US" sz="1350" dirty="0"/>
          </a:p>
        </p:txBody>
      </p:sp>
      <p:sp>
        <p:nvSpPr>
          <p:cNvPr id="5" name="hard heading"/>
          <p:cNvSpPr txBox="1"/>
          <p:nvPr/>
        </p:nvSpPr>
        <p:spPr>
          <a:xfrm>
            <a:off x="548640" y="3611880"/>
            <a:ext cx="6400800" cy="292608"/>
          </a:xfrm>
          <a:prstGeom prst="rect">
            <a:avLst/>
          </a:prstGeom>
          <a:noFill/>
          <a:ln/>
        </p:spPr>
        <p:txBody>
          <a:bodyPr wrap="square" lIns="0" tIns="0" rIns="0" bIns="0" rtlCol="0" anchor="ctr"/>
          <a:lstStyle/>
          <a:p>
            <a:pPr marL="0" indent="0">
              <a:buNone/>
            </a:pPr>
            <a:r>
              <a:rPr lang="en-US" sz="1500" b="1" dirty="0">
                <a:solidFill>
                  <a:schemeClr val="accent2"/>
                </a:solidFill>
              </a:rPr>
              <a:t>What makes it hard</a:t>
            </a:r>
            <a:endParaRPr lang="en-US" sz="1500" dirty="0"/>
          </a:p>
        </p:txBody>
      </p:sp>
      <p:sp>
        <p:nvSpPr>
          <p:cNvPr id="6" name="difficulty 1 circle"/>
          <p:cNvSpPr/>
          <p:nvPr/>
        </p:nvSpPr>
        <p:spPr>
          <a:xfrm>
            <a:off x="548640" y="4023360"/>
            <a:ext cx="292608" cy="292608"/>
          </a:xfrm>
          <a:prstGeom prst="ellipse">
            <a:avLst/>
          </a:prstGeom>
          <a:solidFill>
            <a:schemeClr val="accent2"/>
          </a:solidFill>
          <a:ln w="12700">
            <a:solidFill>
              <a:schemeClr val="accent2"/>
            </a:solidFill>
            <a:prstDash val="solid"/>
          </a:ln>
        </p:spPr>
      </p:sp>
      <p:sp>
        <p:nvSpPr>
          <p:cNvPr id="7" name="difficulty 1 number"/>
          <p:cNvSpPr txBox="1"/>
          <p:nvPr/>
        </p:nvSpPr>
        <p:spPr>
          <a:xfrm>
            <a:off x="548640" y="4023360"/>
            <a:ext cx="292608" cy="292608"/>
          </a:xfrm>
          <a:prstGeom prst="rect">
            <a:avLst/>
          </a:prstGeom>
          <a:no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8" name="difficulty 1 text"/>
          <p:cNvSpPr txBox="1"/>
          <p:nvPr/>
        </p:nvSpPr>
        <p:spPr>
          <a:xfrm>
            <a:off x="978408" y="4005072"/>
            <a:ext cx="5971032" cy="672084"/>
          </a:xfrm>
          <a:prstGeom prst="rect">
            <a:avLst/>
          </a:prstGeom>
          <a:noFill/>
          <a:ln/>
        </p:spPr>
        <p:txBody>
          <a:bodyPr wrap="square" lIns="0" tIns="0" rIns="0" bIns="0" rtlCol="0" anchor="t"/>
          <a:lstStyle/>
          <a:p>
            <a:pPr marL="0" indent="0">
              <a:buNone/>
            </a:pPr>
            <a:r>
              <a:rPr lang="en-US" sz="1350" b="1" dirty="0">
                <a:solidFill>
                  <a:schemeClr val="tx1"/>
                </a:solidFill>
              </a:rPr>
              <a:t>Accuracy vs. number of steps. </a:t>
            </a:r>
            <a:r>
              <a:rPr lang="en-US" sz="1350" dirty="0">
                <a:solidFill>
                  <a:schemeClr val="tx2"/>
                </a:solidFill>
              </a:rPr>
              <a:t>Checking more carefully where it is (turning to look, planning again) avoids getting lost, but every move counts against SPL, and a fast move on a wrong guess wastes even more.</a:t>
            </a:r>
            <a:endParaRPr lang="en-US" sz="1350" dirty="0"/>
          </a:p>
        </p:txBody>
      </p:sp>
      <p:sp>
        <p:nvSpPr>
          <p:cNvPr id="9" name="difficulty 2 circle"/>
          <p:cNvSpPr/>
          <p:nvPr/>
        </p:nvSpPr>
        <p:spPr>
          <a:xfrm>
            <a:off x="548640" y="4841748"/>
            <a:ext cx="292608" cy="292608"/>
          </a:xfrm>
          <a:prstGeom prst="ellipse">
            <a:avLst/>
          </a:prstGeom>
          <a:solidFill>
            <a:schemeClr val="accent2"/>
          </a:solidFill>
          <a:ln w="12700">
            <a:solidFill>
              <a:schemeClr val="accent2"/>
            </a:solidFill>
            <a:prstDash val="solid"/>
          </a:ln>
        </p:spPr>
      </p:sp>
      <p:sp>
        <p:nvSpPr>
          <p:cNvPr id="10" name="difficulty 2 number"/>
          <p:cNvSpPr txBox="1"/>
          <p:nvPr/>
        </p:nvSpPr>
        <p:spPr>
          <a:xfrm>
            <a:off x="548640" y="4841748"/>
            <a:ext cx="292608" cy="292608"/>
          </a:xfrm>
          <a:prstGeom prst="rect">
            <a:avLst/>
          </a:prstGeom>
          <a:no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11" name="difficulty 2 text"/>
          <p:cNvSpPr txBox="1"/>
          <p:nvPr/>
        </p:nvSpPr>
        <p:spPr>
          <a:xfrm>
            <a:off x="978408" y="4823460"/>
            <a:ext cx="5971032" cy="466344"/>
          </a:xfrm>
          <a:prstGeom prst="rect">
            <a:avLst/>
          </a:prstGeom>
          <a:noFill/>
          <a:ln/>
        </p:spPr>
        <p:txBody>
          <a:bodyPr wrap="square" lIns="0" tIns="0" rIns="0" bIns="0" rtlCol="0" anchor="t"/>
          <a:lstStyle/>
          <a:p>
            <a:pPr marL="0" indent="0">
              <a:buNone/>
            </a:pPr>
            <a:r>
              <a:rPr lang="en-US" sz="1350" b="1" dirty="0">
                <a:solidFill>
                  <a:schemeClr val="tx1"/>
                </a:solidFill>
              </a:rPr>
              <a:t>The last metre. </a:t>
            </a:r>
            <a:r>
              <a:rPr lang="en-US" sz="1350" dirty="0">
                <a:solidFill>
                  <a:schemeClr val="tx2"/>
                </a:solidFill>
              </a:rPr>
              <a:t>The photo map only gets the robot near the goal. Checking in within 0.2 m and 20° needs it to line up with the goal photos themselves.</a:t>
            </a:r>
            <a:endParaRPr lang="en-US" sz="1350" dirty="0"/>
          </a:p>
        </p:txBody>
      </p:sp>
      <p:sp>
        <p:nvSpPr>
          <p:cNvPr id="12" name="difficulty 3 circle"/>
          <p:cNvSpPr/>
          <p:nvPr/>
        </p:nvSpPr>
        <p:spPr>
          <a:xfrm>
            <a:off x="548640" y="5454396"/>
            <a:ext cx="292608" cy="292608"/>
          </a:xfrm>
          <a:prstGeom prst="ellipse">
            <a:avLst/>
          </a:prstGeom>
          <a:solidFill>
            <a:schemeClr val="accent2"/>
          </a:solidFill>
          <a:ln w="12700">
            <a:solidFill>
              <a:schemeClr val="accent2"/>
            </a:solidFill>
            <a:prstDash val="solid"/>
          </a:ln>
        </p:spPr>
      </p:sp>
      <p:sp>
        <p:nvSpPr>
          <p:cNvPr id="13" name="difficulty 3 number"/>
          <p:cNvSpPr txBox="1"/>
          <p:nvPr/>
        </p:nvSpPr>
        <p:spPr>
          <a:xfrm>
            <a:off x="548640" y="5454396"/>
            <a:ext cx="292608" cy="292608"/>
          </a:xfrm>
          <a:prstGeom prst="rect">
            <a:avLst/>
          </a:prstGeom>
          <a:no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14" name="difficulty 3 text"/>
          <p:cNvSpPr txBox="1"/>
          <p:nvPr/>
        </p:nvSpPr>
        <p:spPr>
          <a:xfrm>
            <a:off x="978408" y="5436108"/>
            <a:ext cx="5971032" cy="672084"/>
          </a:xfrm>
          <a:prstGeom prst="rect">
            <a:avLst/>
          </a:prstGeom>
          <a:noFill/>
          <a:ln/>
        </p:spPr>
        <p:txBody>
          <a:bodyPr wrap="square" lIns="0" tIns="0" rIns="0" bIns="0" rtlCol="0" anchor="t"/>
          <a:lstStyle/>
          <a:p>
            <a:pPr marL="0" indent="0">
              <a:buNone/>
            </a:pPr>
            <a:r>
              <a:rPr lang="en-US" sz="1350" b="1" dirty="0">
                <a:solidFill>
                  <a:schemeClr val="tx1"/>
                </a:solidFill>
              </a:rPr>
              <a:t>Dead ends. </a:t>
            </a:r>
            <a:r>
              <a:rPr lang="en-US" sz="1350" dirty="0">
                <a:solidFill>
                  <a:schemeClr val="tx2"/>
                </a:solidFill>
              </a:rPr>
              <a:t>The maze and the exploration drives have dead ends and loops. A route along a drive can lead into one, and backing up along a drive took 36% of our mid-term steps.</a:t>
            </a:r>
            <a:endParaRPr lang="en-US" sz="1350" dirty="0"/>
          </a:p>
        </p:txBody>
      </p:sp>
      <p:sp>
        <p:nvSpPr>
          <p:cNvPr id="15" name="references card"/>
          <p:cNvSpPr/>
          <p:nvPr/>
        </p:nvSpPr>
        <p:spPr>
          <a:xfrm>
            <a:off x="7315200" y="1371600"/>
            <a:ext cx="4343400" cy="4892040"/>
          </a:xfrm>
          <a:prstGeom prst="roundRect">
            <a:avLst>
              <a:gd name="adj" fmla="val 2526"/>
            </a:avLst>
          </a:prstGeom>
          <a:solidFill>
            <a:schemeClr val="bg2"/>
          </a:solidFill>
          <a:ln w="12700">
            <a:solidFill>
              <a:schemeClr val="bg2"/>
            </a:solidFill>
            <a:prstDash val="solid"/>
          </a:ln>
        </p:spPr>
      </p:sp>
      <p:sp>
        <p:nvSpPr>
          <p:cNvPr id="16" name="references title"/>
          <p:cNvSpPr txBox="1"/>
          <p:nvPr/>
        </p:nvSpPr>
        <p:spPr>
          <a:xfrm>
            <a:off x="7543800" y="1481328"/>
            <a:ext cx="3931920" cy="365760"/>
          </a:xfrm>
          <a:prstGeom prst="rect">
            <a:avLst/>
          </a:prstGeom>
          <a:noFill/>
          <a:ln/>
        </p:spPr>
        <p:txBody>
          <a:bodyPr wrap="square" lIns="0" tIns="0" rIns="0" bIns="0" rtlCol="0" anchor="ctr"/>
          <a:lstStyle/>
          <a:p>
            <a:pPr marL="0" indent="0">
              <a:buNone/>
            </a:pPr>
            <a:r>
              <a:rPr lang="en-US" sz="1400" b="1" dirty="0">
                <a:solidFill>
                  <a:schemeClr val="tx1"/>
                </a:solidFill>
              </a:rPr>
              <a:t>References (and what we use them for)</a:t>
            </a:r>
            <a:endParaRPr lang="en-US" sz="1400" dirty="0"/>
          </a:p>
        </p:txBody>
      </p:sp>
      <p:sp>
        <p:nvSpPr>
          <p:cNvPr id="17" name="references list"/>
          <p:cNvSpPr txBox="1"/>
          <p:nvPr/>
        </p:nvSpPr>
        <p:spPr>
          <a:xfrm>
            <a:off x="7543800" y="1901952"/>
            <a:ext cx="3977640" cy="4251960"/>
          </a:xfrm>
          <a:prstGeom prst="rect">
            <a:avLst/>
          </a:prstGeom>
          <a:noFill/>
          <a:ln/>
        </p:spPr>
        <p:txBody>
          <a:bodyPr wrap="square" lIns="0" tIns="0" rIns="0" bIns="0" rtlCol="0" anchor="t"/>
          <a:lstStyle/>
          <a:p>
            <a:pPr marL="342900" indent="-342900">
              <a:spcAft>
                <a:spcPts val="300"/>
              </a:spcAft>
              <a:buSzPct val="100000"/>
              <a:buFont typeface="+mj-lt"/>
              <a:buAutoNum type="arabicPeriod"/>
            </a:pPr>
            <a:r>
              <a:rPr lang="en-US" sz="1000" dirty="0">
                <a:solidFill>
                  <a:schemeClr val="tx2"/>
                </a:solidFill>
              </a:rPr>
              <a:t>Savinov et al., Semi-Parametric Topological Memory for Navigation (SPTM), ICLR 2018</a:t>
            </a:r>
            <a:r>
              <a:rPr lang="en-US" sz="1000" i="1" dirty="0">
                <a:solidFill>
                  <a:schemeClr val="accent1"/>
                </a:solidFill>
              </a:rPr>
              <a:t>. Used for the photo map, and our place (R) and motion (L) networks.</a:t>
            </a:r>
            <a:endParaRPr lang="en-US" sz="1000" dirty="0"/>
          </a:p>
          <a:p>
            <a:pPr marL="342900" indent="-342900">
              <a:spcAft>
                <a:spcPts val="300"/>
              </a:spcAft>
              <a:buSzPct val="100000"/>
              <a:buFont typeface="+mj-lt"/>
              <a:buAutoNum type="arabicPeriod"/>
            </a:pPr>
            <a:r>
              <a:rPr lang="en-US" sz="1000" dirty="0">
                <a:solidFill>
                  <a:schemeClr val="tx2"/>
                </a:solidFill>
              </a:rPr>
              <a:t>Keetha et al., AnyLoc: Towards Universal Visual Place Recognition, IEEE RA-L 2023</a:t>
            </a:r>
            <a:r>
              <a:rPr lang="en-US" sz="1000" i="1" dirty="0">
                <a:solidFill>
                  <a:schemeClr val="accent1"/>
                </a:solidFill>
              </a:rPr>
              <a:t>. Used for finding exploration photos that look like the camera image.</a:t>
            </a:r>
            <a:endParaRPr lang="en-US" sz="1000" dirty="0"/>
          </a:p>
          <a:p>
            <a:pPr marL="342900" indent="-342900">
              <a:spcAft>
                <a:spcPts val="300"/>
              </a:spcAft>
              <a:buSzPct val="100000"/>
              <a:buFont typeface="+mj-lt"/>
              <a:buAutoNum type="arabicPeriod"/>
            </a:pPr>
            <a:r>
              <a:rPr lang="en-US" sz="1000" dirty="0">
                <a:solidFill>
                  <a:schemeClr val="tx2"/>
                </a:solidFill>
              </a:rPr>
              <a:t>Oquab et al., DINOv2: Learning Robust Visual Features without Supervision, TMLR 2024</a:t>
            </a:r>
            <a:r>
              <a:rPr lang="en-US" sz="1000" i="1" dirty="0">
                <a:solidFill>
                  <a:schemeClr val="accent1"/>
                </a:solidFill>
              </a:rPr>
              <a:t>. Used for the image features AnyLoc uses.</a:t>
            </a:r>
            <a:endParaRPr lang="en-US" sz="1000" dirty="0"/>
          </a:p>
          <a:p>
            <a:pPr marL="342900" indent="-342900">
              <a:spcAft>
                <a:spcPts val="300"/>
              </a:spcAft>
              <a:buSzPct val="100000"/>
              <a:buFont typeface="+mj-lt"/>
              <a:buAutoNum type="arabicPeriod"/>
            </a:pPr>
            <a:r>
              <a:rPr lang="en-US" sz="1000" dirty="0">
                <a:solidFill>
                  <a:schemeClr val="tx2"/>
                </a:solidFill>
              </a:rPr>
              <a:t>Jégou et al., Aggregating Local Descriptors into a Compact Image Representation (VLAD), CVPR 2010</a:t>
            </a:r>
            <a:r>
              <a:rPr lang="en-US" sz="1000" i="1" dirty="0">
                <a:solidFill>
                  <a:schemeClr val="accent1"/>
                </a:solidFill>
              </a:rPr>
              <a:t>. Used for how AnyLoc sums those features.</a:t>
            </a:r>
            <a:endParaRPr lang="en-US" sz="1000" dirty="0"/>
          </a:p>
          <a:p>
            <a:pPr marL="342900" indent="-342900">
              <a:spcAft>
                <a:spcPts val="300"/>
              </a:spcAft>
              <a:buSzPct val="100000"/>
              <a:buFont typeface="+mj-lt"/>
              <a:buAutoNum type="arabicPeriod"/>
            </a:pPr>
            <a:r>
              <a:rPr lang="en-US" sz="1000" dirty="0">
                <a:solidFill>
                  <a:schemeClr val="tx2"/>
                </a:solidFill>
              </a:rPr>
              <a:t>DeTone et al., SuperPoint: Self-Supervised Interest Point Detection and Description, CVPR Workshops 2018</a:t>
            </a:r>
            <a:r>
              <a:rPr lang="en-US" sz="1000" i="1" dirty="0">
                <a:solidFill>
                  <a:schemeClr val="accent1"/>
                </a:solidFill>
              </a:rPr>
              <a:t>. Used for keypoints in each photo.</a:t>
            </a:r>
            <a:endParaRPr lang="en-US" sz="1000" dirty="0"/>
          </a:p>
          <a:p>
            <a:pPr marL="342900" indent="-342900">
              <a:spcAft>
                <a:spcPts val="300"/>
              </a:spcAft>
              <a:buSzPct val="100000"/>
              <a:buFont typeface="+mj-lt"/>
              <a:buAutoNum type="arabicPeriod"/>
            </a:pPr>
            <a:r>
              <a:rPr lang="en-US" sz="1000" dirty="0">
                <a:solidFill>
                  <a:schemeClr val="tx2"/>
                </a:solidFill>
              </a:rPr>
              <a:t>Sarlin et al., SuperGlue: Learning Feature Matching with Graph Neural Networks, CVPR 2020</a:t>
            </a:r>
            <a:r>
              <a:rPr lang="en-US" sz="1000" i="1" dirty="0">
                <a:solidFill>
                  <a:schemeClr val="accent1"/>
                </a:solidFill>
              </a:rPr>
              <a:t>. Used for matching keypoints between two photos.</a:t>
            </a:r>
            <a:endParaRPr lang="en-US" sz="1000" dirty="0"/>
          </a:p>
          <a:p>
            <a:pPr marL="342900" indent="-342900">
              <a:spcAft>
                <a:spcPts val="300"/>
              </a:spcAft>
              <a:buSzPct val="100000"/>
              <a:buFont typeface="+mj-lt"/>
              <a:buAutoNum type="arabicPeriod"/>
            </a:pPr>
            <a:r>
              <a:rPr lang="en-US" sz="1000" dirty="0">
                <a:solidFill>
                  <a:schemeClr val="tx2"/>
                </a:solidFill>
              </a:rPr>
              <a:t>Nistér, An Efficient Solution to the Five-Point Relative Pose Problem, IEEE TPAMI 2004</a:t>
            </a:r>
            <a:r>
              <a:rPr lang="en-US" sz="1000" i="1" dirty="0">
                <a:solidFill>
                  <a:schemeClr val="accent1"/>
                </a:solidFill>
              </a:rPr>
              <a:t>. Used for the turning angle between two views (OpenCV findEssentialMat).</a:t>
            </a:r>
            <a:endParaRPr lang="en-US" sz="1000" dirty="0"/>
          </a:p>
          <a:p>
            <a:pPr marL="342900" indent="-342900">
              <a:spcAft>
                <a:spcPts val="300"/>
              </a:spcAft>
              <a:buSzPct val="100000"/>
              <a:buFont typeface="+mj-lt"/>
              <a:buAutoNum type="arabicPeriod"/>
            </a:pPr>
            <a:r>
              <a:rPr lang="en-US" sz="1000" dirty="0">
                <a:solidFill>
                  <a:schemeClr val="tx2"/>
                </a:solidFill>
              </a:rPr>
              <a:t>Fischler and Bolles, Random Sample Consensus (RANSAC), Communications of the ACM 1981</a:t>
            </a:r>
            <a:r>
              <a:rPr lang="en-US" sz="1000" i="1" dirty="0">
                <a:solidFill>
                  <a:schemeClr val="accent1"/>
                </a:solidFill>
              </a:rPr>
              <a:t>. Used for removing wrong matches.</a:t>
            </a:r>
            <a:endParaRPr lang="en-US" sz="1000" dirty="0"/>
          </a:p>
          <a:p>
            <a:pPr marL="342900" indent="-342900">
              <a:spcAft>
                <a:spcPts val="300"/>
              </a:spcAft>
              <a:buSzPct val="100000"/>
              <a:buFont typeface="+mj-lt"/>
              <a:buAutoNum type="arabicPeriod"/>
            </a:pPr>
            <a:r>
              <a:rPr lang="en-US" sz="1000" dirty="0">
                <a:solidFill>
                  <a:schemeClr val="tx2"/>
                </a:solidFill>
              </a:rPr>
              <a:t>Tools: PyTorch, OpenCV, NetworkX (Dijkstra) and the course’s vis-nav SDK</a:t>
            </a:r>
            <a:endParaRPr lang="en-US" sz="10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74320"/>
            <a:ext cx="11064240" cy="274320"/>
          </a:xfrm>
          <a:prstGeom prst="rect">
            <a:avLst/>
          </a:prstGeom>
          <a:noFill/>
          <a:ln/>
        </p:spPr>
        <p:txBody>
          <a:bodyPr wrap="square" lIns="0" tIns="0" rIns="0" bIns="0" rtlCol="0" anchor="ctr"/>
          <a:lstStyle/>
          <a:p>
            <a:pPr marL="0" indent="0">
              <a:buNone/>
            </a:pPr>
            <a:r>
              <a:rPr lang="en-US" sz="1100" b="1" kern="0" spc="200" dirty="0">
                <a:solidFill>
                  <a:schemeClr val="accent1"/>
                </a:solidFill>
              </a:rPr>
              <a:t>METHOD  ·  1 OF 2</a:t>
            </a:r>
            <a:endParaRPr lang="en-US" sz="1100" dirty="0"/>
          </a:p>
        </p:txBody>
      </p:sp>
      <p:sp>
        <p:nvSpPr>
          <p:cNvPr id="3" name="Text 0"/>
          <p:cNvSpPr>
            <a:spLocks noGrp="1"/>
          </p:cNvSpPr>
          <p:nvPr>
            <p:ph type="title" idx="100" hasCustomPrompt="1"/>
          </p:nvPr>
        </p:nvSpPr>
        <p:spPr>
          <a:xfrm>
            <a:off x="548640" y="548640"/>
            <a:ext cx="11064240" cy="658368"/>
          </a:xfrm>
          <a:prstGeom prst="rect">
            <a:avLst/>
          </a:prstGeom>
          <a:noFill/>
          <a:ln/>
        </p:spPr>
        <p:txBody>
          <a:bodyPr wrap="square" lIns="0" tIns="0" rIns="0" bIns="0" rtlCol="0" anchor="ctr"/>
          <a:lstStyle/>
          <a:p>
            <a:pPr marL="0" indent="0" algn="l">
              <a:buNone/>
            </a:pPr>
            <a:r>
              <a:rPr lang="en-US" sz="3000" b="1" dirty="0">
                <a:solidFill>
                  <a:schemeClr val="tx1"/>
                </a:solidFill>
              </a:rPr>
              <a:t>Method (1/2): before driving, and when it starts</a:t>
            </a:r>
            <a:endParaRPr lang="en-US" sz="3000" dirty="0"/>
          </a:p>
        </p:txBody>
      </p:sp>
      <p:sp>
        <p:nvSpPr>
          <p:cNvPr id="4" name="phase 1 label pill"/>
          <p:cNvSpPr/>
          <p:nvPr/>
        </p:nvSpPr>
        <p:spPr>
          <a:xfrm>
            <a:off x="548640" y="1371600"/>
            <a:ext cx="7132320" cy="347472"/>
          </a:xfrm>
          <a:prstGeom prst="roundRect">
            <a:avLst>
              <a:gd name="adj" fmla="val 50000"/>
            </a:avLst>
          </a:prstGeom>
          <a:solidFill>
            <a:schemeClr val="accent5"/>
          </a:solidFill>
          <a:ln w="12700">
            <a:solidFill>
              <a:schemeClr val="accent5"/>
            </a:solidFill>
            <a:prstDash val="solid"/>
          </a:ln>
        </p:spPr>
      </p:sp>
      <p:sp>
        <p:nvSpPr>
          <p:cNvPr id="5" name="phase 1 label"/>
          <p:cNvSpPr txBox="1"/>
          <p:nvPr/>
        </p:nvSpPr>
        <p:spPr>
          <a:xfrm>
            <a:off x="731520" y="1371600"/>
            <a:ext cx="6766560" cy="347472"/>
          </a:xfrm>
          <a:prstGeom prst="rect">
            <a:avLst/>
          </a:prstGeom>
          <a:noFill/>
          <a:ln/>
        </p:spPr>
        <p:txBody>
          <a:bodyPr wrap="square" lIns="0" tIns="0" rIns="0" bIns="0" rtlCol="0" anchor="ctr"/>
          <a:lstStyle/>
          <a:p>
            <a:pPr marL="0" indent="0">
              <a:buNone/>
            </a:pPr>
            <a:r>
              <a:rPr lang="en-US" sz="1300" b="1" dirty="0">
                <a:solidFill>
                  <a:schemeClr val="accent1"/>
                </a:solidFill>
              </a:rPr>
              <a:t>Before driving: from the exploration photos only, before connecting (no steps)</a:t>
            </a:r>
            <a:endParaRPr lang="en-US" sz="1300" dirty="0"/>
          </a:p>
        </p:txBody>
      </p:sp>
      <p:sp>
        <p:nvSpPr>
          <p:cNvPr id="6" name="before step 1 circle"/>
          <p:cNvSpPr/>
          <p:nvPr/>
        </p:nvSpPr>
        <p:spPr>
          <a:xfrm>
            <a:off x="548640" y="1874520"/>
            <a:ext cx="292608" cy="292608"/>
          </a:xfrm>
          <a:prstGeom prst="ellipse">
            <a:avLst/>
          </a:prstGeom>
          <a:solidFill>
            <a:schemeClr val="accent1"/>
          </a:solidFill>
          <a:ln w="12700">
            <a:solidFill>
              <a:schemeClr val="accent1"/>
            </a:solidFill>
            <a:prstDash val="solid"/>
          </a:ln>
        </p:spPr>
      </p:sp>
      <p:sp>
        <p:nvSpPr>
          <p:cNvPr id="7" name="before step 1 number"/>
          <p:cNvSpPr txBox="1"/>
          <p:nvPr/>
        </p:nvSpPr>
        <p:spPr>
          <a:xfrm>
            <a:off x="548640" y="1874520"/>
            <a:ext cx="292608" cy="292608"/>
          </a:xfrm>
          <a:prstGeom prst="rect">
            <a:avLst/>
          </a:prstGeom>
          <a:no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8" name="before step 1 text"/>
          <p:cNvSpPr txBox="1"/>
          <p:nvPr/>
        </p:nvSpPr>
        <p:spPr>
          <a:xfrm>
            <a:off x="978408" y="1856232"/>
            <a:ext cx="6702552" cy="451104"/>
          </a:xfrm>
          <a:prstGeom prst="rect">
            <a:avLst/>
          </a:prstGeom>
          <a:noFill/>
          <a:ln/>
        </p:spPr>
        <p:txBody>
          <a:bodyPr wrap="square" lIns="0" tIns="0" rIns="0" bIns="0" rtlCol="0" anchor="t"/>
          <a:lstStyle/>
          <a:p>
            <a:pPr marL="0" indent="0">
              <a:buNone/>
            </a:pPr>
            <a:r>
              <a:rPr lang="en-US" sz="1300" b="1" dirty="0">
                <a:solidFill>
                  <a:schemeClr val="tx1"/>
                </a:solidFill>
              </a:rPr>
              <a:t>Photo map. </a:t>
            </a:r>
            <a:r>
              <a:rPr lang="en-US" sz="1300" dirty="0">
                <a:solidFill>
                  <a:schemeClr val="tx2"/>
                </a:solidFill>
              </a:rPr>
              <a:t>Every exploration photo becomes a node. Photos taken one after another on the same drive are linked, because the robot drove from one to the next.</a:t>
            </a:r>
            <a:endParaRPr lang="en-US" sz="1300" dirty="0"/>
          </a:p>
        </p:txBody>
      </p:sp>
      <p:sp>
        <p:nvSpPr>
          <p:cNvPr id="9" name="before step 2 circle"/>
          <p:cNvSpPr/>
          <p:nvPr/>
        </p:nvSpPr>
        <p:spPr>
          <a:xfrm>
            <a:off x="548640" y="2435352"/>
            <a:ext cx="292608" cy="292608"/>
          </a:xfrm>
          <a:prstGeom prst="ellipse">
            <a:avLst/>
          </a:prstGeom>
          <a:solidFill>
            <a:schemeClr val="accent1"/>
          </a:solidFill>
          <a:ln w="12700">
            <a:solidFill>
              <a:schemeClr val="accent1"/>
            </a:solidFill>
            <a:prstDash val="solid"/>
          </a:ln>
        </p:spPr>
      </p:sp>
      <p:sp>
        <p:nvSpPr>
          <p:cNvPr id="10" name="before step 2 number"/>
          <p:cNvSpPr txBox="1"/>
          <p:nvPr/>
        </p:nvSpPr>
        <p:spPr>
          <a:xfrm>
            <a:off x="548640" y="2435352"/>
            <a:ext cx="292608" cy="292608"/>
          </a:xfrm>
          <a:prstGeom prst="rect">
            <a:avLst/>
          </a:prstGeom>
          <a:no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11" name="before step 2 text"/>
          <p:cNvSpPr txBox="1"/>
          <p:nvPr/>
        </p:nvSpPr>
        <p:spPr>
          <a:xfrm>
            <a:off x="978408" y="2417064"/>
            <a:ext cx="6702552" cy="1243584"/>
          </a:xfrm>
          <a:prstGeom prst="rect">
            <a:avLst/>
          </a:prstGeom>
          <a:noFill/>
          <a:ln/>
        </p:spPr>
        <p:txBody>
          <a:bodyPr wrap="square" lIns="0" tIns="0" rIns="0" bIns="0" rtlCol="0" anchor="t"/>
          <a:lstStyle/>
          <a:p>
            <a:pPr marL="0" indent="0">
              <a:buNone/>
            </a:pPr>
            <a:r>
              <a:rPr lang="en-US" sz="1300" b="1" dirty="0">
                <a:solidFill>
                  <a:schemeClr val="tx1"/>
                </a:solidFill>
              </a:rPr>
              <a:t>Where the drives meet again. </a:t>
            </a:r>
            <a:r>
              <a:rPr lang="en-US" sz="1300" dirty="0">
                <a:solidFill>
                  <a:schemeClr val="tx2"/>
                </a:solidFill>
              </a:rPr>
              <a:t>AnyLoc (DINOv2 features + VLAD) compares every photo with the photos taken at other times (on another drive, or much later on the same drive) and proposes pairs that look like the same place. SuperGlue then matches keypoints between the two photos of each pair, and the pair is kept only if the matches fit one camera motion (RANSAC) for 8 or more pairs in a row (a look-alike wall usually matches for only 1–3 photos in a row). Each kept pair becomes a shortcut link.</a:t>
            </a:r>
            <a:endParaRPr lang="en-US" sz="1300" dirty="0"/>
          </a:p>
        </p:txBody>
      </p:sp>
      <p:sp>
        <p:nvSpPr>
          <p:cNvPr id="12" name="before step 3 circle"/>
          <p:cNvSpPr/>
          <p:nvPr/>
        </p:nvSpPr>
        <p:spPr>
          <a:xfrm>
            <a:off x="548640" y="3788664"/>
            <a:ext cx="292608" cy="292608"/>
          </a:xfrm>
          <a:prstGeom prst="ellipse">
            <a:avLst/>
          </a:prstGeom>
          <a:solidFill>
            <a:schemeClr val="accent1"/>
          </a:solidFill>
          <a:ln w="12700">
            <a:solidFill>
              <a:schemeClr val="accent1"/>
            </a:solidFill>
            <a:prstDash val="solid"/>
          </a:ln>
        </p:spPr>
      </p:sp>
      <p:sp>
        <p:nvSpPr>
          <p:cNvPr id="13" name="before step 3 number"/>
          <p:cNvSpPr txBox="1"/>
          <p:nvPr/>
        </p:nvSpPr>
        <p:spPr>
          <a:xfrm>
            <a:off x="548640" y="3788664"/>
            <a:ext cx="292608" cy="292608"/>
          </a:xfrm>
          <a:prstGeom prst="rect">
            <a:avLst/>
          </a:prstGeom>
          <a:no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14" name="before step 3 text"/>
          <p:cNvSpPr txBox="1"/>
          <p:nvPr/>
        </p:nvSpPr>
        <p:spPr>
          <a:xfrm>
            <a:off x="978408" y="3770376"/>
            <a:ext cx="6702552" cy="649224"/>
          </a:xfrm>
          <a:prstGeom prst="rect">
            <a:avLst/>
          </a:prstGeom>
          <a:noFill/>
          <a:ln/>
        </p:spPr>
        <p:txBody>
          <a:bodyPr wrap="square" lIns="0" tIns="0" rIns="0" bIns="0" rtlCol="0" anchor="t"/>
          <a:lstStyle/>
          <a:p>
            <a:pPr marL="0" indent="0">
              <a:buNone/>
            </a:pPr>
            <a:r>
              <a:rPr lang="en-US" sz="1300" b="1" dirty="0">
                <a:solidFill>
                  <a:schemeClr val="tx1"/>
                </a:solidFill>
              </a:rPr>
              <a:t>Distances. </a:t>
            </a:r>
            <a:r>
              <a:rPr lang="en-US" sz="1300" dirty="0">
                <a:solidFill>
                  <a:schemeClr val="tx2"/>
                </a:solidFill>
              </a:rPr>
              <a:t>Lines on the walls give a compass direction, SuperGlue gives the turn between neighbouring photos, and the links close the loops. This places every photo in metres, so each link gets a cost in steps.</a:t>
            </a:r>
            <a:endParaRPr lang="en-US" sz="1300" dirty="0"/>
          </a:p>
        </p:txBody>
      </p:sp>
      <p:sp>
        <p:nvSpPr>
          <p:cNvPr id="15" name="phase 2 label pill"/>
          <p:cNvSpPr/>
          <p:nvPr/>
        </p:nvSpPr>
        <p:spPr>
          <a:xfrm>
            <a:off x="548640" y="4593336"/>
            <a:ext cx="7132320" cy="347472"/>
          </a:xfrm>
          <a:prstGeom prst="roundRect">
            <a:avLst>
              <a:gd name="adj" fmla="val 50000"/>
            </a:avLst>
          </a:prstGeom>
          <a:solidFill>
            <a:schemeClr val="accent5"/>
          </a:solidFill>
          <a:ln w="12700">
            <a:solidFill>
              <a:schemeClr val="accent5"/>
            </a:solidFill>
            <a:prstDash val="solid"/>
          </a:ln>
        </p:spPr>
      </p:sp>
      <p:sp>
        <p:nvSpPr>
          <p:cNvPr id="16" name="phase 2 label"/>
          <p:cNvSpPr txBox="1"/>
          <p:nvPr/>
        </p:nvSpPr>
        <p:spPr>
          <a:xfrm>
            <a:off x="731520" y="4593336"/>
            <a:ext cx="6766560" cy="347472"/>
          </a:xfrm>
          <a:prstGeom prst="rect">
            <a:avLst/>
          </a:prstGeom>
          <a:noFill/>
          <a:ln/>
        </p:spPr>
        <p:txBody>
          <a:bodyPr wrap="square" lIns="0" tIns="0" rIns="0" bIns="0" rtlCol="0" anchor="ctr"/>
          <a:lstStyle/>
          <a:p>
            <a:pPr marL="0" indent="0">
              <a:buNone/>
            </a:pPr>
            <a:r>
              <a:rPr lang="en-US" sz="1300" b="1" dirty="0">
                <a:solidFill>
                  <a:schemeClr val="accent1"/>
                </a:solidFill>
              </a:rPr>
              <a:t>When it starts: the four goal photos arrive with the session (still no steps)</a:t>
            </a:r>
            <a:endParaRPr lang="en-US" sz="1300" dirty="0"/>
          </a:p>
        </p:txBody>
      </p:sp>
      <p:sp>
        <p:nvSpPr>
          <p:cNvPr id="17" name="start step 1 circle"/>
          <p:cNvSpPr/>
          <p:nvPr/>
        </p:nvSpPr>
        <p:spPr>
          <a:xfrm>
            <a:off x="548640" y="5050536"/>
            <a:ext cx="292608" cy="292608"/>
          </a:xfrm>
          <a:prstGeom prst="ellipse">
            <a:avLst/>
          </a:prstGeom>
          <a:solidFill>
            <a:schemeClr val="accent1"/>
          </a:solidFill>
          <a:ln w="12700">
            <a:solidFill>
              <a:schemeClr val="accent1"/>
            </a:solidFill>
            <a:prstDash val="solid"/>
          </a:ln>
        </p:spPr>
      </p:sp>
      <p:sp>
        <p:nvSpPr>
          <p:cNvPr id="18" name="start step 1 number"/>
          <p:cNvSpPr txBox="1"/>
          <p:nvPr/>
        </p:nvSpPr>
        <p:spPr>
          <a:xfrm>
            <a:off x="548640" y="5050536"/>
            <a:ext cx="292608" cy="292608"/>
          </a:xfrm>
          <a:prstGeom prst="rect">
            <a:avLst/>
          </a:prstGeom>
          <a:noFill/>
          <a:ln/>
        </p:spPr>
        <p:txBody>
          <a:bodyPr wrap="square" lIns="0" tIns="0" rIns="0" bIns="0" rtlCol="0" anchor="ctr"/>
          <a:lstStyle/>
          <a:p>
            <a:pPr marL="0" indent="0" algn="ctr">
              <a:buNone/>
            </a:pPr>
            <a:r>
              <a:rPr lang="en-US" sz="1300" b="1" dirty="0">
                <a:solidFill>
                  <a:schemeClr val="bg1"/>
                </a:solidFill>
              </a:rPr>
              <a:t>4</a:t>
            </a:r>
            <a:endParaRPr lang="en-US" sz="1300" dirty="0"/>
          </a:p>
        </p:txBody>
      </p:sp>
      <p:sp>
        <p:nvSpPr>
          <p:cNvPr id="19" name="start step 1 text"/>
          <p:cNvSpPr txBox="1"/>
          <p:nvPr/>
        </p:nvSpPr>
        <p:spPr>
          <a:xfrm>
            <a:off x="978408" y="5032248"/>
            <a:ext cx="6702552" cy="649224"/>
          </a:xfrm>
          <a:prstGeom prst="rect">
            <a:avLst/>
          </a:prstGeom>
          <a:noFill/>
          <a:ln/>
        </p:spPr>
        <p:txBody>
          <a:bodyPr wrap="square" lIns="0" tIns="0" rIns="0" bIns="0" rtlCol="0" anchor="t"/>
          <a:lstStyle/>
          <a:p>
            <a:pPr marL="0" indent="0">
              <a:buNone/>
            </a:pPr>
            <a:r>
              <a:rPr lang="en-US" sz="1300" b="1" dirty="0">
                <a:solidFill>
                  <a:schemeClr val="tx1"/>
                </a:solidFill>
              </a:rPr>
              <a:t>The goal. </a:t>
            </a:r>
            <a:r>
              <a:rPr lang="en-US" sz="1300" dirty="0">
                <a:solidFill>
                  <a:schemeClr val="tx2"/>
                </a:solidFill>
              </a:rPr>
              <a:t>Each of the 4 goal photos is compared with the 64 exploration photos AnyLoc finds most similar. The exploration photo with the most SuperGlue matches becomes the goal node. Checking 64 candidates instead of 6 picked the right goal in 12 of our 13 test mazes, up from 9.</a:t>
            </a:r>
            <a:endParaRPr lang="en-US" sz="1300" dirty="0"/>
          </a:p>
        </p:txBody>
      </p:sp>
      <p:sp>
        <p:nvSpPr>
          <p:cNvPr id="20" name="start step 2 circle"/>
          <p:cNvSpPr/>
          <p:nvPr/>
        </p:nvSpPr>
        <p:spPr>
          <a:xfrm>
            <a:off x="548640" y="5809488"/>
            <a:ext cx="292608" cy="292608"/>
          </a:xfrm>
          <a:prstGeom prst="ellipse">
            <a:avLst/>
          </a:prstGeom>
          <a:solidFill>
            <a:schemeClr val="accent1"/>
          </a:solidFill>
          <a:ln w="12700">
            <a:solidFill>
              <a:schemeClr val="accent1"/>
            </a:solidFill>
            <a:prstDash val="solid"/>
          </a:ln>
        </p:spPr>
      </p:sp>
      <p:sp>
        <p:nvSpPr>
          <p:cNvPr id="21" name="start step 2 number"/>
          <p:cNvSpPr txBox="1"/>
          <p:nvPr/>
        </p:nvSpPr>
        <p:spPr>
          <a:xfrm>
            <a:off x="548640" y="5809488"/>
            <a:ext cx="292608" cy="292608"/>
          </a:xfrm>
          <a:prstGeom prst="rect">
            <a:avLst/>
          </a:prstGeom>
          <a:noFill/>
          <a:ln/>
        </p:spPr>
        <p:txBody>
          <a:bodyPr wrap="square" lIns="0" tIns="0" rIns="0" bIns="0" rtlCol="0" anchor="ctr"/>
          <a:lstStyle/>
          <a:p>
            <a:pPr marL="0" indent="0" algn="ctr">
              <a:buNone/>
            </a:pPr>
            <a:r>
              <a:rPr lang="en-US" sz="1300" b="1" dirty="0">
                <a:solidFill>
                  <a:schemeClr val="bg1"/>
                </a:solidFill>
              </a:rPr>
              <a:t>5</a:t>
            </a:r>
            <a:endParaRPr lang="en-US" sz="1300" dirty="0"/>
          </a:p>
        </p:txBody>
      </p:sp>
      <p:sp>
        <p:nvSpPr>
          <p:cNvPr id="22" name="start step 2 text"/>
          <p:cNvSpPr txBox="1"/>
          <p:nvPr/>
        </p:nvSpPr>
        <p:spPr>
          <a:xfrm>
            <a:off x="978408" y="5791200"/>
            <a:ext cx="6702552" cy="252984"/>
          </a:xfrm>
          <a:prstGeom prst="rect">
            <a:avLst/>
          </a:prstGeom>
          <a:noFill/>
          <a:ln/>
        </p:spPr>
        <p:txBody>
          <a:bodyPr wrap="square" lIns="0" tIns="0" rIns="0" bIns="0" rtlCol="0" anchor="t"/>
          <a:lstStyle/>
          <a:p>
            <a:pPr marL="0" indent="0">
              <a:buNone/>
            </a:pPr>
            <a:r>
              <a:rPr lang="en-US" sz="1300" b="1" dirty="0">
                <a:solidFill>
                  <a:schemeClr val="tx1"/>
                </a:solidFill>
              </a:rPr>
              <a:t>The route. </a:t>
            </a:r>
            <a:r>
              <a:rPr lang="en-US" sz="1300" dirty="0">
                <a:solidFill>
                  <a:schemeClr val="tx2"/>
                </a:solidFill>
              </a:rPr>
              <a:t>Dijkstra finds the cheapest route, in steps, from every photo to the goal node.</a:t>
            </a:r>
            <a:endParaRPr lang="en-US" sz="1300" dirty="0"/>
          </a:p>
        </p:txBody>
      </p:sp>
      <p:pic>
        <p:nvPicPr>
          <p:cNvPr id="23" name="photo map figure" descr="Local test maze 25 with its walls, the three exploration drives at their true positions in blue, green and purple, and the shortcut links the robot found between photos of one place in orange"/>
          <p:cNvPicPr>
            <a:picLocks noChangeAspect="1"/>
          </p:cNvPicPr>
          <p:nvPr/>
        </p:nvPicPr>
        <p:blipFill>
          <a:blip r:embed="rId3"/>
          <a:stretch>
            <a:fillRect/>
          </a:stretch>
        </p:blipFill>
        <p:spPr>
          <a:xfrm>
            <a:off x="8229600" y="1371600"/>
            <a:ext cx="2514600" cy="2514600"/>
          </a:xfrm>
          <a:prstGeom prst="rect">
            <a:avLst/>
          </a:prstGeom>
        </p:spPr>
      </p:pic>
      <p:sp>
        <p:nvSpPr>
          <p:cNvPr id="24" name="photo map caption"/>
          <p:cNvSpPr txBox="1"/>
          <p:nvPr/>
        </p:nvSpPr>
        <p:spPr>
          <a:xfrm>
            <a:off x="8229600" y="3941064"/>
            <a:ext cx="3429000" cy="566928"/>
          </a:xfrm>
          <a:prstGeom prst="rect">
            <a:avLst/>
          </a:prstGeom>
          <a:noFill/>
          <a:ln/>
        </p:spPr>
        <p:txBody>
          <a:bodyPr wrap="square" lIns="0" tIns="0" rIns="0" bIns="0" rtlCol="0" anchor="t"/>
          <a:lstStyle/>
          <a:p>
            <a:pPr marL="0" indent="0">
              <a:buNone/>
            </a:pPr>
            <a:r>
              <a:rPr lang="en-US" sz="1000" b="1" dirty="0">
                <a:solidFill>
                  <a:schemeClr val="tx1"/>
                </a:solidFill>
              </a:rPr>
              <a:t>Steps 1–2 on local test maze 25. </a:t>
            </a:r>
            <a:r>
              <a:rPr lang="en-US" sz="1000" dirty="0">
                <a:solidFill>
                  <a:schemeClr val="tx2"/>
                </a:solidFill>
              </a:rPr>
              <a:t>The three drives (blue, green, purple) and the 480 shortcut links the robot found (orange): 466 of them (97%) join photos in the same corridor.</a:t>
            </a:r>
            <a:endParaRPr lang="en-US" sz="1000" dirty="0"/>
          </a:p>
        </p:txBody>
      </p:sp>
      <p:pic>
        <p:nvPicPr>
          <p:cNvPr id="25" name="goal example 1" descr="Local maze 25: the goal photo it is given"/>
          <p:cNvPicPr>
            <a:picLocks noChangeAspect="1"/>
          </p:cNvPicPr>
          <p:nvPr/>
        </p:nvPicPr>
        <p:blipFill>
          <a:blip r:embed="rId4"/>
          <a:stretch>
            <a:fillRect/>
          </a:stretch>
        </p:blipFill>
        <p:spPr>
          <a:xfrm>
            <a:off x="8229600" y="4572000"/>
            <a:ext cx="1677924" cy="1258443"/>
          </a:xfrm>
          <a:prstGeom prst="rect">
            <a:avLst/>
          </a:prstGeom>
        </p:spPr>
      </p:pic>
      <p:pic>
        <p:nvPicPr>
          <p:cNvPr id="26" name="goal example 2" descr="Local maze 25: the exploration photo it picks as the goal"/>
          <p:cNvPicPr>
            <a:picLocks noChangeAspect="1"/>
          </p:cNvPicPr>
          <p:nvPr/>
        </p:nvPicPr>
        <p:blipFill>
          <a:blip r:embed="rId5"/>
          <a:stretch>
            <a:fillRect/>
          </a:stretch>
        </p:blipFill>
        <p:spPr>
          <a:xfrm>
            <a:off x="9980676" y="4572000"/>
            <a:ext cx="1677924" cy="1258443"/>
          </a:xfrm>
          <a:prstGeom prst="rect">
            <a:avLst/>
          </a:prstGeom>
        </p:spPr>
      </p:pic>
      <p:sp>
        <p:nvSpPr>
          <p:cNvPr id="27" name="goal example caption"/>
          <p:cNvSpPr txBox="1"/>
          <p:nvPr/>
        </p:nvSpPr>
        <p:spPr>
          <a:xfrm>
            <a:off x="8229600" y="5885307"/>
            <a:ext cx="3429000" cy="411480"/>
          </a:xfrm>
          <a:prstGeom prst="rect">
            <a:avLst/>
          </a:prstGeom>
          <a:noFill/>
          <a:ln/>
        </p:spPr>
        <p:txBody>
          <a:bodyPr wrap="square" lIns="0" tIns="0" rIns="0" bIns="0" rtlCol="0" anchor="t"/>
          <a:lstStyle/>
          <a:p>
            <a:pPr marL="0" indent="0">
              <a:buNone/>
            </a:pPr>
            <a:r>
              <a:rPr lang="en-US" sz="1000" b="1" dirty="0">
                <a:solidFill>
                  <a:schemeClr val="tx1"/>
                </a:solidFill>
              </a:rPr>
              <a:t>Step 4. </a:t>
            </a:r>
            <a:r>
              <a:rPr lang="en-US" sz="1000" dirty="0">
                <a:solidFill>
                  <a:schemeClr val="tx2"/>
                </a:solidFill>
              </a:rPr>
              <a:t>The goal photo it is given (left) and the exploration photo it picks as the goal node (right).</a:t>
            </a:r>
            <a:endParaRPr lang="en-US" sz="1000" dirty="0"/>
          </a:p>
        </p:txBody>
      </p:sp>
      <p:sp>
        <p:nvSpPr>
          <p:cNvPr id="28"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74320"/>
            <a:ext cx="11064240" cy="274320"/>
          </a:xfrm>
          <a:prstGeom prst="rect">
            <a:avLst/>
          </a:prstGeom>
          <a:noFill/>
          <a:ln/>
        </p:spPr>
        <p:txBody>
          <a:bodyPr wrap="square" lIns="0" tIns="0" rIns="0" bIns="0" rtlCol="0" anchor="ctr"/>
          <a:lstStyle/>
          <a:p>
            <a:pPr marL="0" indent="0">
              <a:buNone/>
            </a:pPr>
            <a:r>
              <a:rPr lang="en-US" sz="1100" b="1" kern="0" spc="200" dirty="0">
                <a:solidFill>
                  <a:schemeClr val="accent2"/>
                </a:solidFill>
              </a:rPr>
              <a:t>METHOD  ·  2 OF 2</a:t>
            </a:r>
            <a:endParaRPr lang="en-US" sz="1100" dirty="0"/>
          </a:p>
        </p:txBody>
      </p:sp>
      <p:sp>
        <p:nvSpPr>
          <p:cNvPr id="3" name="Text 0"/>
          <p:cNvSpPr>
            <a:spLocks noGrp="1"/>
          </p:cNvSpPr>
          <p:nvPr>
            <p:ph type="title" idx="100" hasCustomPrompt="1"/>
          </p:nvPr>
        </p:nvSpPr>
        <p:spPr>
          <a:xfrm>
            <a:off x="548640" y="548640"/>
            <a:ext cx="11064240" cy="658368"/>
          </a:xfrm>
          <a:prstGeom prst="rect">
            <a:avLst/>
          </a:prstGeom>
          <a:noFill/>
          <a:ln/>
        </p:spPr>
        <p:txBody>
          <a:bodyPr wrap="square" lIns="0" tIns="0" rIns="0" bIns="0" rtlCol="0" anchor="ctr"/>
          <a:lstStyle/>
          <a:p>
            <a:pPr marL="0" indent="0" algn="l">
              <a:buNone/>
            </a:pPr>
            <a:r>
              <a:rPr lang="en-US" sz="3000" b="1" dirty="0">
                <a:solidFill>
                  <a:schemeClr val="tx1"/>
                </a:solidFill>
              </a:rPr>
              <a:t>Method (2/2): during the drive</a:t>
            </a:r>
            <a:endParaRPr lang="en-US" sz="3000" dirty="0"/>
          </a:p>
        </p:txBody>
      </p:sp>
      <p:sp>
        <p:nvSpPr>
          <p:cNvPr id="4" name="phase 3 label pill"/>
          <p:cNvSpPr/>
          <p:nvPr/>
        </p:nvSpPr>
        <p:spPr>
          <a:xfrm>
            <a:off x="548640" y="1371600"/>
            <a:ext cx="7315200" cy="347472"/>
          </a:xfrm>
          <a:prstGeom prst="roundRect">
            <a:avLst>
              <a:gd name="adj" fmla="val 50000"/>
            </a:avLst>
          </a:prstGeom>
          <a:solidFill>
            <a:schemeClr val="accent6"/>
          </a:solidFill>
          <a:ln w="12700">
            <a:solidFill>
              <a:schemeClr val="accent6"/>
            </a:solidFill>
            <a:prstDash val="solid"/>
          </a:ln>
        </p:spPr>
      </p:sp>
      <p:sp>
        <p:nvSpPr>
          <p:cNvPr id="5" name="phase 3 label"/>
          <p:cNvSpPr txBox="1"/>
          <p:nvPr/>
        </p:nvSpPr>
        <p:spPr>
          <a:xfrm>
            <a:off x="731520" y="1371600"/>
            <a:ext cx="6949440" cy="347472"/>
          </a:xfrm>
          <a:prstGeom prst="rect">
            <a:avLst/>
          </a:prstGeom>
          <a:noFill/>
          <a:ln/>
        </p:spPr>
        <p:txBody>
          <a:bodyPr wrap="square" lIns="0" tIns="0" rIns="0" bIns="0" rtlCol="0" anchor="ctr"/>
          <a:lstStyle/>
          <a:p>
            <a:pPr marL="0" indent="0">
              <a:buNone/>
            </a:pPr>
            <a:r>
              <a:rPr lang="en-US" sz="1300" b="1" dirty="0">
                <a:solidFill>
                  <a:schemeClr val="accent2"/>
                </a:solidFill>
              </a:rPr>
              <a:t>During the drive: these steps repeat for every move until it checks in</a:t>
            </a:r>
            <a:endParaRPr lang="en-US" sz="1300" dirty="0"/>
          </a:p>
        </p:txBody>
      </p:sp>
      <p:sp>
        <p:nvSpPr>
          <p:cNvPr id="6" name="drive step 1 circle"/>
          <p:cNvSpPr/>
          <p:nvPr/>
        </p:nvSpPr>
        <p:spPr>
          <a:xfrm>
            <a:off x="548640" y="1874520"/>
            <a:ext cx="292608" cy="292608"/>
          </a:xfrm>
          <a:prstGeom prst="ellipse">
            <a:avLst/>
          </a:prstGeom>
          <a:solidFill>
            <a:schemeClr val="accent2"/>
          </a:solidFill>
          <a:ln w="12700">
            <a:solidFill>
              <a:schemeClr val="accent2"/>
            </a:solidFill>
            <a:prstDash val="solid"/>
          </a:ln>
        </p:spPr>
      </p:sp>
      <p:sp>
        <p:nvSpPr>
          <p:cNvPr id="7" name="drive step 1 number"/>
          <p:cNvSpPr txBox="1"/>
          <p:nvPr/>
        </p:nvSpPr>
        <p:spPr>
          <a:xfrm>
            <a:off x="548640" y="1874520"/>
            <a:ext cx="292608" cy="292608"/>
          </a:xfrm>
          <a:prstGeom prst="rect">
            <a:avLst/>
          </a:prstGeom>
          <a:no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8" name="drive step 1 text"/>
          <p:cNvSpPr txBox="1"/>
          <p:nvPr/>
        </p:nvSpPr>
        <p:spPr>
          <a:xfrm>
            <a:off x="978408" y="1856232"/>
            <a:ext cx="6885432" cy="649224"/>
          </a:xfrm>
          <a:prstGeom prst="rect">
            <a:avLst/>
          </a:prstGeom>
          <a:noFill/>
          <a:ln/>
        </p:spPr>
        <p:txBody>
          <a:bodyPr wrap="square" lIns="0" tIns="0" rIns="0" bIns="0" rtlCol="0" anchor="t"/>
          <a:lstStyle/>
          <a:p>
            <a:pPr marL="0" indent="0">
              <a:buNone/>
            </a:pPr>
            <a:r>
              <a:rPr lang="en-US" sz="1300" b="1" dirty="0">
                <a:solidFill>
                  <a:schemeClr val="tx1"/>
                </a:solidFill>
              </a:rPr>
              <a:t>Where am I? </a:t>
            </a:r>
            <a:r>
              <a:rPr lang="en-US" sz="1300" dirty="0">
                <a:solidFill>
                  <a:schemeClr val="tx2"/>
                </a:solidFill>
              </a:rPr>
              <a:t>It compares the camera image with the exploration photos near its last position (AnyLoc). A jump to a far part of the map is believed only if 3 images in a row agree and SuperGlue confirms the match.</a:t>
            </a:r>
            <a:endParaRPr lang="en-US" sz="1300" dirty="0"/>
          </a:p>
        </p:txBody>
      </p:sp>
      <p:sp>
        <p:nvSpPr>
          <p:cNvPr id="9" name="drive step 2 circle"/>
          <p:cNvSpPr/>
          <p:nvPr/>
        </p:nvSpPr>
        <p:spPr>
          <a:xfrm>
            <a:off x="548640" y="2642616"/>
            <a:ext cx="292608" cy="292608"/>
          </a:xfrm>
          <a:prstGeom prst="ellipse">
            <a:avLst/>
          </a:prstGeom>
          <a:solidFill>
            <a:schemeClr val="accent2"/>
          </a:solidFill>
          <a:ln w="12700">
            <a:solidFill>
              <a:schemeClr val="accent2"/>
            </a:solidFill>
            <a:prstDash val="solid"/>
          </a:ln>
        </p:spPr>
      </p:sp>
      <p:sp>
        <p:nvSpPr>
          <p:cNvPr id="10" name="drive step 2 number"/>
          <p:cNvSpPr txBox="1"/>
          <p:nvPr/>
        </p:nvSpPr>
        <p:spPr>
          <a:xfrm>
            <a:off x="548640" y="2642616"/>
            <a:ext cx="292608" cy="292608"/>
          </a:xfrm>
          <a:prstGeom prst="rect">
            <a:avLst/>
          </a:prstGeom>
          <a:no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11" name="drive step 2 text"/>
          <p:cNvSpPr txBox="1"/>
          <p:nvPr/>
        </p:nvSpPr>
        <p:spPr>
          <a:xfrm>
            <a:off x="978408" y="2624328"/>
            <a:ext cx="6885432" cy="252984"/>
          </a:xfrm>
          <a:prstGeom prst="rect">
            <a:avLst/>
          </a:prstGeom>
          <a:noFill/>
          <a:ln/>
        </p:spPr>
        <p:txBody>
          <a:bodyPr wrap="square" lIns="0" tIns="0" rIns="0" bIns="0" rtlCol="0" anchor="t"/>
          <a:lstStyle/>
          <a:p>
            <a:pPr marL="0" indent="0">
              <a:buNone/>
            </a:pPr>
            <a:r>
              <a:rPr lang="en-US" sz="1300" b="1" dirty="0">
                <a:solidFill>
                  <a:schemeClr val="tx1"/>
                </a:solidFill>
              </a:rPr>
              <a:t>Where next? </a:t>
            </a:r>
            <a:r>
              <a:rPr lang="en-US" sz="1300" dirty="0">
                <a:solidFill>
                  <a:schemeClr val="tx2"/>
                </a:solidFill>
              </a:rPr>
              <a:t>It looks up the route from that photo and picks a waypoint photo a few steps ahead.</a:t>
            </a:r>
            <a:endParaRPr lang="en-US" sz="1300" dirty="0"/>
          </a:p>
        </p:txBody>
      </p:sp>
      <p:sp>
        <p:nvSpPr>
          <p:cNvPr id="12" name="drive step 3 circle"/>
          <p:cNvSpPr/>
          <p:nvPr/>
        </p:nvSpPr>
        <p:spPr>
          <a:xfrm>
            <a:off x="548640" y="3014472"/>
            <a:ext cx="292608" cy="292608"/>
          </a:xfrm>
          <a:prstGeom prst="ellipse">
            <a:avLst/>
          </a:prstGeom>
          <a:solidFill>
            <a:schemeClr val="accent2"/>
          </a:solidFill>
          <a:ln w="12700">
            <a:solidFill>
              <a:schemeClr val="accent2"/>
            </a:solidFill>
            <a:prstDash val="solid"/>
          </a:ln>
        </p:spPr>
      </p:sp>
      <p:sp>
        <p:nvSpPr>
          <p:cNvPr id="13" name="drive step 3 number"/>
          <p:cNvSpPr txBox="1"/>
          <p:nvPr/>
        </p:nvSpPr>
        <p:spPr>
          <a:xfrm>
            <a:off x="548640" y="3014472"/>
            <a:ext cx="292608" cy="292608"/>
          </a:xfrm>
          <a:prstGeom prst="rect">
            <a:avLst/>
          </a:prstGeom>
          <a:no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14" name="drive step 3 text"/>
          <p:cNvSpPr txBox="1"/>
          <p:nvPr/>
        </p:nvSpPr>
        <p:spPr>
          <a:xfrm>
            <a:off x="978408" y="2996184"/>
            <a:ext cx="6885432" cy="847344"/>
          </a:xfrm>
          <a:prstGeom prst="rect">
            <a:avLst/>
          </a:prstGeom>
          <a:noFill/>
          <a:ln/>
        </p:spPr>
        <p:txBody>
          <a:bodyPr wrap="square" lIns="0" tIns="0" rIns="0" bIns="0" rtlCol="0" anchor="t"/>
          <a:lstStyle/>
          <a:p>
            <a:pPr marL="0" indent="0">
              <a:buNone/>
            </a:pPr>
            <a:r>
              <a:rPr lang="en-US" sz="1300" b="1" dirty="0">
                <a:solidFill>
                  <a:schemeClr val="tx1"/>
                </a:solidFill>
              </a:rPr>
              <a:t>Turn and drive. </a:t>
            </a:r>
            <a:r>
              <a:rPr lang="en-US" sz="1300" dirty="0">
                <a:solidFill>
                  <a:schemeClr val="tx2"/>
                </a:solidFill>
              </a:rPr>
              <a:t>SuperGlue matches the camera image with the waypoint photo, and the essential matrix between them gives the angle to turn. It turns by that angle, then drives forward. If the waypoint is not in view it turns on the spot to find it; if nothing matches, the L network picks the move.</a:t>
            </a:r>
            <a:endParaRPr lang="en-US" sz="1300" dirty="0"/>
          </a:p>
        </p:txBody>
      </p:sp>
      <p:sp>
        <p:nvSpPr>
          <p:cNvPr id="15" name="drive step 4 circle"/>
          <p:cNvSpPr/>
          <p:nvPr/>
        </p:nvSpPr>
        <p:spPr>
          <a:xfrm>
            <a:off x="548640" y="3980688"/>
            <a:ext cx="292608" cy="292608"/>
          </a:xfrm>
          <a:prstGeom prst="ellipse">
            <a:avLst/>
          </a:prstGeom>
          <a:solidFill>
            <a:schemeClr val="accent2"/>
          </a:solidFill>
          <a:ln w="12700">
            <a:solidFill>
              <a:schemeClr val="accent2"/>
            </a:solidFill>
            <a:prstDash val="solid"/>
          </a:ln>
        </p:spPr>
      </p:sp>
      <p:sp>
        <p:nvSpPr>
          <p:cNvPr id="16" name="drive step 4 number"/>
          <p:cNvSpPr txBox="1"/>
          <p:nvPr/>
        </p:nvSpPr>
        <p:spPr>
          <a:xfrm>
            <a:off x="548640" y="3980688"/>
            <a:ext cx="292608" cy="292608"/>
          </a:xfrm>
          <a:prstGeom prst="rect">
            <a:avLst/>
          </a:prstGeom>
          <a:noFill/>
          <a:ln/>
        </p:spPr>
        <p:txBody>
          <a:bodyPr wrap="square" lIns="0" tIns="0" rIns="0" bIns="0" rtlCol="0" anchor="ctr"/>
          <a:lstStyle/>
          <a:p>
            <a:pPr marL="0" indent="0" algn="ctr">
              <a:buNone/>
            </a:pPr>
            <a:r>
              <a:rPr lang="en-US" sz="1300" b="1" dirty="0">
                <a:solidFill>
                  <a:schemeClr val="bg1"/>
                </a:solidFill>
              </a:rPr>
              <a:t>4</a:t>
            </a:r>
            <a:endParaRPr lang="en-US" sz="1300" dirty="0"/>
          </a:p>
        </p:txBody>
      </p:sp>
      <p:sp>
        <p:nvSpPr>
          <p:cNvPr id="17" name="drive step 4 text"/>
          <p:cNvSpPr txBox="1"/>
          <p:nvPr/>
        </p:nvSpPr>
        <p:spPr>
          <a:xfrm>
            <a:off x="978408" y="3962400"/>
            <a:ext cx="6885432" cy="451104"/>
          </a:xfrm>
          <a:prstGeom prst="rect">
            <a:avLst/>
          </a:prstGeom>
          <a:noFill/>
          <a:ln/>
        </p:spPr>
        <p:txBody>
          <a:bodyPr wrap="square" lIns="0" tIns="0" rIns="0" bIns="0" rtlCol="0" anchor="t"/>
          <a:lstStyle/>
          <a:p>
            <a:pPr marL="0" indent="0">
              <a:buNone/>
            </a:pPr>
            <a:r>
              <a:rPr lang="en-US" sz="1300" b="1" dirty="0">
                <a:solidFill>
                  <a:schemeClr val="tx1"/>
                </a:solidFill>
              </a:rPr>
              <a:t>Backing out. </a:t>
            </a:r>
            <a:r>
              <a:rPr lang="en-US" sz="1300" dirty="0">
                <a:solidFill>
                  <a:schemeClr val="tx2"/>
                </a:solidFill>
              </a:rPr>
              <a:t>When the route runs back along a drive, for example out of a dead end, it undoes the recorded moves in reverse: a recorded left turn is undone by turning right.</a:t>
            </a:r>
            <a:endParaRPr lang="en-US" sz="1300" dirty="0"/>
          </a:p>
        </p:txBody>
      </p:sp>
      <p:sp>
        <p:nvSpPr>
          <p:cNvPr id="18" name="drive step 5 circle"/>
          <p:cNvSpPr/>
          <p:nvPr/>
        </p:nvSpPr>
        <p:spPr>
          <a:xfrm>
            <a:off x="548640" y="4550664"/>
            <a:ext cx="292608" cy="292608"/>
          </a:xfrm>
          <a:prstGeom prst="ellipse">
            <a:avLst/>
          </a:prstGeom>
          <a:solidFill>
            <a:schemeClr val="accent2"/>
          </a:solidFill>
          <a:ln w="12700">
            <a:solidFill>
              <a:schemeClr val="accent2"/>
            </a:solidFill>
            <a:prstDash val="solid"/>
          </a:ln>
        </p:spPr>
      </p:sp>
      <p:sp>
        <p:nvSpPr>
          <p:cNvPr id="19" name="drive step 5 number"/>
          <p:cNvSpPr txBox="1"/>
          <p:nvPr/>
        </p:nvSpPr>
        <p:spPr>
          <a:xfrm>
            <a:off x="548640" y="4550664"/>
            <a:ext cx="292608" cy="292608"/>
          </a:xfrm>
          <a:prstGeom prst="rect">
            <a:avLst/>
          </a:prstGeom>
          <a:noFill/>
          <a:ln/>
        </p:spPr>
        <p:txBody>
          <a:bodyPr wrap="square" lIns="0" tIns="0" rIns="0" bIns="0" rtlCol="0" anchor="ctr"/>
          <a:lstStyle/>
          <a:p>
            <a:pPr marL="0" indent="0" algn="ctr">
              <a:buNone/>
            </a:pPr>
            <a:r>
              <a:rPr lang="en-US" sz="1300" b="1" dirty="0">
                <a:solidFill>
                  <a:schemeClr val="bg1"/>
                </a:solidFill>
              </a:rPr>
              <a:t>5</a:t>
            </a:r>
            <a:endParaRPr lang="en-US" sz="1300" dirty="0"/>
          </a:p>
        </p:txBody>
      </p:sp>
      <p:sp>
        <p:nvSpPr>
          <p:cNvPr id="20" name="drive step 5 text"/>
          <p:cNvSpPr txBox="1"/>
          <p:nvPr/>
        </p:nvSpPr>
        <p:spPr>
          <a:xfrm>
            <a:off x="978408" y="4532376"/>
            <a:ext cx="6885432" cy="649224"/>
          </a:xfrm>
          <a:prstGeom prst="rect">
            <a:avLst/>
          </a:prstGeom>
          <a:noFill/>
          <a:ln/>
        </p:spPr>
        <p:txBody>
          <a:bodyPr wrap="square" lIns="0" tIns="0" rIns="0" bIns="0" rtlCol="0" anchor="t"/>
          <a:lstStyle/>
          <a:p>
            <a:pPr marL="0" indent="0">
              <a:buNone/>
            </a:pPr>
            <a:r>
              <a:rPr lang="en-US" sz="1300" b="1" dirty="0">
                <a:solidFill>
                  <a:schemeClr val="tx1"/>
                </a:solidFill>
              </a:rPr>
              <a:t>When stuck. </a:t>
            </a:r>
            <a:r>
              <a:rPr lang="en-US" sz="1300" dirty="0">
                <a:solidFill>
                  <a:schemeClr val="tx2"/>
                </a:solidFill>
              </a:rPr>
              <a:t>If it believes it is at the same photo for 3 moves, it checks the next 5 route photos with SuperGlue. If it gets no closer for 150 steps, that stretch of the route is made more expensive and the route is planned again.</a:t>
            </a:r>
            <a:endParaRPr lang="en-US" sz="1300" dirty="0"/>
          </a:p>
        </p:txBody>
      </p:sp>
      <p:sp>
        <p:nvSpPr>
          <p:cNvPr id="21" name="drive step 6 circle"/>
          <p:cNvSpPr/>
          <p:nvPr/>
        </p:nvSpPr>
        <p:spPr>
          <a:xfrm>
            <a:off x="548640" y="5318760"/>
            <a:ext cx="292608" cy="292608"/>
          </a:xfrm>
          <a:prstGeom prst="ellipse">
            <a:avLst/>
          </a:prstGeom>
          <a:solidFill>
            <a:schemeClr val="accent2"/>
          </a:solidFill>
          <a:ln w="12700">
            <a:solidFill>
              <a:schemeClr val="accent2"/>
            </a:solidFill>
            <a:prstDash val="solid"/>
          </a:ln>
        </p:spPr>
      </p:sp>
      <p:sp>
        <p:nvSpPr>
          <p:cNvPr id="22" name="drive step 6 number"/>
          <p:cNvSpPr txBox="1"/>
          <p:nvPr/>
        </p:nvSpPr>
        <p:spPr>
          <a:xfrm>
            <a:off x="548640" y="5318760"/>
            <a:ext cx="292608" cy="292608"/>
          </a:xfrm>
          <a:prstGeom prst="rect">
            <a:avLst/>
          </a:prstGeom>
          <a:noFill/>
          <a:ln/>
        </p:spPr>
        <p:txBody>
          <a:bodyPr wrap="square" lIns="0" tIns="0" rIns="0" bIns="0" rtlCol="0" anchor="ctr"/>
          <a:lstStyle/>
          <a:p>
            <a:pPr marL="0" indent="0" algn="ctr">
              <a:buNone/>
            </a:pPr>
            <a:r>
              <a:rPr lang="en-US" sz="1300" b="1" dirty="0">
                <a:solidFill>
                  <a:schemeClr val="bg1"/>
                </a:solidFill>
              </a:rPr>
              <a:t>6</a:t>
            </a:r>
            <a:endParaRPr lang="en-US" sz="1300" dirty="0"/>
          </a:p>
        </p:txBody>
      </p:sp>
      <p:sp>
        <p:nvSpPr>
          <p:cNvPr id="23" name="drive step 6 text"/>
          <p:cNvSpPr txBox="1"/>
          <p:nvPr/>
        </p:nvSpPr>
        <p:spPr>
          <a:xfrm>
            <a:off x="978408" y="5300472"/>
            <a:ext cx="6885432" cy="847344"/>
          </a:xfrm>
          <a:prstGeom prst="rect">
            <a:avLst/>
          </a:prstGeom>
          <a:noFill/>
          <a:ln/>
        </p:spPr>
        <p:txBody>
          <a:bodyPr wrap="square" lIns="0" tIns="0" rIns="0" bIns="0" rtlCol="0" anchor="t"/>
          <a:lstStyle/>
          <a:p>
            <a:pPr marL="0" indent="0">
              <a:buNone/>
            </a:pPr>
            <a:r>
              <a:rPr lang="en-US" sz="1300" b="1" dirty="0">
                <a:solidFill>
                  <a:schemeClr val="tx1"/>
                </a:solidFill>
              </a:rPr>
              <a:t>The last metre. </a:t>
            </a:r>
            <a:r>
              <a:rPr lang="en-US" sz="1300" dirty="0">
                <a:solidFill>
                  <a:schemeClr val="tx2"/>
                </a:solidFill>
              </a:rPr>
              <a:t>Within 3 photos of the goal it matches the camera image with the 4 goal photos directly. It turns until the front photo lines up, moves until the scene looks the same size, and checks in only after 3 readings in a row with 35 or more matched points (in our tests, correct check-ins had 43–122 and wrong ones 21–25).</a:t>
            </a:r>
            <a:endParaRPr lang="en-US" sz="1300" dirty="0"/>
          </a:p>
        </p:txBody>
      </p:sp>
      <p:pic>
        <p:nvPicPr>
          <p:cNvPr id="24" name="turn example matches" descr="Two maze photos side by side with green lines joining 20 of the 73 keypoints SuperGlue matched between them"/>
          <p:cNvPicPr>
            <a:picLocks noChangeAspect="1"/>
          </p:cNvPicPr>
          <p:nvPr/>
        </p:nvPicPr>
        <p:blipFill>
          <a:blip r:embed="rId3"/>
          <a:stretch>
            <a:fillRect/>
          </a:stretch>
        </p:blipFill>
        <p:spPr>
          <a:xfrm>
            <a:off x="8092440" y="1417320"/>
            <a:ext cx="3566160" cy="924357"/>
          </a:xfrm>
          <a:prstGeom prst="rect">
            <a:avLst/>
          </a:prstGeom>
        </p:spPr>
      </p:pic>
      <p:sp>
        <p:nvSpPr>
          <p:cNvPr id="25" name="turn example caption"/>
          <p:cNvSpPr txBox="1"/>
          <p:nvPr/>
        </p:nvSpPr>
        <p:spPr>
          <a:xfrm>
            <a:off x="8092440" y="2414829"/>
            <a:ext cx="3566160" cy="731520"/>
          </a:xfrm>
          <a:prstGeom prst="rect">
            <a:avLst/>
          </a:prstGeom>
          <a:noFill/>
          <a:ln/>
        </p:spPr>
        <p:txBody>
          <a:bodyPr wrap="square" lIns="0" tIns="0" rIns="0" bIns="0" rtlCol="0" anchor="t"/>
          <a:lstStyle/>
          <a:p>
            <a:pPr marL="0" indent="0">
              <a:buNone/>
            </a:pPr>
            <a:r>
              <a:rPr lang="en-US" sz="1050" b="1" dirty="0">
                <a:solidFill>
                  <a:schemeClr val="tx1"/>
                </a:solidFill>
              </a:rPr>
              <a:t>Step 3, turn and drive. </a:t>
            </a:r>
            <a:r>
              <a:rPr lang="en-US" sz="1050" dirty="0">
                <a:solidFill>
                  <a:schemeClr val="tx2"/>
                </a:solidFill>
              </a:rPr>
              <a:t>SuperGlue matches between the camera image (left) and the waypoint photo (right). The essential matrix from these 73 matches gives the turn: 37°.</a:t>
            </a:r>
            <a:endParaRPr lang="en-US" sz="1050" dirty="0"/>
          </a:p>
        </p:txBody>
      </p:sp>
      <p:pic>
        <p:nvPicPr>
          <p:cNvPr id="26" name="last metre goal photo" descr="The goal photo the robot was given (front view)"/>
          <p:cNvPicPr>
            <a:picLocks noChangeAspect="1"/>
          </p:cNvPicPr>
          <p:nvPr/>
        </p:nvPicPr>
        <p:blipFill>
          <a:blip r:embed="rId4"/>
          <a:stretch>
            <a:fillRect/>
          </a:stretch>
        </p:blipFill>
        <p:spPr>
          <a:xfrm>
            <a:off x="8092440" y="3393237"/>
            <a:ext cx="1741932" cy="1306449"/>
          </a:xfrm>
          <a:prstGeom prst="rect">
            <a:avLst/>
          </a:prstGeom>
        </p:spPr>
      </p:pic>
      <p:pic>
        <p:nvPicPr>
          <p:cNvPr id="27" name="last metre camera" descr="The robot’s camera image when it checked in, 2 cm from the goal"/>
          <p:cNvPicPr>
            <a:picLocks noChangeAspect="1"/>
          </p:cNvPicPr>
          <p:nvPr/>
        </p:nvPicPr>
        <p:blipFill>
          <a:blip r:embed="rId5"/>
          <a:stretch>
            <a:fillRect/>
          </a:stretch>
        </p:blipFill>
        <p:spPr>
          <a:xfrm>
            <a:off x="9916668" y="3393237"/>
            <a:ext cx="1741932" cy="1306449"/>
          </a:xfrm>
          <a:prstGeom prst="rect">
            <a:avLst/>
          </a:prstGeom>
        </p:spPr>
      </p:pic>
      <p:sp>
        <p:nvSpPr>
          <p:cNvPr id="28" name="last metre caption"/>
          <p:cNvSpPr txBox="1"/>
          <p:nvPr/>
        </p:nvSpPr>
        <p:spPr>
          <a:xfrm>
            <a:off x="8092440" y="4772838"/>
            <a:ext cx="3566160" cy="640080"/>
          </a:xfrm>
          <a:prstGeom prst="rect">
            <a:avLst/>
          </a:prstGeom>
          <a:noFill/>
          <a:ln/>
        </p:spPr>
        <p:txBody>
          <a:bodyPr wrap="square" lIns="0" tIns="0" rIns="0" bIns="0" rtlCol="0" anchor="t"/>
          <a:lstStyle/>
          <a:p>
            <a:pPr marL="0" indent="0">
              <a:buNone/>
            </a:pPr>
            <a:r>
              <a:rPr lang="en-US" sz="1050" b="1" dirty="0">
                <a:solidFill>
                  <a:schemeClr val="tx1"/>
                </a:solidFill>
              </a:rPr>
              <a:t>Step 6, the last metre. </a:t>
            </a:r>
            <a:r>
              <a:rPr lang="en-US" sz="1050" dirty="0">
                <a:solidFill>
                  <a:schemeClr val="tx2"/>
                </a:solidFill>
              </a:rPr>
              <a:t>The goal photo it was given (left) and its camera when it checked in, 2 cm from the goal (right).</a:t>
            </a:r>
            <a:endParaRPr lang="en-US" sz="1050" dirty="0"/>
          </a:p>
        </p:txBody>
      </p:sp>
      <p:sp>
        <p:nvSpPr>
          <p:cNvPr id="29" name="example source"/>
          <p:cNvSpPr txBox="1"/>
          <p:nvPr/>
        </p:nvSpPr>
        <p:spPr>
          <a:xfrm>
            <a:off x="8092440" y="5476926"/>
            <a:ext cx="3566160" cy="237744"/>
          </a:xfrm>
          <a:prstGeom prst="rect">
            <a:avLst/>
          </a:prstGeom>
          <a:noFill/>
          <a:ln/>
        </p:spPr>
        <p:txBody>
          <a:bodyPr wrap="square" lIns="0" tIns="0" rIns="0" bIns="0" rtlCol="0" anchor="ctr"/>
          <a:lstStyle/>
          <a:p>
            <a:pPr marL="0" indent="0">
              <a:buNone/>
            </a:pPr>
            <a:r>
              <a:rPr lang="en-US" sz="1000" i="1" dirty="0">
                <a:solidFill>
                  <a:schemeClr val="tx2"/>
                </a:solidFill>
              </a:rPr>
              <a:t>Real images from local test maze 25</a:t>
            </a:r>
            <a:endParaRPr lang="en-US" sz="1000" dirty="0"/>
          </a:p>
        </p:txBody>
      </p:sp>
      <p:sp>
        <p:nvSpPr>
          <p:cNvPr id="30"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defRPr>
            </a:lvl1pPr>
          </a:lstStyle>
          <a:p>
            <a:pPr algn="r"/>
            <a:fld id="{F7021451-1387-4CA6-816F-3879F97B5CBC}" type="slidenum">
              <a:rPr lang="en-US" b="0"/>
              <a:t>4</a:t>
            </a:fld>
            <a:endParaRPr lang="en-US"/>
          </a:p>
        </p:txBody>
      </p:sp>
    </p:spTree>
  </p:cSld>
  <p:clrMapOvr>
    <a:masterClrMapping/>
  </p:clrMapOvr>
</p:sld>
</file>

<file path=ppt/theme/theme1.xml><?xml version="1.0" encoding="utf-8"?>
<a:theme xmlns:a="http://schemas.openxmlformats.org/drawingml/2006/main" name="Visual Navigation">
  <a:themeElements>
    <a:clrScheme name="Visual Navigation">
      <a:dk1>
        <a:srgbClr val="14213D"/>
      </a:dk1>
      <a:lt1>
        <a:srgbClr val="FFFFFF"/>
      </a:lt1>
      <a:dk2>
        <a:srgbClr val="3A4556"/>
      </a:dk2>
      <a:lt2>
        <a:srgbClr val="EEF2F6"/>
      </a:lt2>
      <a:accent1>
        <a:srgbClr val="2B6CB0"/>
      </a:accent1>
      <a:accent2>
        <a:srgbClr val="C05621"/>
      </a:accent2>
      <a:accent3>
        <a:srgbClr val="9AA5B4"/>
      </a:accent3>
      <a:accent4>
        <a:srgbClr val="F6C391"/>
      </a:accent4>
      <a:accent5>
        <a:srgbClr val="DCE6F2"/>
      </a:accent5>
      <a:accent6>
        <a:srgbClr val="FBEADF"/>
      </a:accent6>
      <a:hlink>
        <a:srgbClr val="2B6CB0"/>
      </a:hlink>
      <a:folHlink>
        <a:srgbClr val="5A7A99"/>
      </a:folHlink>
    </a:clrScheme>
    <a:fontScheme name="Visual Navig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1641</Words>
  <Application>Microsoft Office PowerPoint</Application>
  <PresentationFormat>Widescreen</PresentationFormat>
  <Paragraphs>76</Paragraphs>
  <Slides>4</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Visual Navigation</vt:lpstr>
      <vt:lpstr>Robot Perception Course Project</vt:lpstr>
      <vt:lpstr>Description of the problem and references</vt:lpstr>
      <vt:lpstr>Method (1/2): before driving, and when it starts</vt:lpstr>
      <vt:lpstr>Method (2/2): during the drive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 Perception Course Project - Mid-term Report</dc:title>
  <dc:subject>Visual Navigation Challenge, Fall 2026</dc:subject>
  <dc:creator>PptxGenJS</dc:creator>
  <cp:lastModifiedBy>Kartik Parameshwaran</cp:lastModifiedBy>
  <cp:revision>1</cp:revision>
  <dcterms:created xsi:type="dcterms:W3CDTF">2026-10-30T21:42:00Z</dcterms:created>
  <dcterms:modified xsi:type="dcterms:W3CDTF">2026-10-30T21:44:43Z</dcterms:modified>
</cp:coreProperties>
</file>