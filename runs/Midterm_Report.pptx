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c4600a6c-5ed0-f136-cb72-d3f39d5c4a65}">
          <p14:sldIdLst>
            <p14:sldId id="256"/>
          </p14:sldIdLst>
        </p14:section>
        <p14:section name="Problem" id="{fc972a00-552a-3fe5-6336-67ecff0decbe}">
          <p14:sldIdLst>
            <p14:sldId id="257"/>
          </p14:sldIdLst>
        </p14:section>
        <p14:section name="Method" id="{547b8acd-5d9d-cf46-9006-06c1bb1b8ead}">
          <p14:sldIdLst>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Perception course project, Visual Navigation Challenge: mid-term report. The picture is local test maze 25 drawn from the simulator’s true positions: the robot’s path from the start (blue) to the check-in (red), with the same code as the mid-term.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sees camera images, has four photos of the goal and the photos of three earlier drives. It must check in within 0.2 m and 20 degrees, and SPL rewards few steps. The hard parts are the trade-off between checking carefully and saving steps, lining up exactly in the last metre, and dead ends that cost many steps to back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is SPTM: the exploration photos form a graph that is the robot’s memory. Before driving, from the exploration photos alone and before connecting: build that graph, add shortcuts where AnyLoc proposes and SuperGlue confirms the same place, and place every photo in metres to cost the links in steps (the figure shows maze 25: 97% of the 480 links join photos in the same corridor). When it starts, the session hands over the four goal photos: it picks the goal node by matching them and computes the cheapest route to it with Dijkstra. None of this costs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drive, every move follows SPTM: localise on the photo graph (with AnyLoc instead of SPTM’s R network), pick the furthest route photo that still looks reachable as the waypoint, and move toward it. We steer by the angle SuperGlue and the essential matrix give, with SPTM’s L network as the fallback, and added backing out along drives, checks when stuck, and a last-metre controller that lines up with the goal photos and checks in only after three strong readings. The pictures are real images from local test maze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783080"/>
            <a:ext cx="640080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900" spc="150" kern="0" dirty="0">
                <a:solidFill>
                  <a:schemeClr val="accent3"/>
                </a:solidFill>
              </a:rPr>
              <a:t>VISUAL NAVIGATION CHALLENGE  ·  MID-TERM REPORT</a:t>
            </a:r>
            <a:endParaRPr lang="en-US" sz="9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822960" y="1188720"/>
            <a:ext cx="6583680" cy="365760"/>
          </a:xfrm>
          <a:prstGeom prst="rect">
            <a:avLst/>
          </a:prstGeom>
          <a:noFill/>
          <a:ln/>
        </p:spPr>
        <p:txBody>
          <a:bodyPr wrap="square" lIns="0" tIns="0" rIns="0" bIns="0" rtlCol="0" anchor="ctr"/>
          <a:lstStyle/>
          <a:p>
            <a:pPr indent="0" marL="0">
              <a:buNone/>
            </a:pPr>
            <a:r>
              <a:rPr lang="en-US" sz="1300" spc="200" kern="0" dirty="0">
                <a:solidFill>
                  <a:schemeClr val="accent5"/>
                </a:solidFill>
              </a:rPr>
              <a:t>VISUAL NAVIGATION CHALLENGE  ·  MID-TERM REPORT  ·  FALL 2026</a:t>
            </a:r>
            <a:endParaRPr lang="en-US" sz="1300" dirty="0"/>
          </a:p>
        </p:txBody>
      </p:sp>
      <p:sp>
        <p:nvSpPr>
          <p:cNvPr id="3" name="Text 0"/>
          <p:cNvSpPr/>
          <p:nvPr>
            <p:ph idx="100" type="title" hasCustomPrompt="1"/>
          </p:nvPr>
        </p:nvSpPr>
        <p:spPr>
          <a:xfrm>
            <a:off x="822960" y="1783080"/>
            <a:ext cx="6400800" cy="1737360"/>
          </a:xfrm>
          <a:prstGeom prst="rect">
            <a:avLst/>
          </a:prstGeom>
          <a:noFill/>
          <a:ln/>
        </p:spPr>
        <p:txBody>
          <a:bodyPr wrap="square" lIns="0" tIns="0" rIns="0" bIns="0" rtlCol="0" anchor="t"/>
          <a:lstStyle/>
          <a:p>
            <a:pPr algn="l" indent="0" marL="0">
              <a:buNone/>
            </a:pPr>
            <a:r>
              <a:rPr lang="en-US" sz="4400" b="1" dirty="0">
                <a:solidFill>
                  <a:schemeClr val="bg1"/>
                </a:solidFill>
              </a:rPr>
              <a:t>Robot Perception</a:t>
            </a:r>
            <a:endParaRPr lang="en-US" sz="4400" dirty="0"/>
          </a:p>
          <a:p>
            <a:pPr algn="l" indent="0" marL="0">
              <a:buNone/>
            </a:pPr>
            <a:r>
              <a:rPr lang="en-US" sz="4400" b="1" dirty="0">
                <a:solidFill>
                  <a:schemeClr val="bg1"/>
                </a:solidFill>
              </a:rPr>
              <a:t>Course Project</a:t>
            </a:r>
            <a:endParaRPr lang="en-US" sz="4400" dirty="0"/>
          </a:p>
        </p:txBody>
      </p:sp>
      <p:sp>
        <p:nvSpPr>
          <p:cNvPr id="4" name="team"/>
          <p:cNvSpPr txBox="1"/>
          <p:nvPr/>
        </p:nvSpPr>
        <p:spPr>
          <a:xfrm>
            <a:off x="822960" y="3703320"/>
            <a:ext cx="6400800" cy="640080"/>
          </a:xfrm>
          <a:prstGeom prst="rect">
            <a:avLst/>
          </a:prstGeom>
          <a:noFill/>
          <a:ln/>
        </p:spPr>
        <p:txBody>
          <a:bodyPr wrap="square" lIns="0" tIns="0" rIns="0" bIns="0" rtlCol="0" anchor="ctr"/>
          <a:lstStyle/>
          <a:p>
            <a:pPr indent="0" marL="0">
              <a:buNone/>
            </a:pPr>
            <a:r>
              <a:rPr lang="en-US" sz="3000" dirty="0">
                <a:solidFill>
                  <a:schemeClr val="accent4"/>
                </a:solidFill>
                <a:latin typeface="Cambria" pitchFamily="34" charset="0"/>
                <a:ea typeface="Cambria" pitchFamily="34" charset="-122"/>
                <a:cs typeface="Cambria" pitchFamily="34" charset="-120"/>
              </a:rPr>
              <a:t>Team 15</a:t>
            </a:r>
            <a:endParaRPr lang="en-US" sz="3000" dirty="0"/>
          </a:p>
        </p:txBody>
      </p:sp>
      <p:sp>
        <p:nvSpPr>
          <p:cNvPr id="5" name="members"/>
          <p:cNvSpPr txBox="1"/>
          <p:nvPr/>
        </p:nvSpPr>
        <p:spPr>
          <a:xfrm>
            <a:off x="822960" y="4526280"/>
            <a:ext cx="6400800" cy="914400"/>
          </a:xfrm>
          <a:prstGeom prst="rect">
            <a:avLst/>
          </a:prstGeom>
          <a:noFill/>
          <a:ln/>
        </p:spPr>
        <p:txBody>
          <a:bodyPr wrap="square" lIns="0" tIns="0" rIns="0" bIns="0" rtlCol="0" anchor="ctr"/>
          <a:lstStyle/>
          <a:p>
            <a:pPr indent="0" marL="0">
              <a:spcAft>
                <a:spcPts val="600"/>
              </a:spcAft>
              <a:buNone/>
            </a:pPr>
            <a:r>
              <a:rPr lang="en-US" sz="2000" dirty="0">
                <a:solidFill>
                  <a:schemeClr val="accent5"/>
                </a:solidFill>
              </a:rPr>
              <a:t>Kartik Parameshwaran (kp3932)</a:t>
            </a:r>
            <a:endParaRPr lang="en-US" sz="2000" dirty="0"/>
          </a:p>
          <a:p>
            <a:pPr indent="0" marL="0">
              <a:spcAft>
                <a:spcPts val="600"/>
              </a:spcAft>
              <a:buNone/>
            </a:pPr>
            <a:r>
              <a:rPr lang="en-US" sz="2000" dirty="0">
                <a:solidFill>
                  <a:schemeClr val="accent5"/>
                </a:solidFill>
              </a:rPr>
              <a:t>Arya Kishor (am16454)</a:t>
            </a:r>
            <a:endParaRPr lang="en-US" sz="2000" dirty="0"/>
          </a:p>
        </p:txBody>
      </p:sp>
      <p:sp>
        <p:nvSpPr>
          <p:cNvPr id="6" name="maze picture frame"/>
          <p:cNvSpPr/>
          <p:nvPr/>
        </p:nvSpPr>
        <p:spPr>
          <a:xfrm>
            <a:off x="7863840" y="960120"/>
            <a:ext cx="3794760" cy="4297680"/>
          </a:xfrm>
          <a:prstGeom prst="roundRect">
            <a:avLst>
              <a:gd name="adj" fmla="val 2892"/>
            </a:avLst>
          </a:prstGeom>
          <a:solidFill>
            <a:schemeClr val="tx2"/>
          </a:solidFill>
          <a:ln w="12700">
            <a:solidFill>
              <a:schemeClr val="tx2"/>
            </a:solidFill>
            <a:prstDash val="solid"/>
          </a:ln>
        </p:spPr>
      </p:sp>
      <p:pic>
        <p:nvPicPr>
          <p:cNvPr id="7" name="title maze picture" descr="Top view of local test maze 25 drawn from the simulator’s true positions: the robot’s path from the start to the goal, coloured by time from blue to red">    </p:cNvPr>
          <p:cNvPicPr>
            <a:picLocks noChangeAspect="1"/>
          </p:cNvPicPr>
          <p:nvPr/>
        </p:nvPicPr>
        <p:blipFill>
          <a:blip r:embed="rId1"/>
          <a:stretch>
            <a:fillRect/>
          </a:stretch>
        </p:blipFill>
        <p:spPr>
          <a:xfrm>
            <a:off x="8046720" y="1143000"/>
            <a:ext cx="3429000" cy="3429000"/>
          </a:xfrm>
          <a:prstGeom prst="rect">
            <a:avLst/>
          </a:prstGeom>
        </p:spPr>
      </p:pic>
      <p:sp>
        <p:nvSpPr>
          <p:cNvPr id="8" name="title maze caption"/>
          <p:cNvSpPr txBox="1"/>
          <p:nvPr/>
        </p:nvSpPr>
        <p:spPr>
          <a:xfrm>
            <a:off x="8046720" y="4617720"/>
            <a:ext cx="3429000" cy="548640"/>
          </a:xfrm>
          <a:prstGeom prst="rect">
            <a:avLst/>
          </a:prstGeom>
          <a:noFill/>
          <a:ln/>
        </p:spPr>
        <p:txBody>
          <a:bodyPr wrap="square" lIns="0" tIns="0" rIns="0" bIns="0" rtlCol="0" anchor="ctr"/>
          <a:lstStyle/>
          <a:p>
            <a:pPr indent="0" marL="0">
              <a:buNone/>
            </a:pPr>
            <a:r>
              <a:rPr lang="en-US" sz="1050" i="1" dirty="0">
                <a:solidFill>
                  <a:schemeClr val="accent5"/>
                </a:solidFill>
              </a:rPr>
              <a:t>Local test maze 25: the robot’s true path from start to goal, with the mid-term code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PROBLEM</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Description of the problem and references</a:t>
            </a:r>
            <a:endParaRPr lang="en-US" sz="3000" dirty="0"/>
          </a:p>
        </p:txBody>
      </p:sp>
      <p:sp>
        <p:nvSpPr>
          <p:cNvPr id="4" name="problem description"/>
          <p:cNvSpPr txBox="1"/>
          <p:nvPr/>
        </p:nvSpPr>
        <p:spPr>
          <a:xfrm>
            <a:off x="548640" y="1371600"/>
            <a:ext cx="6400800" cy="2148840"/>
          </a:xfrm>
          <a:prstGeom prst="rect">
            <a:avLst/>
          </a:prstGeom>
          <a:noFill/>
          <a:ln/>
        </p:spPr>
        <p:txBody>
          <a:bodyPr wrap="square" lIns="0" tIns="0" rIns="0" bIns="0" rtlCol="0" anchor="t"/>
          <a:lstStyle/>
          <a:p>
            <a:pPr indent="0" marL="0">
              <a:spcAft>
                <a:spcPts val="500"/>
              </a:spcAft>
              <a:buNone/>
            </a:pPr>
            <a:r>
              <a:rPr lang="en-US" sz="1350" dirty="0">
                <a:solidFill>
                  <a:schemeClr val="tx2"/>
                </a:solidFill>
              </a:rPr>
              <a:t>The robot is placed in a maze it has never seen and has to drive to a goal spot and check in there. It is never told its position and has no map. All it has is:</a:t>
            </a:r>
            <a:endParaRPr lang="en-US" sz="1350" dirty="0"/>
          </a:p>
          <a:p>
            <a:pPr marL="342900" indent="-342900">
              <a:spcAft>
                <a:spcPts val="500"/>
              </a:spcAft>
              <a:buSzPct val="100000"/>
              <a:buChar char="•"/>
            </a:pPr>
            <a:r>
              <a:rPr lang="en-US" sz="1350" dirty="0">
                <a:solidFill>
                  <a:schemeClr val="tx2"/>
                </a:solidFill>
              </a:rPr>
              <a:t>its own 320 × 240 camera image after every move (no bump sensor),</a:t>
            </a:r>
            <a:endParaRPr lang="en-US" sz="1350" dirty="0"/>
          </a:p>
          <a:p>
            <a:pPr marL="342900" indent="-342900">
              <a:spcAft>
                <a:spcPts val="500"/>
              </a:spcAft>
              <a:buSzPct val="100000"/>
              <a:buChar char="•"/>
            </a:pPr>
            <a:r>
              <a:rPr lang="en-US" sz="1350" dirty="0">
                <a:solidFill>
                  <a:schemeClr val="tx2"/>
                </a:solidFill>
              </a:rPr>
              <a:t>four photos taken at the goal spot (front, left, back, right),</a:t>
            </a:r>
            <a:endParaRPr lang="en-US" sz="1350" dirty="0"/>
          </a:p>
          <a:p>
            <a:pPr marL="342900" indent="-342900">
              <a:spcAft>
                <a:spcPts val="500"/>
              </a:spcAft>
              <a:buSzPct val="100000"/>
              <a:buChar char="•"/>
            </a:pPr>
            <a:r>
              <a:rPr lang="en-US" sz="1350" dirty="0">
                <a:solidFill>
                  <a:schemeClr val="tx2"/>
                </a:solidFill>
              </a:rPr>
              <a:t>the photos of three earlier exploration drives through the same maze, each labelled with the move made after it.</a:t>
            </a:r>
            <a:endParaRPr lang="en-US" sz="1350" dirty="0"/>
          </a:p>
          <a:p>
            <a:pPr indent="0" marL="0">
              <a:spcAft>
                <a:spcPts val="500"/>
              </a:spcAft>
              <a:buNone/>
            </a:pPr>
            <a:r>
              <a:rPr lang="en-US" sz="1350" dirty="0">
                <a:solidFill>
                  <a:schemeClr val="tx2"/>
                </a:solidFill>
              </a:rPr>
              <a:t>A check-in only counts within 0.2 m and 20° of the goal. Points come from distance, heading and SPL (shortest path ÷ steps taken), so every extra step costs points.</a:t>
            </a:r>
            <a:endParaRPr lang="en-US" sz="1350" dirty="0"/>
          </a:p>
        </p:txBody>
      </p:sp>
      <p:sp>
        <p:nvSpPr>
          <p:cNvPr id="5" name="hard heading"/>
          <p:cNvSpPr txBox="1"/>
          <p:nvPr/>
        </p:nvSpPr>
        <p:spPr>
          <a:xfrm>
            <a:off x="548640" y="3611880"/>
            <a:ext cx="6400800" cy="292608"/>
          </a:xfrm>
          <a:prstGeom prst="rect">
            <a:avLst/>
          </a:prstGeom>
          <a:noFill/>
          <a:ln/>
        </p:spPr>
        <p:txBody>
          <a:bodyPr wrap="square" lIns="0" tIns="0" rIns="0" bIns="0" rtlCol="0" anchor="ctr"/>
          <a:lstStyle/>
          <a:p>
            <a:pPr indent="0" marL="0">
              <a:buNone/>
            </a:pPr>
            <a:r>
              <a:rPr lang="en-US" sz="1500" b="1" dirty="0">
                <a:solidFill>
                  <a:schemeClr val="accent2"/>
                </a:solidFill>
              </a:rPr>
              <a:t>What makes it hard</a:t>
            </a:r>
            <a:endParaRPr lang="en-US" sz="1500" dirty="0"/>
          </a:p>
        </p:txBody>
      </p:sp>
      <p:sp>
        <p:nvSpPr>
          <p:cNvPr id="6" name="difficulty 1 circle"/>
          <p:cNvSpPr/>
          <p:nvPr/>
        </p:nvSpPr>
        <p:spPr>
          <a:xfrm>
            <a:off x="548640" y="4023360"/>
            <a:ext cx="292608" cy="292608"/>
          </a:xfrm>
          <a:prstGeom prst="ellipse">
            <a:avLst/>
          </a:prstGeom>
          <a:solidFill>
            <a:schemeClr val="accent2"/>
          </a:solidFill>
          <a:ln w="12700">
            <a:solidFill>
              <a:schemeClr val="accent2"/>
            </a:solidFill>
            <a:prstDash val="solid"/>
          </a:ln>
        </p:spPr>
      </p:sp>
      <p:sp>
        <p:nvSpPr>
          <p:cNvPr id="7" name="difficulty 1 number"/>
          <p:cNvSpPr txBox="1"/>
          <p:nvPr/>
        </p:nvSpPr>
        <p:spPr>
          <a:xfrm>
            <a:off x="548640" y="40233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difficulty 1 text"/>
          <p:cNvSpPr txBox="1"/>
          <p:nvPr/>
        </p:nvSpPr>
        <p:spPr>
          <a:xfrm>
            <a:off x="978408" y="4005072"/>
            <a:ext cx="5971032" cy="672084"/>
          </a:xfrm>
          <a:prstGeom prst="rect">
            <a:avLst/>
          </a:prstGeom>
          <a:noFill/>
          <a:ln/>
        </p:spPr>
        <p:txBody>
          <a:bodyPr wrap="square" lIns="0" tIns="0" rIns="0" bIns="0" rtlCol="0" anchor="t"/>
          <a:lstStyle/>
          <a:p>
            <a:pPr indent="0" marL="0">
              <a:buNone/>
            </a:pPr>
            <a:r>
              <a:rPr lang="en-US" sz="1350" b="1" dirty="0">
                <a:solidFill>
                  <a:schemeClr val="tx1"/>
                </a:solidFill>
              </a:rPr>
              <a:t>Accuracy vs. number of steps. </a:t>
            </a:r>
            <a:pPr indent="0" marL="0">
              <a:buNone/>
            </a:pPr>
            <a:r>
              <a:rPr lang="en-US" sz="1350" dirty="0">
                <a:solidFill>
                  <a:schemeClr val="tx2"/>
                </a:solidFill>
              </a:rPr>
              <a:t>Checking more carefully where it is (turning to look, planning again) avoids getting lost, but every move counts against SPL, and a fast move on a wrong guess wastes even more.</a:t>
            </a:r>
            <a:endParaRPr lang="en-US" sz="1350" dirty="0"/>
          </a:p>
        </p:txBody>
      </p:sp>
      <p:sp>
        <p:nvSpPr>
          <p:cNvPr id="9" name="difficulty 2 circle"/>
          <p:cNvSpPr/>
          <p:nvPr/>
        </p:nvSpPr>
        <p:spPr>
          <a:xfrm>
            <a:off x="548640" y="4841748"/>
            <a:ext cx="292608" cy="292608"/>
          </a:xfrm>
          <a:prstGeom prst="ellipse">
            <a:avLst/>
          </a:prstGeom>
          <a:solidFill>
            <a:schemeClr val="accent2"/>
          </a:solidFill>
          <a:ln w="12700">
            <a:solidFill>
              <a:schemeClr val="accent2"/>
            </a:solidFill>
            <a:prstDash val="solid"/>
          </a:ln>
        </p:spPr>
      </p:sp>
      <p:sp>
        <p:nvSpPr>
          <p:cNvPr id="10" name="difficulty 2 number"/>
          <p:cNvSpPr txBox="1"/>
          <p:nvPr/>
        </p:nvSpPr>
        <p:spPr>
          <a:xfrm>
            <a:off x="548640" y="484174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difficulty 2 text"/>
          <p:cNvSpPr txBox="1"/>
          <p:nvPr/>
        </p:nvSpPr>
        <p:spPr>
          <a:xfrm>
            <a:off x="978408" y="4823460"/>
            <a:ext cx="5971032" cy="466344"/>
          </a:xfrm>
          <a:prstGeom prst="rect">
            <a:avLst/>
          </a:prstGeom>
          <a:noFill/>
          <a:ln/>
        </p:spPr>
        <p:txBody>
          <a:bodyPr wrap="square" lIns="0" tIns="0" rIns="0" bIns="0" rtlCol="0" anchor="t"/>
          <a:lstStyle/>
          <a:p>
            <a:pPr indent="0" marL="0">
              <a:buNone/>
            </a:pPr>
            <a:r>
              <a:rPr lang="en-US" sz="1350" b="1" dirty="0">
                <a:solidFill>
                  <a:schemeClr val="tx1"/>
                </a:solidFill>
              </a:rPr>
              <a:t>The last metre. </a:t>
            </a:r>
            <a:pPr indent="0" marL="0">
              <a:buNone/>
            </a:pPr>
            <a:r>
              <a:rPr lang="en-US" sz="1350" dirty="0">
                <a:solidFill>
                  <a:schemeClr val="tx2"/>
                </a:solidFill>
              </a:rPr>
              <a:t>The photo map only gets the robot near the goal. Checking in within 0.2 m and 20° needs it to line up with the goal photos themselves.</a:t>
            </a:r>
            <a:endParaRPr lang="en-US" sz="1350" dirty="0"/>
          </a:p>
        </p:txBody>
      </p:sp>
      <p:sp>
        <p:nvSpPr>
          <p:cNvPr id="12" name="difficulty 3 circle"/>
          <p:cNvSpPr/>
          <p:nvPr/>
        </p:nvSpPr>
        <p:spPr>
          <a:xfrm>
            <a:off x="548640" y="5454396"/>
            <a:ext cx="292608" cy="292608"/>
          </a:xfrm>
          <a:prstGeom prst="ellipse">
            <a:avLst/>
          </a:prstGeom>
          <a:solidFill>
            <a:schemeClr val="accent2"/>
          </a:solidFill>
          <a:ln w="12700">
            <a:solidFill>
              <a:schemeClr val="accent2"/>
            </a:solidFill>
            <a:prstDash val="solid"/>
          </a:ln>
        </p:spPr>
      </p:sp>
      <p:sp>
        <p:nvSpPr>
          <p:cNvPr id="13" name="difficulty 3 number"/>
          <p:cNvSpPr txBox="1"/>
          <p:nvPr/>
        </p:nvSpPr>
        <p:spPr>
          <a:xfrm>
            <a:off x="548640" y="54543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difficulty 3 text"/>
          <p:cNvSpPr txBox="1"/>
          <p:nvPr/>
        </p:nvSpPr>
        <p:spPr>
          <a:xfrm>
            <a:off x="978408" y="5436108"/>
            <a:ext cx="5971032" cy="672084"/>
          </a:xfrm>
          <a:prstGeom prst="rect">
            <a:avLst/>
          </a:prstGeom>
          <a:noFill/>
          <a:ln/>
        </p:spPr>
        <p:txBody>
          <a:bodyPr wrap="square" lIns="0" tIns="0" rIns="0" bIns="0" rtlCol="0" anchor="t"/>
          <a:lstStyle/>
          <a:p>
            <a:pPr indent="0" marL="0">
              <a:buNone/>
            </a:pPr>
            <a:r>
              <a:rPr lang="en-US" sz="1350" b="1" dirty="0">
                <a:solidFill>
                  <a:schemeClr val="tx1"/>
                </a:solidFill>
              </a:rPr>
              <a:t>Dead ends. </a:t>
            </a:r>
            <a:pPr indent="0" marL="0">
              <a:buNone/>
            </a:pPr>
            <a:r>
              <a:rPr lang="en-US" sz="1350" dirty="0">
                <a:solidFill>
                  <a:schemeClr val="tx2"/>
                </a:solidFill>
              </a:rPr>
              <a:t>The maze and the exploration drives have dead ends and loops. A route along a drive can lead into one, and backing up along a drive took 36% of our mid-term steps.</a:t>
            </a:r>
            <a:endParaRPr lang="en-US" sz="1350" dirty="0"/>
          </a:p>
        </p:txBody>
      </p:sp>
      <p:sp>
        <p:nvSpPr>
          <p:cNvPr id="15" name="references card"/>
          <p:cNvSpPr/>
          <p:nvPr/>
        </p:nvSpPr>
        <p:spPr>
          <a:xfrm>
            <a:off x="7315200" y="1371600"/>
            <a:ext cx="4343400" cy="4892040"/>
          </a:xfrm>
          <a:prstGeom prst="roundRect">
            <a:avLst>
              <a:gd name="adj" fmla="val 2526"/>
            </a:avLst>
          </a:prstGeom>
          <a:solidFill>
            <a:schemeClr val="bg2"/>
          </a:solidFill>
          <a:ln w="12700">
            <a:solidFill>
              <a:schemeClr val="bg2"/>
            </a:solidFill>
            <a:prstDash val="solid"/>
          </a:ln>
        </p:spPr>
      </p:sp>
      <p:sp>
        <p:nvSpPr>
          <p:cNvPr id="16" name="references title"/>
          <p:cNvSpPr txBox="1"/>
          <p:nvPr/>
        </p:nvSpPr>
        <p:spPr>
          <a:xfrm>
            <a:off x="7543800" y="1481328"/>
            <a:ext cx="3931920" cy="365760"/>
          </a:xfrm>
          <a:prstGeom prst="rect">
            <a:avLst/>
          </a:prstGeom>
          <a:noFill/>
          <a:ln/>
        </p:spPr>
        <p:txBody>
          <a:bodyPr wrap="square" lIns="0" tIns="0" rIns="0" bIns="0" rtlCol="0" anchor="ctr"/>
          <a:lstStyle/>
          <a:p>
            <a:pPr indent="0" marL="0">
              <a:buNone/>
            </a:pPr>
            <a:r>
              <a:rPr lang="en-US" sz="1400" b="1" dirty="0">
                <a:solidFill>
                  <a:schemeClr val="tx1"/>
                </a:solidFill>
              </a:rPr>
              <a:t>References (and what we use them for)</a:t>
            </a:r>
            <a:endParaRPr lang="en-US" sz="1400" dirty="0"/>
          </a:p>
        </p:txBody>
      </p:sp>
      <p:sp>
        <p:nvSpPr>
          <p:cNvPr id="17" name="references list"/>
          <p:cNvSpPr txBox="1"/>
          <p:nvPr/>
        </p:nvSpPr>
        <p:spPr>
          <a:xfrm>
            <a:off x="7543800" y="1901952"/>
            <a:ext cx="3977640" cy="425196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000" dirty="0">
                <a:solidFill>
                  <a:schemeClr val="tx2"/>
                </a:solidFill>
              </a:rPr>
              <a:t>Savinov et al., Semi-Parametric Topological Memory for Navigation (SPTM), ICLR 2018</a:t>
            </a:r>
            <a:pPr indent="0" marL="0">
              <a:spcAft>
                <a:spcPts val="300"/>
              </a:spcAft>
              <a:buNone/>
            </a:pPr>
            <a:r>
              <a:rPr lang="en-US" sz="1000" i="1" dirty="0">
                <a:solidFill>
                  <a:schemeClr val="accent1"/>
                </a:solidFill>
              </a:rPr>
              <a:t>. Used for the core method: the photo memory graph, localisation, waypoints and its motion (L) network.</a:t>
            </a:r>
            <a:endParaRPr lang="en-US" sz="1000" dirty="0"/>
          </a:p>
          <a:p>
            <a:pPr marL="342900" indent="-342900">
              <a:spcAft>
                <a:spcPts val="300"/>
              </a:spcAft>
              <a:buSzPct val="100000"/>
              <a:buFont typeface="+mj-lt"/>
              <a:buAutoNum type="arabicPeriod" startAt="1"/>
            </a:pPr>
            <a:r>
              <a:rPr lang="en-US" sz="1000" dirty="0">
                <a:solidFill>
                  <a:schemeClr val="tx2"/>
                </a:solidFill>
              </a:rPr>
              <a:t>Keetha et al., AnyLoc: Towards Universal Visual Place Recognition, IEEE RA-L 2023</a:t>
            </a:r>
            <a:pPr indent="0" marL="0">
              <a:spcAft>
                <a:spcPts val="300"/>
              </a:spcAft>
              <a:buNone/>
            </a:pPr>
            <a:r>
              <a:rPr lang="en-US" sz="1000" i="1" dirty="0">
                <a:solidFill>
                  <a:schemeClr val="accent1"/>
                </a:solidFill>
              </a:rPr>
              <a:t>. Used for finding exploration photos that look like the camera image.</a:t>
            </a:r>
            <a:endParaRPr lang="en-US" sz="1000" dirty="0"/>
          </a:p>
          <a:p>
            <a:pPr marL="342900" indent="-342900">
              <a:spcAft>
                <a:spcPts val="300"/>
              </a:spcAft>
              <a:buSzPct val="100000"/>
              <a:buFont typeface="+mj-lt"/>
              <a:buAutoNum type="arabicPeriod" startAt="1"/>
            </a:pPr>
            <a:r>
              <a:rPr lang="en-US" sz="1000" dirty="0">
                <a:solidFill>
                  <a:schemeClr val="tx2"/>
                </a:solidFill>
              </a:rPr>
              <a:t>Oquab et al., DINOv2: Learning Robust Visual Features without Supervision, TMLR 2024</a:t>
            </a:r>
            <a:pPr indent="0" marL="0">
              <a:spcAft>
                <a:spcPts val="300"/>
              </a:spcAft>
              <a:buNone/>
            </a:pPr>
            <a:r>
              <a:rPr lang="en-US" sz="1000" i="1" dirty="0">
                <a:solidFill>
                  <a:schemeClr val="accent1"/>
                </a:solidFill>
              </a:rPr>
              <a:t>. Used for the image features AnyLoc uses.</a:t>
            </a:r>
            <a:endParaRPr lang="en-US" sz="1000" dirty="0"/>
          </a:p>
          <a:p>
            <a:pPr marL="342900" indent="-342900">
              <a:spcAft>
                <a:spcPts val="300"/>
              </a:spcAft>
              <a:buSzPct val="100000"/>
              <a:buFont typeface="+mj-lt"/>
              <a:buAutoNum type="arabicPeriod" startAt="1"/>
            </a:pPr>
            <a:r>
              <a:rPr lang="en-US" sz="1000" dirty="0">
                <a:solidFill>
                  <a:schemeClr val="tx2"/>
                </a:solidFill>
              </a:rPr>
              <a:t>Jégou et al., Aggregating Local Descriptors into a Compact Image Representation (VLAD), CVPR 2010</a:t>
            </a:r>
            <a:pPr indent="0" marL="0">
              <a:spcAft>
                <a:spcPts val="300"/>
              </a:spcAft>
              <a:buNone/>
            </a:pPr>
            <a:r>
              <a:rPr lang="en-US" sz="1000" i="1" dirty="0">
                <a:solidFill>
                  <a:schemeClr val="accent1"/>
                </a:solidFill>
              </a:rPr>
              <a:t>. Used for how AnyLoc sums those features.</a:t>
            </a:r>
            <a:endParaRPr lang="en-US" sz="1000" dirty="0"/>
          </a:p>
          <a:p>
            <a:pPr marL="342900" indent="-342900">
              <a:spcAft>
                <a:spcPts val="300"/>
              </a:spcAft>
              <a:buSzPct val="100000"/>
              <a:buFont typeface="+mj-lt"/>
              <a:buAutoNum type="arabicPeriod" startAt="1"/>
            </a:pPr>
            <a:r>
              <a:rPr lang="en-US" sz="1000" dirty="0">
                <a:solidFill>
                  <a:schemeClr val="tx2"/>
                </a:solidFill>
              </a:rPr>
              <a:t>DeTone et al., SuperPoint: Self-Supervised Interest Point Detection and Description, CVPR Workshops 2018</a:t>
            </a:r>
            <a:pPr indent="0" marL="0">
              <a:spcAft>
                <a:spcPts val="300"/>
              </a:spcAft>
              <a:buNone/>
            </a:pPr>
            <a:r>
              <a:rPr lang="en-US" sz="1000" i="1" dirty="0">
                <a:solidFill>
                  <a:schemeClr val="accent1"/>
                </a:solidFill>
              </a:rPr>
              <a:t>. Used for keypoints in each photo.</a:t>
            </a:r>
            <a:endParaRPr lang="en-US" sz="1000" dirty="0"/>
          </a:p>
          <a:p>
            <a:pPr marL="342900" indent="-342900">
              <a:spcAft>
                <a:spcPts val="300"/>
              </a:spcAft>
              <a:buSzPct val="100000"/>
              <a:buFont typeface="+mj-lt"/>
              <a:buAutoNum type="arabicPeriod" startAt="1"/>
            </a:pPr>
            <a:r>
              <a:rPr lang="en-US" sz="1000" dirty="0">
                <a:solidFill>
                  <a:schemeClr val="tx2"/>
                </a:solidFill>
              </a:rPr>
              <a:t>Sarlin et al., SuperGlue: Learning Feature Matching with Graph Neural Networks, CVPR 2020</a:t>
            </a:r>
            <a:pPr indent="0" marL="0">
              <a:spcAft>
                <a:spcPts val="300"/>
              </a:spcAft>
              <a:buNone/>
            </a:pPr>
            <a:r>
              <a:rPr lang="en-US" sz="1000" i="1" dirty="0">
                <a:solidFill>
                  <a:schemeClr val="accent1"/>
                </a:solidFill>
              </a:rPr>
              <a:t>. Used for matching keypoints between two photos.</a:t>
            </a:r>
            <a:endParaRPr lang="en-US" sz="1000" dirty="0"/>
          </a:p>
          <a:p>
            <a:pPr marL="342900" indent="-342900">
              <a:spcAft>
                <a:spcPts val="300"/>
              </a:spcAft>
              <a:buSzPct val="100000"/>
              <a:buFont typeface="+mj-lt"/>
              <a:buAutoNum type="arabicPeriod" startAt="1"/>
            </a:pPr>
            <a:r>
              <a:rPr lang="en-US" sz="1000" dirty="0">
                <a:solidFill>
                  <a:schemeClr val="tx2"/>
                </a:solidFill>
              </a:rPr>
              <a:t>Nistér, An Efficient Solution to the Five-Point Relative Pose Problem, IEEE TPAMI 2004</a:t>
            </a:r>
            <a:pPr indent="0" marL="0">
              <a:spcAft>
                <a:spcPts val="300"/>
              </a:spcAft>
              <a:buNone/>
            </a:pPr>
            <a:r>
              <a:rPr lang="en-US" sz="1000" i="1" dirty="0">
                <a:solidFill>
                  <a:schemeClr val="accent1"/>
                </a:solidFill>
              </a:rPr>
              <a:t>. Used for the turning angle between two views (OpenCV findEssentialMat).</a:t>
            </a:r>
            <a:endParaRPr lang="en-US" sz="1000" dirty="0"/>
          </a:p>
          <a:p>
            <a:pPr marL="342900" indent="-342900">
              <a:spcAft>
                <a:spcPts val="300"/>
              </a:spcAft>
              <a:buSzPct val="100000"/>
              <a:buFont typeface="+mj-lt"/>
              <a:buAutoNum type="arabicPeriod" startAt="1"/>
            </a:pPr>
            <a:r>
              <a:rPr lang="en-US" sz="1000" dirty="0">
                <a:solidFill>
                  <a:schemeClr val="tx2"/>
                </a:solidFill>
              </a:rPr>
              <a:t>Fischler and Bolles, Random Sample Consensus (RANSAC), Communications of the ACM 1981</a:t>
            </a:r>
            <a:pPr indent="0" marL="0">
              <a:spcAft>
                <a:spcPts val="300"/>
              </a:spcAft>
              <a:buNone/>
            </a:pPr>
            <a:r>
              <a:rPr lang="en-US" sz="1000" i="1" dirty="0">
                <a:solidFill>
                  <a:schemeClr val="accent1"/>
                </a:solidFill>
              </a:rPr>
              <a:t>. Used for removing wrong matches.</a:t>
            </a:r>
            <a:endParaRPr lang="en-US" sz="1000" dirty="0"/>
          </a:p>
          <a:p>
            <a:pPr marL="342900" indent="-342900">
              <a:spcAft>
                <a:spcPts val="300"/>
              </a:spcAft>
              <a:buSzPct val="100000"/>
              <a:buFont typeface="+mj-lt"/>
              <a:buAutoNum type="arabicPeriod" startAt="1"/>
            </a:pPr>
            <a:r>
              <a:rPr lang="en-US" sz="1000" dirty="0">
                <a:solidFill>
                  <a:schemeClr val="tx2"/>
                </a:solidFill>
              </a:rPr>
              <a:t>Tools: PyTorch, OpenCV, NetworkX (Dijkstra) and the course’s vis-nav SDK</a:t>
            </a:r>
            <a:pPr indent="0" marL="0">
              <a:spcAft>
                <a:spcPts val="300"/>
              </a:spcAft>
              <a:buNone/>
            </a:pP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METHOD  ·  1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(1/2): before driving, and when it starts</a:t>
            </a:r>
            <a:endParaRPr lang="en-US" sz="3000" dirty="0"/>
          </a:p>
        </p:txBody>
      </p:sp>
      <p:sp>
        <p:nvSpPr>
          <p:cNvPr id="4" name="sptm intro"/>
          <p:cNvSpPr txBox="1"/>
          <p:nvPr/>
        </p:nvSpPr>
        <p:spPr>
          <a:xfrm>
            <a:off x="548640" y="1298448"/>
            <a:ext cx="7132320" cy="566928"/>
          </a:xfrm>
          <a:prstGeom prst="rect">
            <a:avLst/>
          </a:prstGeom>
          <a:noFill/>
          <a:ln/>
        </p:spPr>
        <p:txBody>
          <a:bodyPr wrap="square" lIns="0" tIns="0" rIns="0" bIns="0" rtlCol="0" anchor="t"/>
          <a:lstStyle/>
          <a:p>
            <a:pPr indent="0" marL="0">
              <a:buNone/>
            </a:pPr>
            <a:r>
              <a:rPr lang="en-US" sz="1250" b="1" dirty="0">
                <a:solidFill>
                  <a:schemeClr val="tx1"/>
                </a:solidFill>
              </a:rPr>
              <a:t>The core is SPTM </a:t>
            </a:r>
            <a:pPr indent="0" marL="0">
              <a:buNone/>
            </a:pPr>
            <a:r>
              <a:rPr lang="en-US" sz="1250" dirty="0">
                <a:solidFill>
                  <a:schemeClr val="tx2"/>
                </a:solidFill>
              </a:rPr>
              <a:t>(semi-parametric topological memory, Savinov et al. 2018): the exploration photos become a graph that is the robot’s memory, and it localises, plans and moves on that graph photo by photo. Each step says what comes from SPTM and what we added.</a:t>
            </a:r>
            <a:endParaRPr lang="en-US" sz="1250" dirty="0"/>
          </a:p>
        </p:txBody>
      </p:sp>
      <p:sp>
        <p:nvSpPr>
          <p:cNvPr id="5" name="phase 1 label pill"/>
          <p:cNvSpPr/>
          <p:nvPr/>
        </p:nvSpPr>
        <p:spPr>
          <a:xfrm>
            <a:off x="548640" y="1938528"/>
            <a:ext cx="7132320" cy="347472"/>
          </a:xfrm>
          <a:prstGeom prst="roundRect">
            <a:avLst>
              <a:gd name="adj" fmla="val 50000"/>
            </a:avLst>
          </a:prstGeom>
          <a:solidFill>
            <a:schemeClr val="accent5"/>
          </a:solidFill>
          <a:ln w="12700">
            <a:solidFill>
              <a:schemeClr val="accent5"/>
            </a:solidFill>
            <a:prstDash val="solid"/>
          </a:ln>
        </p:spPr>
      </p:sp>
      <p:sp>
        <p:nvSpPr>
          <p:cNvPr id="6" name="phase 1 label"/>
          <p:cNvSpPr txBox="1"/>
          <p:nvPr/>
        </p:nvSpPr>
        <p:spPr>
          <a:xfrm>
            <a:off x="731520" y="1938528"/>
            <a:ext cx="6766560" cy="347472"/>
          </a:xfrm>
          <a:prstGeom prst="rect">
            <a:avLst/>
          </a:prstGeom>
          <a:noFill/>
          <a:ln/>
        </p:spPr>
        <p:txBody>
          <a:bodyPr wrap="square" lIns="0" tIns="0" rIns="0" bIns="0" rtlCol="0" anchor="ctr"/>
          <a:lstStyle/>
          <a:p>
            <a:pPr indent="0" marL="0">
              <a:buNone/>
            </a:pPr>
            <a:r>
              <a:rPr lang="en-US" sz="1300" b="1" dirty="0">
                <a:solidFill>
                  <a:schemeClr val="accent1"/>
                </a:solidFill>
              </a:rPr>
              <a:t>Before driving: from the exploration photos only, before connecting (no steps)</a:t>
            </a:r>
            <a:endParaRPr lang="en-US" sz="1300" dirty="0"/>
          </a:p>
        </p:txBody>
      </p:sp>
      <p:sp>
        <p:nvSpPr>
          <p:cNvPr id="7" name="before step 1 circle"/>
          <p:cNvSpPr/>
          <p:nvPr/>
        </p:nvSpPr>
        <p:spPr>
          <a:xfrm>
            <a:off x="548640" y="2395728"/>
            <a:ext cx="292608" cy="292608"/>
          </a:xfrm>
          <a:prstGeom prst="ellipse">
            <a:avLst/>
          </a:prstGeom>
          <a:solidFill>
            <a:schemeClr val="accent1"/>
          </a:solidFill>
          <a:ln w="12700">
            <a:solidFill>
              <a:schemeClr val="accent1"/>
            </a:solidFill>
            <a:prstDash val="solid"/>
          </a:ln>
        </p:spPr>
      </p:sp>
      <p:sp>
        <p:nvSpPr>
          <p:cNvPr id="8" name="before step 1 number"/>
          <p:cNvSpPr txBox="1"/>
          <p:nvPr/>
        </p:nvSpPr>
        <p:spPr>
          <a:xfrm>
            <a:off x="548640" y="239572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before step 1 text"/>
          <p:cNvSpPr txBox="1"/>
          <p:nvPr/>
        </p:nvSpPr>
        <p:spPr>
          <a:xfrm>
            <a:off x="978408" y="2377440"/>
            <a:ext cx="6702552" cy="435864"/>
          </a:xfrm>
          <a:prstGeom prst="rect">
            <a:avLst/>
          </a:prstGeom>
          <a:noFill/>
          <a:ln/>
        </p:spPr>
        <p:txBody>
          <a:bodyPr wrap="square" lIns="0" tIns="0" rIns="0" bIns="0" rtlCol="0" anchor="t"/>
          <a:lstStyle/>
          <a:p>
            <a:pPr indent="0" marL="0">
              <a:buNone/>
            </a:pPr>
            <a:r>
              <a:rPr lang="en-US" sz="1250" b="1" dirty="0">
                <a:solidFill>
                  <a:schemeClr val="tx1"/>
                </a:solidFill>
              </a:rPr>
              <a:t>Photo map </a:t>
            </a:r>
            <a:pPr indent="0" marL="0">
              <a:buNone/>
            </a:pPr>
            <a:r>
              <a:rPr lang="en-US" sz="1250" i="1" dirty="0">
                <a:solidFill>
                  <a:schemeClr val="accent1"/>
                </a:solidFill>
              </a:rPr>
              <a:t>(SPTM’s memory graph). </a:t>
            </a:r>
            <a:pPr indent="0" marL="0">
              <a:buNone/>
            </a:pPr>
            <a:r>
              <a:rPr lang="en-US" sz="1250" dirty="0">
                <a:solidFill>
                  <a:schemeClr val="tx2"/>
                </a:solidFill>
              </a:rPr>
              <a:t>Every exploration photo becomes a node; photos taken one after another on a drive are linked, because the robot drove from one to the next.</a:t>
            </a:r>
            <a:endParaRPr lang="en-US" sz="1250" dirty="0"/>
          </a:p>
        </p:txBody>
      </p:sp>
      <p:sp>
        <p:nvSpPr>
          <p:cNvPr id="10" name="before step 2 circle"/>
          <p:cNvSpPr/>
          <p:nvPr/>
        </p:nvSpPr>
        <p:spPr>
          <a:xfrm>
            <a:off x="548640" y="2941320"/>
            <a:ext cx="292608" cy="292608"/>
          </a:xfrm>
          <a:prstGeom prst="ellipse">
            <a:avLst/>
          </a:prstGeom>
          <a:solidFill>
            <a:schemeClr val="accent1"/>
          </a:solidFill>
          <a:ln w="12700">
            <a:solidFill>
              <a:schemeClr val="accent1"/>
            </a:solidFill>
            <a:prstDash val="solid"/>
          </a:ln>
        </p:spPr>
      </p:sp>
      <p:sp>
        <p:nvSpPr>
          <p:cNvPr id="11" name="before step 2 number"/>
          <p:cNvSpPr txBox="1"/>
          <p:nvPr/>
        </p:nvSpPr>
        <p:spPr>
          <a:xfrm>
            <a:off x="548640" y="29413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before step 2 text"/>
          <p:cNvSpPr txBox="1"/>
          <p:nvPr/>
        </p:nvSpPr>
        <p:spPr>
          <a:xfrm>
            <a:off x="978408" y="2923032"/>
            <a:ext cx="6702552" cy="1007364"/>
          </a:xfrm>
          <a:prstGeom prst="rect">
            <a:avLst/>
          </a:prstGeom>
          <a:noFill/>
          <a:ln/>
        </p:spPr>
        <p:txBody>
          <a:bodyPr wrap="square" lIns="0" tIns="0" rIns="0" bIns="0" rtlCol="0" anchor="t"/>
          <a:lstStyle/>
          <a:p>
            <a:pPr indent="0" marL="0">
              <a:buNone/>
            </a:pPr>
            <a:r>
              <a:rPr lang="en-US" sz="1250" b="1" dirty="0">
                <a:solidFill>
                  <a:schemeClr val="tx1"/>
                </a:solidFill>
              </a:rPr>
              <a:t>Shortcuts where the drives meet </a:t>
            </a:r>
            <a:pPr indent="0" marL="0">
              <a:buNone/>
            </a:pPr>
            <a:r>
              <a:rPr lang="en-US" sz="1250" i="1" dirty="0">
                <a:solidFill>
                  <a:schemeClr val="accent1"/>
                </a:solidFill>
              </a:rPr>
              <a:t>(SPTM; SuperGlue check added). </a:t>
            </a:r>
            <a:pPr indent="0" marL="0">
              <a:buNone/>
            </a:pPr>
            <a:r>
              <a:rPr lang="en-US" sz="1250" dirty="0">
                <a:solidFill>
                  <a:schemeClr val="tx2"/>
                </a:solidFill>
              </a:rPr>
              <a:t>AnyLoc (DINOv2 features + VLAD) compares every photo with photos taken at other times and proposes pairs that look like the same place. SuperGlue matches keypoints between the two photos, and a pair is kept only if the matches fit one camera motion (RANSAC) for 8 or more pairs in a row (a look-alike wall usually matches for only 1 to 3). Each kept pair becomes a shortcut.</a:t>
            </a:r>
            <a:endParaRPr lang="en-US" sz="1250" dirty="0"/>
          </a:p>
        </p:txBody>
      </p:sp>
      <p:sp>
        <p:nvSpPr>
          <p:cNvPr id="13" name="before step 3 circle"/>
          <p:cNvSpPr/>
          <p:nvPr/>
        </p:nvSpPr>
        <p:spPr>
          <a:xfrm>
            <a:off x="548640" y="4058412"/>
            <a:ext cx="292608" cy="292608"/>
          </a:xfrm>
          <a:prstGeom prst="ellipse">
            <a:avLst/>
          </a:prstGeom>
          <a:solidFill>
            <a:schemeClr val="accent1"/>
          </a:solidFill>
          <a:ln w="12700">
            <a:solidFill>
              <a:schemeClr val="accent1"/>
            </a:solidFill>
            <a:prstDash val="solid"/>
          </a:ln>
        </p:spPr>
      </p:sp>
      <p:sp>
        <p:nvSpPr>
          <p:cNvPr id="14" name="before step 3 number"/>
          <p:cNvSpPr txBox="1"/>
          <p:nvPr/>
        </p:nvSpPr>
        <p:spPr>
          <a:xfrm>
            <a:off x="548640" y="40584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before step 3 text"/>
          <p:cNvSpPr txBox="1"/>
          <p:nvPr/>
        </p:nvSpPr>
        <p:spPr>
          <a:xfrm>
            <a:off x="978408" y="4040124"/>
            <a:ext cx="6702552" cy="626364"/>
          </a:xfrm>
          <a:prstGeom prst="rect">
            <a:avLst/>
          </a:prstGeom>
          <a:noFill/>
          <a:ln/>
        </p:spPr>
        <p:txBody>
          <a:bodyPr wrap="square" lIns="0" tIns="0" rIns="0" bIns="0" rtlCol="0" anchor="t"/>
          <a:lstStyle/>
          <a:p>
            <a:pPr indent="0" marL="0">
              <a:buNone/>
            </a:pPr>
            <a:r>
              <a:rPr lang="en-US" sz="1250" b="1" dirty="0">
                <a:solidFill>
                  <a:schemeClr val="tx1"/>
                </a:solidFill>
              </a:rPr>
              <a:t>Distances </a:t>
            </a:r>
            <a:pPr indent="0" marL="0">
              <a:buNone/>
            </a:pPr>
            <a:r>
              <a:rPr lang="en-US" sz="1250" i="1" dirty="0">
                <a:solidFill>
                  <a:schemeClr val="accent1"/>
                </a:solidFill>
              </a:rPr>
              <a:t>(added). </a:t>
            </a:r>
            <a:pPr indent="0" marL="0">
              <a:buNone/>
            </a:pPr>
            <a:r>
              <a:rPr lang="en-US" sz="1250" dirty="0">
                <a:solidFill>
                  <a:schemeClr val="tx2"/>
                </a:solidFill>
              </a:rPr>
              <a:t>Lines on the walls give a compass direction, SuperGlue gives the turn between neighbouring photos, and the shortcuts close the loops. This places every photo in metres, so each link costs its steps.</a:t>
            </a:r>
            <a:endParaRPr lang="en-US" sz="1250" dirty="0"/>
          </a:p>
        </p:txBody>
      </p:sp>
      <p:sp>
        <p:nvSpPr>
          <p:cNvPr id="16" name="phase 2 label pill"/>
          <p:cNvSpPr/>
          <p:nvPr/>
        </p:nvSpPr>
        <p:spPr>
          <a:xfrm>
            <a:off x="548640" y="4831080"/>
            <a:ext cx="7132320" cy="347472"/>
          </a:xfrm>
          <a:prstGeom prst="roundRect">
            <a:avLst>
              <a:gd name="adj" fmla="val 50000"/>
            </a:avLst>
          </a:prstGeom>
          <a:solidFill>
            <a:schemeClr val="accent5"/>
          </a:solidFill>
          <a:ln w="12700">
            <a:solidFill>
              <a:schemeClr val="accent5"/>
            </a:solidFill>
            <a:prstDash val="solid"/>
          </a:ln>
        </p:spPr>
      </p:sp>
      <p:sp>
        <p:nvSpPr>
          <p:cNvPr id="17" name="phase 2 label"/>
          <p:cNvSpPr txBox="1"/>
          <p:nvPr/>
        </p:nvSpPr>
        <p:spPr>
          <a:xfrm>
            <a:off x="731520" y="4831080"/>
            <a:ext cx="6766560" cy="347472"/>
          </a:xfrm>
          <a:prstGeom prst="rect">
            <a:avLst/>
          </a:prstGeom>
          <a:noFill/>
          <a:ln/>
        </p:spPr>
        <p:txBody>
          <a:bodyPr wrap="square" lIns="0" tIns="0" rIns="0" bIns="0" rtlCol="0" anchor="ctr"/>
          <a:lstStyle/>
          <a:p>
            <a:pPr indent="0" marL="0">
              <a:buNone/>
            </a:pPr>
            <a:r>
              <a:rPr lang="en-US" sz="1300" b="1" dirty="0">
                <a:solidFill>
                  <a:schemeClr val="accent1"/>
                </a:solidFill>
              </a:rPr>
              <a:t>When it starts: the four goal photos arrive with the session (still no steps)</a:t>
            </a:r>
            <a:endParaRPr lang="en-US" sz="1300" dirty="0"/>
          </a:p>
        </p:txBody>
      </p:sp>
      <p:sp>
        <p:nvSpPr>
          <p:cNvPr id="18" name="start step 1 circle"/>
          <p:cNvSpPr/>
          <p:nvPr/>
        </p:nvSpPr>
        <p:spPr>
          <a:xfrm>
            <a:off x="548640" y="5288280"/>
            <a:ext cx="292608" cy="292608"/>
          </a:xfrm>
          <a:prstGeom prst="ellipse">
            <a:avLst/>
          </a:prstGeom>
          <a:solidFill>
            <a:schemeClr val="accent1"/>
          </a:solidFill>
          <a:ln w="12700">
            <a:solidFill>
              <a:schemeClr val="accent1"/>
            </a:solidFill>
            <a:prstDash val="solid"/>
          </a:ln>
        </p:spPr>
      </p:sp>
      <p:sp>
        <p:nvSpPr>
          <p:cNvPr id="19" name="start step 1 number"/>
          <p:cNvSpPr txBox="1"/>
          <p:nvPr/>
        </p:nvSpPr>
        <p:spPr>
          <a:xfrm>
            <a:off x="548640" y="528828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start step 1 text"/>
          <p:cNvSpPr txBox="1"/>
          <p:nvPr/>
        </p:nvSpPr>
        <p:spPr>
          <a:xfrm>
            <a:off x="978408" y="5269992"/>
            <a:ext cx="6702552" cy="626364"/>
          </a:xfrm>
          <a:prstGeom prst="rect">
            <a:avLst/>
          </a:prstGeom>
          <a:noFill/>
          <a:ln/>
        </p:spPr>
        <p:txBody>
          <a:bodyPr wrap="square" lIns="0" tIns="0" rIns="0" bIns="0" rtlCol="0" anchor="t"/>
          <a:lstStyle/>
          <a:p>
            <a:pPr indent="0" marL="0">
              <a:buNone/>
            </a:pPr>
            <a:r>
              <a:rPr lang="en-US" sz="1250" b="1" dirty="0">
                <a:solidFill>
                  <a:schemeClr val="tx1"/>
                </a:solidFill>
              </a:rPr>
              <a:t>The goal node </a:t>
            </a:r>
            <a:pPr indent="0" marL="0">
              <a:buNone/>
            </a:pPr>
            <a:r>
              <a:rPr lang="en-US" sz="1250" i="1" dirty="0">
                <a:solidFill>
                  <a:schemeClr val="accent1"/>
                </a:solidFill>
              </a:rPr>
              <a:t>(SPTM; 64-candidate check added). </a:t>
            </a:r>
            <a:pPr indent="0" marL="0">
              <a:buNone/>
            </a:pPr>
            <a:r>
              <a:rPr lang="en-US" sz="1250" dirty="0">
                <a:solidFill>
                  <a:schemeClr val="tx2"/>
                </a:solidFill>
              </a:rPr>
              <a:t>Each goal photo is compared with the 64 exploration photos AnyLoc finds most similar; the one with the most SuperGlue matches becomes the goal node. This was right in 12 of our 13 test mazes, against 9 with only 6 candidates.</a:t>
            </a:r>
            <a:endParaRPr lang="en-US" sz="1250" dirty="0"/>
          </a:p>
        </p:txBody>
      </p:sp>
      <p:sp>
        <p:nvSpPr>
          <p:cNvPr id="21" name="start step 2 circle"/>
          <p:cNvSpPr/>
          <p:nvPr/>
        </p:nvSpPr>
        <p:spPr>
          <a:xfrm>
            <a:off x="548640" y="6024372"/>
            <a:ext cx="292608" cy="292608"/>
          </a:xfrm>
          <a:prstGeom prst="ellipse">
            <a:avLst/>
          </a:prstGeom>
          <a:solidFill>
            <a:schemeClr val="accent1"/>
          </a:solidFill>
          <a:ln w="12700">
            <a:solidFill>
              <a:schemeClr val="accent1"/>
            </a:solidFill>
            <a:prstDash val="solid"/>
          </a:ln>
        </p:spPr>
      </p:sp>
      <p:sp>
        <p:nvSpPr>
          <p:cNvPr id="22" name="start step 2 number"/>
          <p:cNvSpPr txBox="1"/>
          <p:nvPr/>
        </p:nvSpPr>
        <p:spPr>
          <a:xfrm>
            <a:off x="548640" y="602437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3" name="start step 2 text"/>
          <p:cNvSpPr txBox="1"/>
          <p:nvPr/>
        </p:nvSpPr>
        <p:spPr>
          <a:xfrm>
            <a:off x="978408" y="6006084"/>
            <a:ext cx="6702552" cy="245364"/>
          </a:xfrm>
          <a:prstGeom prst="rect">
            <a:avLst/>
          </a:prstGeom>
          <a:noFill/>
          <a:ln/>
        </p:spPr>
        <p:txBody>
          <a:bodyPr wrap="square" lIns="0" tIns="0" rIns="0" bIns="0" rtlCol="0" anchor="t"/>
          <a:lstStyle/>
          <a:p>
            <a:pPr indent="0" marL="0">
              <a:buNone/>
            </a:pPr>
            <a:r>
              <a:rPr lang="en-US" sz="1250" b="1" dirty="0">
                <a:solidFill>
                  <a:schemeClr val="tx1"/>
                </a:solidFill>
              </a:rPr>
              <a:t>The route </a:t>
            </a:r>
            <a:pPr indent="0" marL="0">
              <a:buNone/>
            </a:pPr>
            <a:r>
              <a:rPr lang="en-US" sz="1250" i="1" dirty="0">
                <a:solidFill>
                  <a:schemeClr val="accent1"/>
                </a:solidFill>
              </a:rPr>
              <a:t>(SPTM). </a:t>
            </a:r>
            <a:pPr indent="0" marL="0">
              <a:buNone/>
            </a:pPr>
            <a:r>
              <a:rPr lang="en-US" sz="1250" dirty="0">
                <a:solidFill>
                  <a:schemeClr val="tx2"/>
                </a:solidFill>
              </a:rPr>
              <a:t>Dijkstra finds the cheapest route, in steps, from every photo to the goal node.</a:t>
            </a:r>
            <a:endParaRPr lang="en-US" sz="1250" dirty="0"/>
          </a:p>
        </p:txBody>
      </p:sp>
      <p:pic>
        <p:nvPicPr>
          <p:cNvPr id="24" name="photo map figure" descr="Local test maze 25 with its walls, the three exploration drives at their true positions in blue, green and purple, and the shortcut links the robot found between photos of one place in orange">    </p:cNvPr>
          <p:cNvPicPr>
            <a:picLocks noChangeAspect="1"/>
          </p:cNvPicPr>
          <p:nvPr/>
        </p:nvPicPr>
        <p:blipFill>
          <a:blip r:embed="rId1"/>
          <a:stretch>
            <a:fillRect/>
          </a:stretch>
        </p:blipFill>
        <p:spPr>
          <a:xfrm>
            <a:off x="8229600" y="1371600"/>
            <a:ext cx="2514600" cy="2514600"/>
          </a:xfrm>
          <a:prstGeom prst="rect">
            <a:avLst/>
          </a:prstGeom>
        </p:spPr>
      </p:pic>
      <p:sp>
        <p:nvSpPr>
          <p:cNvPr id="25" name="photo map caption"/>
          <p:cNvSpPr txBox="1"/>
          <p:nvPr/>
        </p:nvSpPr>
        <p:spPr>
          <a:xfrm>
            <a:off x="8229600" y="3941064"/>
            <a:ext cx="3429000" cy="566928"/>
          </a:xfrm>
          <a:prstGeom prst="rect">
            <a:avLst/>
          </a:prstGeom>
          <a:noFill/>
          <a:ln/>
        </p:spPr>
        <p:txBody>
          <a:bodyPr wrap="square" lIns="0" tIns="0" rIns="0" bIns="0" rtlCol="0" anchor="t"/>
          <a:lstStyle/>
          <a:p>
            <a:pPr indent="0" marL="0">
              <a:buNone/>
            </a:pPr>
            <a:r>
              <a:rPr lang="en-US" sz="1000" b="1" dirty="0">
                <a:solidFill>
                  <a:schemeClr val="tx1"/>
                </a:solidFill>
              </a:rPr>
              <a:t>Steps 1–2 on local test maze 25. </a:t>
            </a:r>
            <a:pPr indent="0" marL="0">
              <a:buNone/>
            </a:pPr>
            <a:r>
              <a:rPr lang="en-US" sz="1000" dirty="0">
                <a:solidFill>
                  <a:schemeClr val="tx2"/>
                </a:solidFill>
              </a:rPr>
              <a:t>The three drives (blue, green, purple) and the 480 shortcut links the robot found (orange): 466 of them (97%) join photos in the same corridor.</a:t>
            </a:r>
            <a:endParaRPr lang="en-US" sz="1000" dirty="0"/>
          </a:p>
        </p:txBody>
      </p:sp>
      <p:pic>
        <p:nvPicPr>
          <p:cNvPr id="26" name="goal example 1" descr="Local maze 25: the goal photo it is given">    </p:cNvPr>
          <p:cNvPicPr>
            <a:picLocks noChangeAspect="1"/>
          </p:cNvPicPr>
          <p:nvPr/>
        </p:nvPicPr>
        <p:blipFill>
          <a:blip r:embed="rId2"/>
          <a:stretch>
            <a:fillRect/>
          </a:stretch>
        </p:blipFill>
        <p:spPr>
          <a:xfrm>
            <a:off x="8229600" y="4572000"/>
            <a:ext cx="1677924" cy="1258443"/>
          </a:xfrm>
          <a:prstGeom prst="rect">
            <a:avLst/>
          </a:prstGeom>
        </p:spPr>
      </p:pic>
      <p:pic>
        <p:nvPicPr>
          <p:cNvPr id="27" name="goal example 2" descr="Local maze 25: the exploration photo it picks as the goal">    </p:cNvPr>
          <p:cNvPicPr>
            <a:picLocks noChangeAspect="1"/>
          </p:cNvPicPr>
          <p:nvPr/>
        </p:nvPicPr>
        <p:blipFill>
          <a:blip r:embed="rId3"/>
          <a:stretch>
            <a:fillRect/>
          </a:stretch>
        </p:blipFill>
        <p:spPr>
          <a:xfrm>
            <a:off x="9980676" y="4572000"/>
            <a:ext cx="1677924" cy="1258443"/>
          </a:xfrm>
          <a:prstGeom prst="rect">
            <a:avLst/>
          </a:prstGeom>
        </p:spPr>
      </p:pic>
      <p:sp>
        <p:nvSpPr>
          <p:cNvPr id="28" name="goal example caption"/>
          <p:cNvSpPr txBox="1"/>
          <p:nvPr/>
        </p:nvSpPr>
        <p:spPr>
          <a:xfrm>
            <a:off x="8229600" y="5885307"/>
            <a:ext cx="3429000" cy="411480"/>
          </a:xfrm>
          <a:prstGeom prst="rect">
            <a:avLst/>
          </a:prstGeom>
          <a:noFill/>
          <a:ln/>
        </p:spPr>
        <p:txBody>
          <a:bodyPr wrap="square" lIns="0" tIns="0" rIns="0" bIns="0" rtlCol="0" anchor="t"/>
          <a:lstStyle/>
          <a:p>
            <a:pPr indent="0" marL="0">
              <a:buNone/>
            </a:pPr>
            <a:r>
              <a:rPr lang="en-US" sz="1000" b="1" dirty="0">
                <a:solidFill>
                  <a:schemeClr val="tx1"/>
                </a:solidFill>
              </a:rPr>
              <a:t>Step 4. </a:t>
            </a:r>
            <a:pPr indent="0" marL="0">
              <a:buNone/>
            </a:pPr>
            <a:r>
              <a:rPr lang="en-US" sz="1000" dirty="0">
                <a:solidFill>
                  <a:schemeClr val="tx2"/>
                </a:solidFill>
              </a:rPr>
              <a:t>The goal photo it is given (left) and the exploration photo it picks as the goal node (right).</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74320"/>
            <a:ext cx="1106424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METHOD  ·  2 OF 2</a:t>
            </a:r>
            <a:endParaRPr lang="en-US" sz="1100" dirty="0"/>
          </a:p>
        </p:txBody>
      </p:sp>
      <p:sp>
        <p:nvSpPr>
          <p:cNvPr id="3" name="Text 0"/>
          <p:cNvSpPr/>
          <p:nvPr>
            <p:ph idx="100" type="title" hasCustomPrompt="1"/>
          </p:nvPr>
        </p:nvSpPr>
        <p:spPr>
          <a:xfrm>
            <a:off x="548640" y="548640"/>
            <a:ext cx="11064240" cy="658368"/>
          </a:xfrm>
          <a:prstGeom prst="rect">
            <a:avLst/>
          </a:prstGeom>
          <a:noFill/>
          <a:ln/>
        </p:spPr>
        <p:txBody>
          <a:bodyPr wrap="square" lIns="0" tIns="0" rIns="0" bIns="0" rtlCol="0" anchor="ctr"/>
          <a:lstStyle/>
          <a:p>
            <a:pPr algn="l" indent="0" marL="0">
              <a:buNone/>
            </a:pPr>
            <a:r>
              <a:rPr lang="en-US" sz="3000" b="1" dirty="0">
                <a:solidFill>
                  <a:schemeClr val="tx1"/>
                </a:solidFill>
              </a:rPr>
              <a:t>Method (2/2): during the drive</a:t>
            </a:r>
            <a:endParaRPr lang="en-US" sz="3000" dirty="0"/>
          </a:p>
        </p:txBody>
      </p:sp>
      <p:sp>
        <p:nvSpPr>
          <p:cNvPr id="4" name="phase 3 label pill"/>
          <p:cNvSpPr/>
          <p:nvPr/>
        </p:nvSpPr>
        <p:spPr>
          <a:xfrm>
            <a:off x="548640" y="1371600"/>
            <a:ext cx="7315200" cy="347472"/>
          </a:xfrm>
          <a:prstGeom prst="roundRect">
            <a:avLst>
              <a:gd name="adj" fmla="val 50000"/>
            </a:avLst>
          </a:prstGeom>
          <a:solidFill>
            <a:schemeClr val="accent6"/>
          </a:solidFill>
          <a:ln w="12700">
            <a:solidFill>
              <a:schemeClr val="accent6"/>
            </a:solidFill>
            <a:prstDash val="solid"/>
          </a:ln>
        </p:spPr>
      </p:sp>
      <p:sp>
        <p:nvSpPr>
          <p:cNvPr id="5" name="phase 3 label"/>
          <p:cNvSpPr txBox="1"/>
          <p:nvPr/>
        </p:nvSpPr>
        <p:spPr>
          <a:xfrm>
            <a:off x="731520" y="1371600"/>
            <a:ext cx="6949440" cy="347472"/>
          </a:xfrm>
          <a:prstGeom prst="rect">
            <a:avLst/>
          </a:prstGeom>
          <a:noFill/>
          <a:ln/>
        </p:spPr>
        <p:txBody>
          <a:bodyPr wrap="square" lIns="0" tIns="0" rIns="0" bIns="0" rtlCol="0" anchor="ctr"/>
          <a:lstStyle/>
          <a:p>
            <a:pPr indent="0" marL="0">
              <a:buNone/>
            </a:pPr>
            <a:r>
              <a:rPr lang="en-US" sz="1300" b="1" dirty="0">
                <a:solidFill>
                  <a:schemeClr val="accent2"/>
                </a:solidFill>
              </a:rPr>
              <a:t>During the drive: these steps repeat for every move until it checks in</a:t>
            </a:r>
            <a:endParaRPr lang="en-US" sz="1300" dirty="0"/>
          </a:p>
        </p:txBody>
      </p:sp>
      <p:sp>
        <p:nvSpPr>
          <p:cNvPr id="6" name="drive step 1 circle"/>
          <p:cNvSpPr/>
          <p:nvPr/>
        </p:nvSpPr>
        <p:spPr>
          <a:xfrm>
            <a:off x="548640" y="1874520"/>
            <a:ext cx="292608" cy="292608"/>
          </a:xfrm>
          <a:prstGeom prst="ellipse">
            <a:avLst/>
          </a:prstGeom>
          <a:solidFill>
            <a:schemeClr val="accent2"/>
          </a:solidFill>
          <a:ln w="12700">
            <a:solidFill>
              <a:schemeClr val="accent2"/>
            </a:solidFill>
            <a:prstDash val="solid"/>
          </a:ln>
        </p:spPr>
      </p:sp>
      <p:sp>
        <p:nvSpPr>
          <p:cNvPr id="7" name="drive step 1 number"/>
          <p:cNvSpPr txBox="1"/>
          <p:nvPr/>
        </p:nvSpPr>
        <p:spPr>
          <a:xfrm>
            <a:off x="548640" y="18745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drive step 1 text"/>
          <p:cNvSpPr txBox="1"/>
          <p:nvPr/>
        </p:nvSpPr>
        <p:spPr>
          <a:xfrm>
            <a:off x="978408" y="1856232"/>
            <a:ext cx="6885432" cy="649224"/>
          </a:xfrm>
          <a:prstGeom prst="rect">
            <a:avLst/>
          </a:prstGeom>
          <a:noFill/>
          <a:ln/>
        </p:spPr>
        <p:txBody>
          <a:bodyPr wrap="square" lIns="0" tIns="0" rIns="0" bIns="0" rtlCol="0" anchor="t"/>
          <a:lstStyle/>
          <a:p>
            <a:pPr indent="0" marL="0">
              <a:buNone/>
            </a:pPr>
            <a:r>
              <a:rPr lang="en-US" sz="1300" b="1" dirty="0">
                <a:solidFill>
                  <a:schemeClr val="tx1"/>
                </a:solidFill>
              </a:rPr>
              <a:t>Where am I? </a:t>
            </a:r>
            <a:pPr indent="0" marL="0">
              <a:buNone/>
            </a:pPr>
            <a:r>
              <a:rPr lang="en-US" sz="1300" i="1" dirty="0">
                <a:solidFill>
                  <a:schemeClr val="accent2"/>
                </a:solidFill>
              </a:rPr>
              <a:t>(SPTM localisation; AnyLoc replaces SPTM’s R network). </a:t>
            </a:r>
            <a:pPr indent="0" marL="0">
              <a:buNone/>
            </a:pPr>
            <a:r>
              <a:rPr lang="en-US" sz="1300" dirty="0">
                <a:solidFill>
                  <a:schemeClr val="tx2"/>
                </a:solidFill>
              </a:rPr>
              <a:t>It finds the exploration photo that looks most like the camera image, searching near its last position first. A jump to a far part of the map needs 3 images in a row that agree and a SuperGlue check.</a:t>
            </a:r>
            <a:endParaRPr lang="en-US" sz="1300" dirty="0"/>
          </a:p>
        </p:txBody>
      </p:sp>
      <p:sp>
        <p:nvSpPr>
          <p:cNvPr id="9" name="drive step 2 circle"/>
          <p:cNvSpPr/>
          <p:nvPr/>
        </p:nvSpPr>
        <p:spPr>
          <a:xfrm>
            <a:off x="548640" y="2642616"/>
            <a:ext cx="292608" cy="292608"/>
          </a:xfrm>
          <a:prstGeom prst="ellipse">
            <a:avLst/>
          </a:prstGeom>
          <a:solidFill>
            <a:schemeClr val="accent2"/>
          </a:solidFill>
          <a:ln w="12700">
            <a:solidFill>
              <a:schemeClr val="accent2"/>
            </a:solidFill>
            <a:prstDash val="solid"/>
          </a:ln>
        </p:spPr>
      </p:sp>
      <p:sp>
        <p:nvSpPr>
          <p:cNvPr id="10" name="drive step 2 number"/>
          <p:cNvSpPr txBox="1"/>
          <p:nvPr/>
        </p:nvSpPr>
        <p:spPr>
          <a:xfrm>
            <a:off x="548640" y="26426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drive step 2 text"/>
          <p:cNvSpPr txBox="1"/>
          <p:nvPr/>
        </p:nvSpPr>
        <p:spPr>
          <a:xfrm>
            <a:off x="978408" y="2624328"/>
            <a:ext cx="6885432" cy="451104"/>
          </a:xfrm>
          <a:prstGeom prst="rect">
            <a:avLst/>
          </a:prstGeom>
          <a:noFill/>
          <a:ln/>
        </p:spPr>
        <p:txBody>
          <a:bodyPr wrap="square" lIns="0" tIns="0" rIns="0" bIns="0" rtlCol="0" anchor="t"/>
          <a:lstStyle/>
          <a:p>
            <a:pPr indent="0" marL="0">
              <a:buNone/>
            </a:pPr>
            <a:r>
              <a:rPr lang="en-US" sz="1300" b="1" dirty="0">
                <a:solidFill>
                  <a:schemeClr val="tx1"/>
                </a:solidFill>
              </a:rPr>
              <a:t>Where next? </a:t>
            </a:r>
            <a:pPr indent="0" marL="0">
              <a:buNone/>
            </a:pPr>
            <a:r>
              <a:rPr lang="en-US" sz="1300" i="1" dirty="0">
                <a:solidFill>
                  <a:schemeClr val="accent2"/>
                </a:solidFill>
              </a:rPr>
              <a:t>(SPTM waypoint). </a:t>
            </a:r>
            <a:pPr indent="0" marL="0">
              <a:buNone/>
            </a:pPr>
            <a:r>
              <a:rPr lang="en-US" sz="1300" dirty="0">
                <a:solidFill>
                  <a:schemeClr val="tx2"/>
                </a:solidFill>
              </a:rPr>
              <a:t>It picks, as its waypoint, the furthest photo ahead on its route that still looks reachable from the current view.</a:t>
            </a:r>
            <a:endParaRPr lang="en-US" sz="1300" dirty="0"/>
          </a:p>
        </p:txBody>
      </p:sp>
      <p:sp>
        <p:nvSpPr>
          <p:cNvPr id="12" name="drive step 3 circle"/>
          <p:cNvSpPr/>
          <p:nvPr/>
        </p:nvSpPr>
        <p:spPr>
          <a:xfrm>
            <a:off x="548640" y="3212592"/>
            <a:ext cx="292608" cy="292608"/>
          </a:xfrm>
          <a:prstGeom prst="ellipse">
            <a:avLst/>
          </a:prstGeom>
          <a:solidFill>
            <a:schemeClr val="accent2"/>
          </a:solidFill>
          <a:ln w="12700">
            <a:solidFill>
              <a:schemeClr val="accent2"/>
            </a:solidFill>
            <a:prstDash val="solid"/>
          </a:ln>
        </p:spPr>
      </p:sp>
      <p:sp>
        <p:nvSpPr>
          <p:cNvPr id="13" name="drive step 3 number"/>
          <p:cNvSpPr txBox="1"/>
          <p:nvPr/>
        </p:nvSpPr>
        <p:spPr>
          <a:xfrm>
            <a:off x="548640" y="321259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drive step 3 text"/>
          <p:cNvSpPr txBox="1"/>
          <p:nvPr/>
        </p:nvSpPr>
        <p:spPr>
          <a:xfrm>
            <a:off x="978408" y="3194304"/>
            <a:ext cx="6885432" cy="847344"/>
          </a:xfrm>
          <a:prstGeom prst="rect">
            <a:avLst/>
          </a:prstGeom>
          <a:noFill/>
          <a:ln/>
        </p:spPr>
        <p:txBody>
          <a:bodyPr wrap="square" lIns="0" tIns="0" rIns="0" bIns="0" rtlCol="0" anchor="t"/>
          <a:lstStyle/>
          <a:p>
            <a:pPr indent="0" marL="0">
              <a:buNone/>
            </a:pPr>
            <a:r>
              <a:rPr lang="en-US" sz="1300" b="1" dirty="0">
                <a:solidFill>
                  <a:schemeClr val="tx1"/>
                </a:solidFill>
              </a:rPr>
              <a:t>Turn and drive </a:t>
            </a:r>
            <a:pPr indent="0" marL="0">
              <a:buNone/>
            </a:pPr>
            <a:r>
              <a:rPr lang="en-US" sz="1300" i="1" dirty="0">
                <a:solidFill>
                  <a:schemeClr val="accent2"/>
                </a:solidFill>
              </a:rPr>
              <a:t>(measured turn added; SPTM’s L network as fallback). </a:t>
            </a:r>
            <a:pPr indent="0" marL="0">
              <a:buNone/>
            </a:pPr>
            <a:r>
              <a:rPr lang="en-US" sz="1300" dirty="0">
                <a:solidFill>
                  <a:schemeClr val="tx2"/>
                </a:solidFill>
              </a:rPr>
              <a:t>SuperGlue matches the camera image with the waypoint photo and the essential matrix gives the angle; it turns by that angle, then drives forward. If the waypoint is out of view it turns to find it; if nothing matches, the L network picks the move.</a:t>
            </a:r>
            <a:endParaRPr lang="en-US" sz="1300" dirty="0"/>
          </a:p>
        </p:txBody>
      </p:sp>
      <p:sp>
        <p:nvSpPr>
          <p:cNvPr id="15" name="drive step 4 circle"/>
          <p:cNvSpPr/>
          <p:nvPr/>
        </p:nvSpPr>
        <p:spPr>
          <a:xfrm>
            <a:off x="548640" y="4178808"/>
            <a:ext cx="292608" cy="292608"/>
          </a:xfrm>
          <a:prstGeom prst="ellipse">
            <a:avLst/>
          </a:prstGeom>
          <a:solidFill>
            <a:schemeClr val="accent2"/>
          </a:solidFill>
          <a:ln w="12700">
            <a:solidFill>
              <a:schemeClr val="accent2"/>
            </a:solidFill>
            <a:prstDash val="solid"/>
          </a:ln>
        </p:spPr>
      </p:sp>
      <p:sp>
        <p:nvSpPr>
          <p:cNvPr id="16" name="drive step 4 number"/>
          <p:cNvSpPr txBox="1"/>
          <p:nvPr/>
        </p:nvSpPr>
        <p:spPr>
          <a:xfrm>
            <a:off x="548640" y="417880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drive step 4 text"/>
          <p:cNvSpPr txBox="1"/>
          <p:nvPr/>
        </p:nvSpPr>
        <p:spPr>
          <a:xfrm>
            <a:off x="978408" y="4160520"/>
            <a:ext cx="6885432" cy="451104"/>
          </a:xfrm>
          <a:prstGeom prst="rect">
            <a:avLst/>
          </a:prstGeom>
          <a:noFill/>
          <a:ln/>
        </p:spPr>
        <p:txBody>
          <a:bodyPr wrap="square" lIns="0" tIns="0" rIns="0" bIns="0" rtlCol="0" anchor="t"/>
          <a:lstStyle/>
          <a:p>
            <a:pPr indent="0" marL="0">
              <a:buNone/>
            </a:pPr>
            <a:r>
              <a:rPr lang="en-US" sz="1300" b="1" dirty="0">
                <a:solidFill>
                  <a:schemeClr val="tx1"/>
                </a:solidFill>
              </a:rPr>
              <a:t>Backing out </a:t>
            </a:r>
            <a:pPr indent="0" marL="0">
              <a:buNone/>
            </a:pPr>
            <a:r>
              <a:rPr lang="en-US" sz="1300" i="1" dirty="0">
                <a:solidFill>
                  <a:schemeClr val="accent2"/>
                </a:solidFill>
              </a:rPr>
              <a:t>(added). </a:t>
            </a:r>
            <a:pPr indent="0" marL="0">
              <a:buNone/>
            </a:pPr>
            <a:r>
              <a:rPr lang="en-US" sz="1300" dirty="0">
                <a:solidFill>
                  <a:schemeClr val="tx2"/>
                </a:solidFill>
              </a:rPr>
              <a:t>When the route runs back along a drive, for example out of a dead end, it undoes the recorded moves in reverse: a recorded left turn is undone by turning right.</a:t>
            </a:r>
            <a:endParaRPr lang="en-US" sz="1300" dirty="0"/>
          </a:p>
        </p:txBody>
      </p:sp>
      <p:sp>
        <p:nvSpPr>
          <p:cNvPr id="18" name="drive step 5 circle"/>
          <p:cNvSpPr/>
          <p:nvPr/>
        </p:nvSpPr>
        <p:spPr>
          <a:xfrm>
            <a:off x="548640" y="4748784"/>
            <a:ext cx="292608" cy="292608"/>
          </a:xfrm>
          <a:prstGeom prst="ellipse">
            <a:avLst/>
          </a:prstGeom>
          <a:solidFill>
            <a:schemeClr val="accent2"/>
          </a:solidFill>
          <a:ln w="12700">
            <a:solidFill>
              <a:schemeClr val="accent2"/>
            </a:solidFill>
            <a:prstDash val="solid"/>
          </a:ln>
        </p:spPr>
      </p:sp>
      <p:sp>
        <p:nvSpPr>
          <p:cNvPr id="19" name="drive step 5 number"/>
          <p:cNvSpPr txBox="1"/>
          <p:nvPr/>
        </p:nvSpPr>
        <p:spPr>
          <a:xfrm>
            <a:off x="548640" y="474878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drive step 5 text"/>
          <p:cNvSpPr txBox="1"/>
          <p:nvPr/>
        </p:nvSpPr>
        <p:spPr>
          <a:xfrm>
            <a:off x="978408" y="4730496"/>
            <a:ext cx="6885432" cy="649224"/>
          </a:xfrm>
          <a:prstGeom prst="rect">
            <a:avLst/>
          </a:prstGeom>
          <a:noFill/>
          <a:ln/>
        </p:spPr>
        <p:txBody>
          <a:bodyPr wrap="square" lIns="0" tIns="0" rIns="0" bIns="0" rtlCol="0" anchor="t"/>
          <a:lstStyle/>
          <a:p>
            <a:pPr indent="0" marL="0">
              <a:buNone/>
            </a:pPr>
            <a:r>
              <a:rPr lang="en-US" sz="1300" b="1" dirty="0">
                <a:solidFill>
                  <a:schemeClr val="tx1"/>
                </a:solidFill>
              </a:rPr>
              <a:t>When stuck </a:t>
            </a:r>
            <a:pPr indent="0" marL="0">
              <a:buNone/>
            </a:pPr>
            <a:r>
              <a:rPr lang="en-US" sz="1300" i="1" dirty="0">
                <a:solidFill>
                  <a:schemeClr val="accent2"/>
                </a:solidFill>
              </a:rPr>
              <a:t>(added). </a:t>
            </a:r>
            <a:pPr indent="0" marL="0">
              <a:buNone/>
            </a:pPr>
            <a:r>
              <a:rPr lang="en-US" sz="1300" dirty="0">
                <a:solidFill>
                  <a:schemeClr val="tx2"/>
                </a:solidFill>
              </a:rPr>
              <a:t>If it seems stuck on one photo for 3 moves, it checks the next 5 route photos with SuperGlue; after 150 steps without getting closer, that stretch costs more and the route is planned again.</a:t>
            </a:r>
            <a:endParaRPr lang="en-US" sz="1300" dirty="0"/>
          </a:p>
        </p:txBody>
      </p:sp>
      <p:sp>
        <p:nvSpPr>
          <p:cNvPr id="21" name="drive step 6 circle"/>
          <p:cNvSpPr/>
          <p:nvPr/>
        </p:nvSpPr>
        <p:spPr>
          <a:xfrm>
            <a:off x="548640" y="5516880"/>
            <a:ext cx="292608" cy="292608"/>
          </a:xfrm>
          <a:prstGeom prst="ellipse">
            <a:avLst/>
          </a:prstGeom>
          <a:solidFill>
            <a:schemeClr val="accent2"/>
          </a:solidFill>
          <a:ln w="12700">
            <a:solidFill>
              <a:schemeClr val="accent2"/>
            </a:solidFill>
            <a:prstDash val="solid"/>
          </a:ln>
        </p:spPr>
      </p:sp>
      <p:sp>
        <p:nvSpPr>
          <p:cNvPr id="22" name="drive step 6 number"/>
          <p:cNvSpPr txBox="1"/>
          <p:nvPr/>
        </p:nvSpPr>
        <p:spPr>
          <a:xfrm>
            <a:off x="548640" y="551688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drive step 6 text"/>
          <p:cNvSpPr txBox="1"/>
          <p:nvPr/>
        </p:nvSpPr>
        <p:spPr>
          <a:xfrm>
            <a:off x="978408" y="5498592"/>
            <a:ext cx="6885432" cy="847344"/>
          </a:xfrm>
          <a:prstGeom prst="rect">
            <a:avLst/>
          </a:prstGeom>
          <a:noFill/>
          <a:ln/>
        </p:spPr>
        <p:txBody>
          <a:bodyPr wrap="square" lIns="0" tIns="0" rIns="0" bIns="0" rtlCol="0" anchor="t"/>
          <a:lstStyle/>
          <a:p>
            <a:pPr indent="0" marL="0">
              <a:buNone/>
            </a:pPr>
            <a:r>
              <a:rPr lang="en-US" sz="1300" b="1" dirty="0">
                <a:solidFill>
                  <a:schemeClr val="tx1"/>
                </a:solidFill>
              </a:rPr>
              <a:t>The last metre </a:t>
            </a:r>
            <a:pPr indent="0" marL="0">
              <a:buNone/>
            </a:pPr>
            <a:r>
              <a:rPr lang="en-US" sz="1300" i="1" dirty="0">
                <a:solidFill>
                  <a:schemeClr val="accent2"/>
                </a:solidFill>
              </a:rPr>
              <a:t>(added). </a:t>
            </a:r>
            <a:pPr indent="0" marL="0">
              <a:buNone/>
            </a:pPr>
            <a:r>
              <a:rPr lang="en-US" sz="1300" dirty="0">
                <a:solidFill>
                  <a:schemeClr val="tx2"/>
                </a:solidFill>
              </a:rPr>
              <a:t>Within 3 photos of the goal it matches the camera image with the 4 goal photos, turns until the front photo lines up, moves until the scene looks the same size, and checks in after 3 readings in a row with 35+ matched points (correct check-ins had 43–122, wrong ones 21–25).</a:t>
            </a:r>
            <a:endParaRPr lang="en-US" sz="1300" dirty="0"/>
          </a:p>
        </p:txBody>
      </p:sp>
      <p:pic>
        <p:nvPicPr>
          <p:cNvPr id="24" name="turn example matches" descr="Two maze photos side by side with green lines joining 20 of the 73 keypoints SuperGlue matched between them">    </p:cNvPr>
          <p:cNvPicPr>
            <a:picLocks noChangeAspect="1"/>
          </p:cNvPicPr>
          <p:nvPr/>
        </p:nvPicPr>
        <p:blipFill>
          <a:blip r:embed="rId1"/>
          <a:stretch>
            <a:fillRect/>
          </a:stretch>
        </p:blipFill>
        <p:spPr>
          <a:xfrm>
            <a:off x="8092440" y="1417320"/>
            <a:ext cx="3566160" cy="924357"/>
          </a:xfrm>
          <a:prstGeom prst="rect">
            <a:avLst/>
          </a:prstGeom>
        </p:spPr>
      </p:pic>
      <p:sp>
        <p:nvSpPr>
          <p:cNvPr id="25" name="turn example caption"/>
          <p:cNvSpPr txBox="1"/>
          <p:nvPr/>
        </p:nvSpPr>
        <p:spPr>
          <a:xfrm>
            <a:off x="8092440" y="2414829"/>
            <a:ext cx="3566160" cy="731520"/>
          </a:xfrm>
          <a:prstGeom prst="rect">
            <a:avLst/>
          </a:prstGeom>
          <a:noFill/>
          <a:ln/>
        </p:spPr>
        <p:txBody>
          <a:bodyPr wrap="square" lIns="0" tIns="0" rIns="0" bIns="0" rtlCol="0" anchor="t"/>
          <a:lstStyle/>
          <a:p>
            <a:pPr indent="0" marL="0">
              <a:buNone/>
            </a:pPr>
            <a:r>
              <a:rPr lang="en-US" sz="1050" b="1" dirty="0">
                <a:solidFill>
                  <a:schemeClr val="tx1"/>
                </a:solidFill>
              </a:rPr>
              <a:t>Step 3, turn and drive. </a:t>
            </a:r>
            <a:pPr indent="0" marL="0">
              <a:buNone/>
            </a:pPr>
            <a:r>
              <a:rPr lang="en-US" sz="1050" dirty="0">
                <a:solidFill>
                  <a:schemeClr val="tx2"/>
                </a:solidFill>
              </a:rPr>
              <a:t>SuperGlue matches between a camera image (left) and a waypoint photo three photos further on (right). The essential matrix from these 73 matches gives the turn between them: 37°.</a:t>
            </a:r>
            <a:endParaRPr lang="en-US" sz="1050" dirty="0"/>
          </a:p>
        </p:txBody>
      </p:sp>
      <p:pic>
        <p:nvPicPr>
          <p:cNvPr id="26" name="last metre goal photo" descr="The goal photo the robot was given (front view)">    </p:cNvPr>
          <p:cNvPicPr>
            <a:picLocks noChangeAspect="1"/>
          </p:cNvPicPr>
          <p:nvPr/>
        </p:nvPicPr>
        <p:blipFill>
          <a:blip r:embed="rId2"/>
          <a:stretch>
            <a:fillRect/>
          </a:stretch>
        </p:blipFill>
        <p:spPr>
          <a:xfrm>
            <a:off x="8092440" y="3393237"/>
            <a:ext cx="1741932" cy="1306449"/>
          </a:xfrm>
          <a:prstGeom prst="rect">
            <a:avLst/>
          </a:prstGeom>
        </p:spPr>
      </p:pic>
      <p:pic>
        <p:nvPicPr>
          <p:cNvPr id="27" name="last metre camera" descr="The robot’s camera image when it checked in, 2 cm from the goal">    </p:cNvPr>
          <p:cNvPicPr>
            <a:picLocks noChangeAspect="1"/>
          </p:cNvPicPr>
          <p:nvPr/>
        </p:nvPicPr>
        <p:blipFill>
          <a:blip r:embed="rId3"/>
          <a:stretch>
            <a:fillRect/>
          </a:stretch>
        </p:blipFill>
        <p:spPr>
          <a:xfrm>
            <a:off x="9916668" y="3393237"/>
            <a:ext cx="1741932" cy="1306449"/>
          </a:xfrm>
          <a:prstGeom prst="rect">
            <a:avLst/>
          </a:prstGeom>
        </p:spPr>
      </p:pic>
      <p:sp>
        <p:nvSpPr>
          <p:cNvPr id="28" name="last metre caption"/>
          <p:cNvSpPr txBox="1"/>
          <p:nvPr/>
        </p:nvSpPr>
        <p:spPr>
          <a:xfrm>
            <a:off x="8092440" y="4772838"/>
            <a:ext cx="3566160" cy="640080"/>
          </a:xfrm>
          <a:prstGeom prst="rect">
            <a:avLst/>
          </a:prstGeom>
          <a:noFill/>
          <a:ln/>
        </p:spPr>
        <p:txBody>
          <a:bodyPr wrap="square" lIns="0" tIns="0" rIns="0" bIns="0" rtlCol="0" anchor="t"/>
          <a:lstStyle/>
          <a:p>
            <a:pPr indent="0" marL="0">
              <a:buNone/>
            </a:pPr>
            <a:r>
              <a:rPr lang="en-US" sz="1050" b="1" dirty="0">
                <a:solidFill>
                  <a:schemeClr val="tx1"/>
                </a:solidFill>
              </a:rPr>
              <a:t>Step 6, the last metre. </a:t>
            </a:r>
            <a:pPr indent="0" marL="0">
              <a:buNone/>
            </a:pPr>
            <a:r>
              <a:rPr lang="en-US" sz="1050" dirty="0">
                <a:solidFill>
                  <a:schemeClr val="tx2"/>
                </a:solidFill>
              </a:rPr>
              <a:t>The goal photo it was given (left) and its camera when it checked in, 2 cm from the goal (right).</a:t>
            </a:r>
            <a:endParaRPr lang="en-US" sz="1050" dirty="0"/>
          </a:p>
        </p:txBody>
      </p:sp>
      <p:sp>
        <p:nvSpPr>
          <p:cNvPr id="29" name="example source"/>
          <p:cNvSpPr txBox="1"/>
          <p:nvPr/>
        </p:nvSpPr>
        <p:spPr>
          <a:xfrm>
            <a:off x="8092440" y="5476926"/>
            <a:ext cx="3566160" cy="237744"/>
          </a:xfrm>
          <a:prstGeom prst="rect">
            <a:avLst/>
          </a:prstGeom>
          <a:noFill/>
          <a:ln/>
        </p:spPr>
        <p:txBody>
          <a:bodyPr wrap="square" lIns="0" tIns="0" rIns="0" bIns="0" rtlCol="0" anchor="ctr"/>
          <a:lstStyle/>
          <a:p>
            <a:pPr indent="0" marL="0">
              <a:buNone/>
            </a:pPr>
            <a:r>
              <a:rPr lang="en-US" sz="1000" i="1" dirty="0">
                <a:solidFill>
                  <a:schemeClr val="tx2"/>
                </a:solidFill>
              </a:rPr>
              <a:t>Real images from local test maze 25</a:t>
            </a:r>
            <a:endParaRPr lang="en-US" sz="1000" dirty="0"/>
          </a:p>
        </p:txBody>
      </p:sp>
      <p:sp>
        <p:nvSpPr>
          <p:cNvPr id="25" name="Slide Number Placeholder 0"/>
          <p:cNvSpPr>
            <a:spLocks noGrp="1"/>
          </p:cNvSpPr>
          <p:nvPr>
            <p:ph type="sldNum" sz="quarter" idx="4294967295"/>
          </p:nvPr>
        </p:nvSpPr>
        <p:spPr>
          <a:xfrm>
            <a:off x="1110996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Visual Navigation">
  <a:themeElements>
    <a:clrScheme name="Visual Navigation">
      <a:dk1>
        <a:srgbClr val="14213D"/>
      </a:dk1>
      <a:lt1>
        <a:srgbClr val="FFFFFF"/>
      </a:lt1>
      <a:dk2>
        <a:srgbClr val="3A4556"/>
      </a:dk2>
      <a:lt2>
        <a:srgbClr val="EEF2F6"/>
      </a:lt2>
      <a:accent1>
        <a:srgbClr val="2B6CB0"/>
      </a:accent1>
      <a:accent2>
        <a:srgbClr val="C05621"/>
      </a:accent2>
      <a:accent3>
        <a:srgbClr val="9AA5B4"/>
      </a:accent3>
      <a:accent4>
        <a:srgbClr val="F6C391"/>
      </a:accent4>
      <a:accent5>
        <a:srgbClr val="DCE6F2"/>
      </a:accent5>
      <a:accent6>
        <a:srgbClr val="FBEADF"/>
      </a:accent6>
      <a:hlink>
        <a:srgbClr val="2B6CB0"/>
      </a:hlink>
      <a:folHlink>
        <a:srgbClr val="5A7A99"/>
      </a:folHlink>
    </a:clrScheme>
    <a:fontScheme name="Visual Navig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 Perception Course Project - Mid-term Report</dc:title>
  <dc:subject>Visual Navigation Challenge, Fall 2026</dc:subject>
  <dc:creator>PptxGenJS</dc:creator>
  <cp:lastModifiedBy>PptxGenJS</cp:lastModifiedBy>
  <cp:revision>1</cp:revision>
  <dcterms:created xsi:type="dcterms:W3CDTF">2026-10-30T21:53:56Z</dcterms:created>
  <dcterms:modified xsi:type="dcterms:W3CDTF">2026-10-30T21:53:56Z</dcterms:modified>
</cp:coreProperties>
</file>